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7841796b6bb44ad" /><Relationship Type="http://schemas.openxmlformats.org/officeDocument/2006/relationships/extended-properties" Target="/docProps/app.xml" Id="R5c011192f1994f22" /><Relationship Type="http://schemas.openxmlformats.org/officeDocument/2006/relationships/officeDocument" Target="/ppt/presentation.xml" Id="R0be404926e294411" /></Relationships>
</file>

<file path=ppt/presentation.xml><?xml version="1.0" encoding="utf-8"?>
<p:presentation xmlns:p="http://schemas.openxmlformats.org/presentationml/2006/main">
  <p:sldMasterIdLst>
    <p:sldMasterId xmlns:r="http://schemas.openxmlformats.org/officeDocument/2006/relationships" id="2147483648" r:id="R3c2e0abbe36c4ba0"/>
  </p:sldMasterIdLst>
  <p:notesMasterIdLst>
    <p:notesMasterId xmlns:r="http://schemas.openxmlformats.org/officeDocument/2006/relationships" r:id="Rcb1242fb572a4062"/>
  </p:notesMasterIdLst>
  <p:sldIdLst>
    <p:sldId xmlns:r="http://schemas.openxmlformats.org/officeDocument/2006/relationships" id="256" r:id="R4b3667910cb54d8e"/>
    <p:sldId xmlns:r="http://schemas.openxmlformats.org/officeDocument/2006/relationships" id="257" r:id="R0421d8ef72214e88"/>
    <p:sldId xmlns:r="http://schemas.openxmlformats.org/officeDocument/2006/relationships" id="258" r:id="R849dc945465f4f4d"/>
    <p:sldId xmlns:r="http://schemas.openxmlformats.org/officeDocument/2006/relationships" id="259" r:id="Ra0babf821c5f4391"/>
    <p:sldId xmlns:r="http://schemas.openxmlformats.org/officeDocument/2006/relationships" id="260" r:id="R469d9a532f0247c5"/>
    <p:sldId xmlns:r="http://schemas.openxmlformats.org/officeDocument/2006/relationships" id="261" r:id="Rf636d84618f04295"/>
    <p:sldId xmlns:r="http://schemas.openxmlformats.org/officeDocument/2006/relationships" id="262" r:id="Reea11e5fc26441e3"/>
    <p:sldId xmlns:r="http://schemas.openxmlformats.org/officeDocument/2006/relationships" id="263" r:id="Rb1f488200e2849a0"/>
    <p:sldId xmlns:r="http://schemas.openxmlformats.org/officeDocument/2006/relationships" id="264" r:id="R5b8105ea993a421a"/>
    <p:sldId xmlns:r="http://schemas.openxmlformats.org/officeDocument/2006/relationships" id="265" r:id="Reb5fab22f6c946c3"/>
    <p:sldId xmlns:r="http://schemas.openxmlformats.org/officeDocument/2006/relationships" id="266" r:id="R69c2b0ca86bd452c"/>
    <p:sldId xmlns:r="http://schemas.openxmlformats.org/officeDocument/2006/relationships" id="267" r:id="R0c23b4429baf4cb1"/>
    <p:sldId xmlns:r="http://schemas.openxmlformats.org/officeDocument/2006/relationships" id="268" r:id="R8df32f7311034d47"/>
    <p:sldId xmlns:r="http://schemas.openxmlformats.org/officeDocument/2006/relationships" id="269" r:id="R7be08e7f742842bb"/>
    <p:sldId xmlns:r="http://schemas.openxmlformats.org/officeDocument/2006/relationships" id="270" r:id="R3afa7b94d37842d8"/>
    <p:sldId xmlns:r="http://schemas.openxmlformats.org/officeDocument/2006/relationships" id="271" r:id="R9a3d7c9c32b342bb"/>
    <p:sldId xmlns:r="http://schemas.openxmlformats.org/officeDocument/2006/relationships" id="272" r:id="R2675ddaa4e30401c"/>
    <p:sldId xmlns:r="http://schemas.openxmlformats.org/officeDocument/2006/relationships" id="273" r:id="R26d10a08e46546ee"/>
    <p:sldId xmlns:r="http://schemas.openxmlformats.org/officeDocument/2006/relationships" id="274" r:id="Rf94cffc074984d03"/>
    <p:sldId xmlns:r="http://schemas.openxmlformats.org/officeDocument/2006/relationships" id="275" r:id="R08e49e14fc014f75"/>
    <p:sldId xmlns:r="http://schemas.openxmlformats.org/officeDocument/2006/relationships" id="276" r:id="R9c0c40ea73734e89"/>
    <p:sldId xmlns:r="http://schemas.openxmlformats.org/officeDocument/2006/relationships" id="277" r:id="R89eb8bc1778a47b9"/>
    <p:sldId xmlns:r="http://schemas.openxmlformats.org/officeDocument/2006/relationships" id="278" r:id="R74ce680cc4ee42e6"/>
    <p:sldId xmlns:r="http://schemas.openxmlformats.org/officeDocument/2006/relationships" id="279" r:id="R9ef42f57e5284373"/>
    <p:sldId xmlns:r="http://schemas.openxmlformats.org/officeDocument/2006/relationships" id="280" r:id="R212b735db1c24305"/>
    <p:sldId xmlns:r="http://schemas.openxmlformats.org/officeDocument/2006/relationships" id="281" r:id="R93a67af58aee4f5c"/>
    <p:sldId xmlns:r="http://schemas.openxmlformats.org/officeDocument/2006/relationships" id="282" r:id="Re77fd687b7bf4b2c"/>
    <p:sldId xmlns:r="http://schemas.openxmlformats.org/officeDocument/2006/relationships" id="283" r:id="Rd0dcaf146b12454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c353108e3d041f8" /><Relationship Type="http://schemas.openxmlformats.org/officeDocument/2006/relationships/slideMaster" Target="/ppt/slideMasters/slideMaster1.xml" Id="R3c2e0abbe36c4ba0" /><Relationship Type="http://schemas.openxmlformats.org/officeDocument/2006/relationships/notesMaster" Target="/ppt/notesMasters/notesMaster1.xml" Id="Rcb1242fb572a4062" /><Relationship Type="http://schemas.openxmlformats.org/officeDocument/2006/relationships/presProps" Target="/ppt/presProps.xml" Id="R67693c2914024f54" /><Relationship Type="http://schemas.openxmlformats.org/officeDocument/2006/relationships/tableStyles" Target="/ppt/tableStyles.xml" Id="Rb6311c80568249f3" /><Relationship Type="http://schemas.openxmlformats.org/officeDocument/2006/relationships/slide" Target="/ppt/slides/slide1.xml" Id="R4b3667910cb54d8e" /><Relationship Type="http://schemas.openxmlformats.org/officeDocument/2006/relationships/slide" Target="/ppt/slides/slide2.xml" Id="R0421d8ef72214e88" /><Relationship Type="http://schemas.openxmlformats.org/officeDocument/2006/relationships/slide" Target="/ppt/slides/slide3.xml" Id="R849dc945465f4f4d" /><Relationship Type="http://schemas.openxmlformats.org/officeDocument/2006/relationships/slide" Target="/ppt/slides/slide4.xml" Id="Ra0babf821c5f4391" /><Relationship Type="http://schemas.openxmlformats.org/officeDocument/2006/relationships/slide" Target="/ppt/slides/slide5.xml" Id="R469d9a532f0247c5" /><Relationship Type="http://schemas.openxmlformats.org/officeDocument/2006/relationships/slide" Target="/ppt/slides/slide6.xml" Id="Rf636d84618f04295" /><Relationship Type="http://schemas.openxmlformats.org/officeDocument/2006/relationships/slide" Target="/ppt/slides/slide7.xml" Id="Reea11e5fc26441e3" /><Relationship Type="http://schemas.openxmlformats.org/officeDocument/2006/relationships/slide" Target="/ppt/slides/slide8.xml" Id="Rb1f488200e2849a0" /><Relationship Type="http://schemas.openxmlformats.org/officeDocument/2006/relationships/slide" Target="/ppt/slides/slide9.xml" Id="R5b8105ea993a421a" /><Relationship Type="http://schemas.openxmlformats.org/officeDocument/2006/relationships/slide" Target="/ppt/slides/slide10.xml" Id="Reb5fab22f6c946c3" /><Relationship Type="http://schemas.openxmlformats.org/officeDocument/2006/relationships/slide" Target="/ppt/slides/slide11.xml" Id="R69c2b0ca86bd452c" /><Relationship Type="http://schemas.openxmlformats.org/officeDocument/2006/relationships/slide" Target="/ppt/slides/slide12.xml" Id="R0c23b4429baf4cb1" /><Relationship Type="http://schemas.openxmlformats.org/officeDocument/2006/relationships/slide" Target="/ppt/slides/slide13.xml" Id="R8df32f7311034d47" /><Relationship Type="http://schemas.openxmlformats.org/officeDocument/2006/relationships/slide" Target="/ppt/slides/slide14.xml" Id="R7be08e7f742842bb" /><Relationship Type="http://schemas.openxmlformats.org/officeDocument/2006/relationships/slide" Target="/ppt/slides/slide15.xml" Id="R3afa7b94d37842d8" /><Relationship Type="http://schemas.openxmlformats.org/officeDocument/2006/relationships/slide" Target="/ppt/slides/slide16.xml" Id="R9a3d7c9c32b342bb" /><Relationship Type="http://schemas.openxmlformats.org/officeDocument/2006/relationships/slide" Target="/ppt/slides/slide17.xml" Id="R2675ddaa4e30401c" /><Relationship Type="http://schemas.openxmlformats.org/officeDocument/2006/relationships/slide" Target="/ppt/slides/slide18.xml" Id="R26d10a08e46546ee" /><Relationship Type="http://schemas.openxmlformats.org/officeDocument/2006/relationships/slide" Target="/ppt/slides/slide19.xml" Id="Rf94cffc074984d03" /><Relationship Type="http://schemas.openxmlformats.org/officeDocument/2006/relationships/slide" Target="/ppt/slides/slide20.xml" Id="R08e49e14fc014f75" /><Relationship Type="http://schemas.openxmlformats.org/officeDocument/2006/relationships/slide" Target="/ppt/slides/slide21.xml" Id="R9c0c40ea73734e89" /><Relationship Type="http://schemas.openxmlformats.org/officeDocument/2006/relationships/slide" Target="/ppt/slides/slide22.xml" Id="R89eb8bc1778a47b9" /><Relationship Type="http://schemas.openxmlformats.org/officeDocument/2006/relationships/slide" Target="/ppt/slides/slide23.xml" Id="R74ce680cc4ee42e6" /><Relationship Type="http://schemas.openxmlformats.org/officeDocument/2006/relationships/slide" Target="/ppt/slides/slide24.xml" Id="R9ef42f57e5284373" /><Relationship Type="http://schemas.openxmlformats.org/officeDocument/2006/relationships/slide" Target="/ppt/slides/slide25.xml" Id="R212b735db1c24305" /><Relationship Type="http://schemas.openxmlformats.org/officeDocument/2006/relationships/slide" Target="/ppt/slides/slide26.xml" Id="R93a67af58aee4f5c" /><Relationship Type="http://schemas.openxmlformats.org/officeDocument/2006/relationships/slide" Target="/ppt/slides/slide27.xml" Id="Re77fd687b7bf4b2c" /><Relationship Type="http://schemas.openxmlformats.org/officeDocument/2006/relationships/slide" Target="/ppt/slides/slide28.xml" Id="Rd0dcaf146b12454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94d943ae7014f9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fe60d5004544228" /><Relationship Type="http://schemas.openxmlformats.org/officeDocument/2006/relationships/notesMaster" Target="/ppt/notesMasters/notesMaster1.xml" Id="R1f8256a9d9ca4088" /></Relationships>
</file>

<file path=ppt/notesSlides/_rels/notesSlide2.xml.rels>&#65279;<?xml version="1.0" encoding="utf-8"?><Relationships xmlns="http://schemas.openxmlformats.org/package/2006/relationships"><Relationship Type="http://schemas.openxmlformats.org/officeDocument/2006/relationships/slide" Target="/ppt/slides/slide2.xml" Id="R5240444863b24fc0" /><Relationship Type="http://schemas.openxmlformats.org/officeDocument/2006/relationships/notesMaster" Target="/ppt/notesMasters/notesMaster1.xml" Id="R33e392f893df4927" /></Relationships>
</file>

<file path=ppt/notesSlides/_rels/notesSlide3.xml.rels>&#65279;<?xml version="1.0" encoding="utf-8"?><Relationships xmlns="http://schemas.openxmlformats.org/package/2006/relationships"><Relationship Type="http://schemas.openxmlformats.org/officeDocument/2006/relationships/slide" Target="/ppt/slides/slide3.xml" Id="R5c786d324f574e0f" /><Relationship Type="http://schemas.openxmlformats.org/officeDocument/2006/relationships/notesMaster" Target="/ppt/notesMasters/notesMaster1.xml" Id="R18eb5141516e4897" /></Relationships>
</file>

<file path=ppt/notesSlides/_rels/notesSlide4.xml.rels>&#65279;<?xml version="1.0" encoding="utf-8"?><Relationships xmlns="http://schemas.openxmlformats.org/package/2006/relationships"><Relationship Type="http://schemas.openxmlformats.org/officeDocument/2006/relationships/slide" Target="/ppt/slides/slide4.xml" Id="R28f47ec7f9404826" /><Relationship Type="http://schemas.openxmlformats.org/officeDocument/2006/relationships/notesMaster" Target="/ppt/notesMasters/notesMaster1.xml" Id="Rd13b3a5590a046e3" /></Relationships>
</file>

<file path=ppt/notesSlides/_rels/notesSlide5.xml.rels>&#65279;<?xml version="1.0" encoding="utf-8"?><Relationships xmlns="http://schemas.openxmlformats.org/package/2006/relationships"><Relationship Type="http://schemas.openxmlformats.org/officeDocument/2006/relationships/slide" Target="/ppt/slides/slide5.xml" Id="Re2ff551851dc42ed" /><Relationship Type="http://schemas.openxmlformats.org/officeDocument/2006/relationships/notesMaster" Target="/ppt/notesMasters/notesMaster1.xml" Id="R8b98c781d7bd452f" /></Relationships>
</file>

<file path=ppt/notesSlides/_rels/notesSlide6.xml.rels>&#65279;<?xml version="1.0" encoding="utf-8"?><Relationships xmlns="http://schemas.openxmlformats.org/package/2006/relationships"><Relationship Type="http://schemas.openxmlformats.org/officeDocument/2006/relationships/slide" Target="/ppt/slides/slide6.xml" Id="R3eac90f251ec4680" /><Relationship Type="http://schemas.openxmlformats.org/officeDocument/2006/relationships/notesMaster" Target="/ppt/notesMasters/notesMaster1.xml" Id="R6f0e01401c1c4291" /></Relationships>
</file>

<file path=ppt/notesSlides/_rels/notesSlide7.xml.rels>&#65279;<?xml version="1.0" encoding="utf-8"?><Relationships xmlns="http://schemas.openxmlformats.org/package/2006/relationships"><Relationship Type="http://schemas.openxmlformats.org/officeDocument/2006/relationships/slide" Target="/ppt/slides/slide7.xml" Id="R78193d6f3c0347bf" /><Relationship Type="http://schemas.openxmlformats.org/officeDocument/2006/relationships/notesMaster" Target="/ppt/notesMasters/notesMaster1.xml" Id="R2e1774757c374f2c" /></Relationships>
</file>

<file path=ppt/notesSlides/_rels/notesSlide8.xml.rels>&#65279;<?xml version="1.0" encoding="utf-8"?><Relationships xmlns="http://schemas.openxmlformats.org/package/2006/relationships"><Relationship Type="http://schemas.openxmlformats.org/officeDocument/2006/relationships/slide" Target="/ppt/slides/slide8.xml" Id="R6d42a55664f74ebb" /><Relationship Type="http://schemas.openxmlformats.org/officeDocument/2006/relationships/notesMaster" Target="/ppt/notesMasters/notesMaster1.xml" Id="Rc02a3db6a20f4a56" /></Relationships>
</file>

<file path=ppt/notesSlides/_rels/notesSlide9.xml.rels>&#65279;<?xml version="1.0" encoding="utf-8"?><Relationships xmlns="http://schemas.openxmlformats.org/package/2006/relationships"><Relationship Type="http://schemas.openxmlformats.org/officeDocument/2006/relationships/slide" Target="/ppt/slides/slide9.xml" Id="R17d6915f32f64ece" /><Relationship Type="http://schemas.openxmlformats.org/officeDocument/2006/relationships/notesMaster" Target="/ppt/notesMasters/notesMaster1.xml" Id="R38330c7ef26b42f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a2a84e3eb064c97" /><Relationship Type="http://schemas.openxmlformats.org/officeDocument/2006/relationships/notesMaster" Target="/ppt/notesMasters/notesMaster1.xml" Id="Re73a574641574c1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7f717e3d6424add" /><Relationship Type="http://schemas.openxmlformats.org/officeDocument/2006/relationships/notesMaster" Target="/ppt/notesMasters/notesMaster1.xml" Id="Rc903a50c615746a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3e68f04e7664498" /><Relationship Type="http://schemas.openxmlformats.org/officeDocument/2006/relationships/notesMaster" Target="/ppt/notesMasters/notesMaster1.xml" Id="R96ef1e54424741a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c5d126e9fd242cd" /><Relationship Type="http://schemas.openxmlformats.org/officeDocument/2006/relationships/notesMaster" Target="/ppt/notesMasters/notesMaster1.xml" Id="R5a14de7a22ca425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f2a9aa8fe7b4d2c" /><Relationship Type="http://schemas.openxmlformats.org/officeDocument/2006/relationships/notesMaster" Target="/ppt/notesMasters/notesMaster1.xml" Id="R48ac8e36f27442e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0104aeaeaea4412" /><Relationship Type="http://schemas.openxmlformats.org/officeDocument/2006/relationships/notesMaster" Target="/ppt/notesMasters/notesMaster1.xml" Id="R48c35fa63e694d6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5be3083379340cc" /><Relationship Type="http://schemas.openxmlformats.org/officeDocument/2006/relationships/notesMaster" Target="/ppt/notesMasters/notesMaster1.xml" Id="R51a8feb2204f40e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c6cf0a8d2504240" /><Relationship Type="http://schemas.openxmlformats.org/officeDocument/2006/relationships/notesMaster" Target="/ppt/notesMasters/notesMaster1.xml" Id="R90d760fd96fb418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618f9fdc6304f8b" /><Relationship Type="http://schemas.openxmlformats.org/officeDocument/2006/relationships/notesMaster" Target="/ppt/notesMasters/notesMaster1.xml" Id="R9aaec91b83db48b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c771910dd684cc3" /><Relationship Type="http://schemas.openxmlformats.org/officeDocument/2006/relationships/notesMaster" Target="/ppt/notesMasters/notesMaster1.xml" Id="R18bee7f97a10437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de70b3b91cb485a" /><Relationship Type="http://schemas.openxmlformats.org/officeDocument/2006/relationships/notesMaster" Target="/ppt/notesMasters/notesMaster1.xml" Id="R7483b017ca08404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e8530ccbbf6470f" /><Relationship Type="http://schemas.openxmlformats.org/officeDocument/2006/relationships/notesMaster" Target="/ppt/notesMasters/notesMaster1.xml" Id="R60e2a646f3bf416f"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2bf006253dcd4b38" /><Relationship Type="http://schemas.openxmlformats.org/officeDocument/2006/relationships/notesMaster" Target="/ppt/notesMasters/notesMaster1.xml" Id="R0ace1b8ba3184c5a"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fd9dbc4fc0624608" /><Relationship Type="http://schemas.openxmlformats.org/officeDocument/2006/relationships/notesMaster" Target="/ppt/notesMasters/notesMaster1.xml" Id="R087e4f1d116d46de"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0452fe6cab47436d" /><Relationship Type="http://schemas.openxmlformats.org/officeDocument/2006/relationships/notesMaster" Target="/ppt/notesMasters/notesMaster1.xml" Id="Re311e7bed56d4946"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4397f4145a2a4eaa" /><Relationship Type="http://schemas.openxmlformats.org/officeDocument/2006/relationships/notesMaster" Target="/ppt/notesMasters/notesMaster1.xml" Id="Rf406a9d8be0045b9"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f2606c981a7f4bdf" /><Relationship Type="http://schemas.openxmlformats.org/officeDocument/2006/relationships/notesMaster" Target="/ppt/notesMasters/notesMaster1.xml" Id="R240e2bbb4da14048"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d0b314164bc54363" /><Relationship Type="http://schemas.openxmlformats.org/officeDocument/2006/relationships/notesMaster" Target="/ppt/notesMasters/notesMaster1.xml" Id="R3f526965dfb845f6"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cf05738296f14633" /><Relationship Type="http://schemas.openxmlformats.org/officeDocument/2006/relationships/notesMaster" Target="/ppt/notesMasters/notesMaster1.xml" Id="R43d6c0735c1c4f0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students back to the question from Lesson 1: where is the film? This lesson adds a second question: what form will let an audience experience that film? Make clear that the image is a fictional teaching visual, not a frame from an actual documentary.</a:t>
            </a:r>
          </a:p>
          <a:p xmlns:a="http://schemas.openxmlformats.org/drawingml/2006/main">
            <a:r>
              <a:t/>
            </a:r>
          </a:p>
          <a:p xmlns:a="http://schemas.openxmlformats.org/drawingml/2006/main">
            <a:r>
              <a:t>[Sources]</a:t>
            </a:r>
          </a:p>
          <a:p xmlns:a="http://schemas.openxmlformats.org/drawingml/2006/main">
            <a:r>
              <a:t>- Original AI-generated fictional educational visual created for DOC 515; no external asset source.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Frame these as practical production abilities. Students are not being asked to memorize a taxonomy. They are learning how form changes camera behavior, filmmaker presence, evidence, sound, ethics, and audience experience.</a:t>
            </a:r>
          </a:p>
          <a:p xmlns:a="http://schemas.openxmlformats.org/drawingml/2006/main">
            <a:r>
              <a:t/>
            </a:r>
          </a:p>
          <a:p xmlns:a="http://schemas.openxmlformats.org/drawingml/2006/main">
            <a:r>
              <a:t>[Sources]</a:t>
            </a:r>
          </a:p>
          <a:p xmlns:a="http://schemas.openxmlformats.org/drawingml/2006/main">
            <a:r>
              <a:t>- Bill Nichols, Introduction to Documentary, 3rd ed. (Indiana University Press, 2017).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Return to the topic-to-story distinction from Lesson 1. A subject such as housing, grief, basketball, or a community garden does not determine the documentary. The film emerges from a specific situation, people, access, point of view, scenes, and formal choices.</a:t>
            </a:r>
          </a:p>
          <a:p xmlns:a="http://schemas.openxmlformats.org/drawingml/2006/main">
            <a:r>
              <a:t/>
            </a:r>
          </a:p>
          <a:p xmlns:a="http://schemas.openxmlformats.org/drawingml/2006/main">
            <a:r>
              <a:t>[Sources]</a:t>
            </a:r>
          </a:p>
          <a:p xmlns:a="http://schemas.openxmlformats.org/drawingml/2006/main">
            <a:r>
              <a:t>- Course-authored synthesis from the user-supplied course brief; no external source.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equation as a decision tool. Topic names an area; story names a particular unfolding situation; form describes the patterned relationship among filmmaker, contributor, evidence, and audience. Emphasize that form affects production from the first access conversation onward.</a:t>
            </a:r>
          </a:p>
          <a:p xmlns:a="http://schemas.openxmlformats.org/drawingml/2006/main">
            <a:r>
              <a:t/>
            </a:r>
          </a:p>
          <a:p xmlns:a="http://schemas.openxmlformats.org/drawingml/2006/main">
            <a:r>
              <a:t>[Sources]</a:t>
            </a:r>
          </a:p>
          <a:p xmlns:a="http://schemas.openxmlformats.org/drawingml/2006/main">
            <a:r>
              <a:t>- Bill Nichols, Introduction to Documentary, 3rd ed. (Indiana University Press, 2017).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students to listen for authority and relationship. An observational camera asks for sustained access; an issue-led film may organize claims; a participatory film makes the encounter part of the evidence. Formal choices carry ethical consequences.</a:t>
            </a:r>
          </a:p>
          <a:p xmlns:a="http://schemas.openxmlformats.org/drawingml/2006/main">
            <a:r>
              <a:t/>
            </a:r>
          </a:p>
          <a:p xmlns:a="http://schemas.openxmlformats.org/drawingml/2006/main">
            <a:r>
              <a:t>[Sources]</a:t>
            </a:r>
          </a:p>
          <a:p xmlns:a="http://schemas.openxmlformats.org/drawingml/2006/main">
            <a:r>
              <a:t>- Bill Nichols, Introduction to Documentary, 3rd ed. (Indiana University Press, 2017).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Prevent students from forcing films into one category. The useful question is not simply ‘Which box?’ It is ‘What is the film mainly asking images, sounds, speech, and the filmmaker’s presence to do?’</a:t>
            </a:r>
          </a:p>
          <a:p xmlns:a="http://schemas.openxmlformats.org/drawingml/2006/main">
            <a:r>
              <a:t/>
            </a:r>
          </a:p>
          <a:p xmlns:a="http://schemas.openxmlformats.org/drawingml/2006/main">
            <a:r>
              <a:t>[Sources]</a:t>
            </a:r>
          </a:p>
          <a:p xmlns:a="http://schemas.openxmlformats.org/drawingml/2006/main">
            <a:r>
              <a:t>- Bill Nichols, Introduction to Documentary, 3rd ed. (Indiana University Press, 2017).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Tell students that analysis is production training. The anatomy worksheet turns attention into decisions they can reuse: scene, character, structure, evidence, point of view, sound, form, ethics, strength, and limitation.</a:t>
            </a:r>
          </a:p>
          <a:p xmlns:a="http://schemas.openxmlformats.org/drawingml/2006/main">
            <a:r>
              <a:t/>
            </a:r>
          </a:p>
          <a:p xmlns:a="http://schemas.openxmlformats.org/drawingml/2006/main">
            <a:r>
              <a:t>[Sources]</a:t>
            </a:r>
          </a:p>
          <a:p xmlns:a="http://schemas.openxmlformats.org/drawingml/2006/main">
            <a:r>
              <a:t>- Course-authored synthesis from the user-supplied course brief; no external source.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Observational work depends on time, access, and attention to behavior. It is never neutral: the filmmaker still chooses where to stand, when to record, and how to edit. Ask what the scene reveals that an interview could not.</a:t>
            </a:r>
          </a:p>
          <a:p xmlns:a="http://schemas.openxmlformats.org/drawingml/2006/main">
            <a:r>
              <a:t/>
            </a:r>
          </a:p>
          <a:p xmlns:a="http://schemas.openxmlformats.org/drawingml/2006/main">
            <a:r>
              <a:t>[Sources]</a:t>
            </a:r>
          </a:p>
          <a:p xmlns:a="http://schemas.openxmlformats.org/drawingml/2006/main">
            <a:r>
              <a:t>- Bill Nichols, Introduction to Documentary, 3rd ed. (Indiana University Press, 2017).</a:t>
            </a:r>
          </a:p>
          <a:p xmlns:a="http://schemas.openxmlformats.org/drawingml/2006/main">
            <a:r>
              <a:t>- Original AI-generated fictional educational visual created for DOC 515; no external asset source.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Issue-led or expository documentaries often make an explicit case. The challenge is to connect information to lived experience, avoiding a film that only explains a topic without developing scenes or human stakes.</a:t>
            </a:r>
          </a:p>
          <a:p xmlns:a="http://schemas.openxmlformats.org/drawingml/2006/main">
            <a:r>
              <a:t/>
            </a:r>
          </a:p>
          <a:p xmlns:a="http://schemas.openxmlformats.org/drawingml/2006/main">
            <a:r>
              <a:t>[Sources]</a:t>
            </a:r>
          </a:p>
          <a:p xmlns:a="http://schemas.openxmlformats.org/drawingml/2006/main">
            <a:r>
              <a:t>- Bill Nichols, Introduction to Documentary, 3rd ed. (Indiana University Press, 2017).</a:t>
            </a:r>
          </a:p>
          <a:p xmlns:a="http://schemas.openxmlformats.org/drawingml/2006/main">
            <a:r>
              <a:t>- Original AI-generated fictional educational visual created for DOC 515; no external asset source.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Participatory work acknowledges that the filmmaker changes the situation. This may create honesty and discovery, but it also requires clarity about power, consent, boundaries, and what the contributor understands the film to be.</a:t>
            </a:r>
          </a:p>
          <a:p xmlns:a="http://schemas.openxmlformats.org/drawingml/2006/main">
            <a:r>
              <a:t/>
            </a:r>
          </a:p>
          <a:p xmlns:a="http://schemas.openxmlformats.org/drawingml/2006/main">
            <a:r>
              <a:t>[Sources]</a:t>
            </a:r>
          </a:p>
          <a:p xmlns:a="http://schemas.openxmlformats.org/drawingml/2006/main">
            <a:r>
              <a:t>- Bill Nichols, Introduction to Documentary, 3rd ed. (Indiana University Press, 2017).</a:t>
            </a:r>
          </a:p>
          <a:p xmlns:a="http://schemas.openxmlformats.org/drawingml/2006/main">
            <a:r>
              <a:t>- Original AI-generated fictional educational visual created for DOC 515; no external asset source.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Reflexive documentary draws attention to the fact that documentaries are constructed. It can expose missing evidence, contested narration, the limits of access, or the filmmaker’s own choices. It is not simply behind-the-scenes footage.</a:t>
            </a:r>
          </a:p>
          <a:p xmlns:a="http://schemas.openxmlformats.org/drawingml/2006/main">
            <a:r>
              <a:t/>
            </a:r>
          </a:p>
          <a:p xmlns:a="http://schemas.openxmlformats.org/drawingml/2006/main">
            <a:r>
              <a:t>[Sources]</a:t>
            </a:r>
          </a:p>
          <a:p xmlns:a="http://schemas.openxmlformats.org/drawingml/2006/main">
            <a:r>
              <a:t>- Bill Nichols, Introduction to Documentary, 3rd ed. (Indiana University Press, 2017).</a:t>
            </a:r>
          </a:p>
          <a:p xmlns:a="http://schemas.openxmlformats.org/drawingml/2006/main">
            <a:r>
              <a:t>- Original AI-generated fictional educational visual created for DOC 515; no external asset source.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Poetic work may loosen conventional argument and chronology. The discipline is precise selection: every sound, duration, image, and transition must contribute. Ask what the audience can infer and where ambiguity becomes evasive.</a:t>
            </a:r>
          </a:p>
          <a:p xmlns:a="http://schemas.openxmlformats.org/drawingml/2006/main">
            <a:r>
              <a:t/>
            </a:r>
          </a:p>
          <a:p xmlns:a="http://schemas.openxmlformats.org/drawingml/2006/main">
            <a:r>
              <a:t>[Sources]</a:t>
            </a:r>
          </a:p>
          <a:p xmlns:a="http://schemas.openxmlformats.org/drawingml/2006/main">
            <a:r>
              <a:t>- Bill Nichols, Introduction to Documentary, 3rd ed. (Indiana University Press, 2017).</a:t>
            </a:r>
          </a:p>
          <a:p xmlns:a="http://schemas.openxmlformats.org/drawingml/2006/main">
            <a:r>
              <a:t>- Original AI-generated fictional educational visual created for DOC 515; no external asset source.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Performative or personal documentary treats situated experience as knowledge. It may include first-person narration, family archive, reenactment, or embodied action. Personal importance still needs a designed experience for the audience.</a:t>
            </a:r>
          </a:p>
          <a:p xmlns:a="http://schemas.openxmlformats.org/drawingml/2006/main">
            <a:r>
              <a:t/>
            </a:r>
          </a:p>
          <a:p xmlns:a="http://schemas.openxmlformats.org/drawingml/2006/main">
            <a:r>
              <a:t>[Sources]</a:t>
            </a:r>
          </a:p>
          <a:p xmlns:a="http://schemas.openxmlformats.org/drawingml/2006/main">
            <a:r>
              <a:t>- Bill Nichols, Introduction to Documentary, 3rd ed. (Indiana University Press, 2017).</a:t>
            </a:r>
          </a:p>
          <a:p xmlns:a="http://schemas.openxmlformats.org/drawingml/2006/main">
            <a:r>
              <a:t>- Original AI-generated fictional educational visual created for DOC 515; no external asset source.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students to identify one dominant approach and up to two supporting approaches. The goal is clarity of intention. If a film uses archive, interview, observational scenes, and first-person narration, each element should have a job.</a:t>
            </a:r>
          </a:p>
          <a:p xmlns:a="http://schemas.openxmlformats.org/drawingml/2006/main">
            <a:r>
              <a:t/>
            </a:r>
          </a:p>
          <a:p xmlns:a="http://schemas.openxmlformats.org/drawingml/2006/main">
            <a:r>
              <a:t>[Sources]</a:t>
            </a:r>
          </a:p>
          <a:p xmlns:a="http://schemas.openxmlformats.org/drawingml/2006/main">
            <a:r>
              <a:t>- Bill Nichols, Introduction to Documentary, 3rd ed. (Indiana University Press, 2017).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fictional shared scenario. The same people, place, access problem, and closure threat will be reimagined six times. The point is not to find the single correct form. It is to see how formal choices create different films from the same story world.</a:t>
            </a:r>
          </a:p>
          <a:p xmlns:a="http://schemas.openxmlformats.org/drawingml/2006/main">
            <a:r>
              <a:t/>
            </a:r>
          </a:p>
          <a:p xmlns:a="http://schemas.openxmlformats.org/drawingml/2006/main">
            <a:r>
              <a:t>[Sources]</a:t>
            </a:r>
          </a:p>
          <a:p xmlns:a="http://schemas.openxmlformats.org/drawingml/2006/main">
            <a:r>
              <a:t>- Original AI-generated fictional educational visual created for DOC 515; no external asset source.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what scenes are likely: harvesting, distributing tools, arguing about what can be moved, saying goodbye. The story is carried by behavior and time pressure rather than an explanatory interview.</a:t>
            </a:r>
          </a:p>
          <a:p xmlns:a="http://schemas.openxmlformats.org/drawingml/2006/main">
            <a:r>
              <a:t/>
            </a:r>
          </a:p>
          <a:p xmlns:a="http://schemas.openxmlformats.org/drawingml/2006/main">
            <a:r>
              <a:t>[Sources]</a:t>
            </a:r>
          </a:p>
          <a:p xmlns:a="http://schemas.openxmlformats.org/drawingml/2006/main">
            <a:r>
              <a:t>- Bill Nichols, Introduction to Documentary, 3rd ed. (Indiana University Press, 2017).</a:t>
            </a:r>
          </a:p>
          <a:p xmlns:a="http://schemas.openxmlformats.org/drawingml/2006/main">
            <a:r>
              <a:t>- Original AI-generated fictional educational visual created for DOC 515; no external asset source.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version needs a clear central question, credible evidence, and human stakes. Warn against replacing scenes with a sequence of talking heads. The people living the issue should remain more than examples of an argument.</a:t>
            </a:r>
          </a:p>
          <a:p xmlns:a="http://schemas.openxmlformats.org/drawingml/2006/main">
            <a:r>
              <a:t/>
            </a:r>
          </a:p>
          <a:p xmlns:a="http://schemas.openxmlformats.org/drawingml/2006/main">
            <a:r>
              <a:t>[Sources]</a:t>
            </a:r>
          </a:p>
          <a:p xmlns:a="http://schemas.openxmlformats.org/drawingml/2006/main">
            <a:r>
              <a:t>- Bill Nichols, Introduction to Documentary, 3rd ed. (Indiana University Press, 2017).</a:t>
            </a:r>
          </a:p>
          <a:p xmlns:a="http://schemas.openxmlformats.org/drawingml/2006/main">
            <a:r>
              <a:t>- Original AI-generated fictional educational visual created for DOC 515; no external asset source.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version makes relationship part of the evidence. Discuss what the filmmaker can honestly offer, what contributors may expect, and how participation could open or distort the story.</a:t>
            </a:r>
          </a:p>
          <a:p xmlns:a="http://schemas.openxmlformats.org/drawingml/2006/main">
            <a:r>
              <a:t/>
            </a:r>
          </a:p>
          <a:p xmlns:a="http://schemas.openxmlformats.org/drawingml/2006/main">
            <a:r>
              <a:t>[Sources]</a:t>
            </a:r>
          </a:p>
          <a:p xmlns:a="http://schemas.openxmlformats.org/drawingml/2006/main">
            <a:r>
              <a:t>- Bill Nichols, Introduction to Documentary, 3rd ed. (Indiana University Press, 2017).</a:t>
            </a:r>
          </a:p>
          <a:p xmlns:a="http://schemas.openxmlformats.org/drawingml/2006/main">
            <a:r>
              <a:t>- Original AI-generated fictional educational visual created for DOC 515; no external asset source.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construction visible for a purpose. A reflexive device should deepen the question, not excuse weak reporting. The audience should understand what remains unknown and why that absence matters.</a:t>
            </a:r>
          </a:p>
          <a:p xmlns:a="http://schemas.openxmlformats.org/drawingml/2006/main">
            <a:r>
              <a:t/>
            </a:r>
          </a:p>
          <a:p xmlns:a="http://schemas.openxmlformats.org/drawingml/2006/main">
            <a:r>
              <a:t>[Sources]</a:t>
            </a:r>
          </a:p>
          <a:p xmlns:a="http://schemas.openxmlformats.org/drawingml/2006/main">
            <a:r>
              <a:t>- Bill Nichols, Introduction to Documentary, 3rd ed. (Indiana University Press, 2017).</a:t>
            </a:r>
          </a:p>
          <a:p xmlns:a="http://schemas.openxmlformats.org/drawingml/2006/main">
            <a:r>
              <a:t>- Original AI-generated fictional educational visual created for DOC 515; no external asset source.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Encourage a clear visual and sonic system: repeated gestures, seasonal changes, distance versus closeness, natural sound versus machinery. Poetic does not mean random or merely beautiful.</a:t>
            </a:r>
          </a:p>
          <a:p xmlns:a="http://schemas.openxmlformats.org/drawingml/2006/main">
            <a:r>
              <a:t/>
            </a:r>
          </a:p>
          <a:p xmlns:a="http://schemas.openxmlformats.org/drawingml/2006/main">
            <a:r>
              <a:t>[Sources]</a:t>
            </a:r>
          </a:p>
          <a:p xmlns:a="http://schemas.openxmlformats.org/drawingml/2006/main">
            <a:r>
              <a:t>- Bill Nichols, Introduction to Documentary, 3rd ed. (Indiana University Press, 2017).</a:t>
            </a:r>
          </a:p>
          <a:p xmlns:a="http://schemas.openxmlformats.org/drawingml/2006/main">
            <a:r>
              <a:t>- Original AI-generated fictional educational visual created for DOC 515; no external asset source.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Personal perspective becomes the organizing intelligence of the film. Ask how the story can remain specific while inviting an audience into larger questions of place, care, and belonging.</a:t>
            </a:r>
          </a:p>
          <a:p xmlns:a="http://schemas.openxmlformats.org/drawingml/2006/main">
            <a:r>
              <a:t/>
            </a:r>
          </a:p>
          <a:p xmlns:a="http://schemas.openxmlformats.org/drawingml/2006/main">
            <a:r>
              <a:t>[Sources]</a:t>
            </a:r>
          </a:p>
          <a:p xmlns:a="http://schemas.openxmlformats.org/drawingml/2006/main">
            <a:r>
              <a:t>- Bill Nichols, Introduction to Documentary, 3rd ed. (Indiana University Press, 2017).</a:t>
            </a:r>
          </a:p>
          <a:p xmlns:a="http://schemas.openxmlformats.org/drawingml/2006/main">
            <a:r>
              <a:t>- Original AI-generated fictional educational visual created for DOC 515; no external asset source.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comparison to prepare the Form Lab. The student should be able to explain how a form changes practical production decisions: whom to contact, how long to observe, what to record, what to disclose, and how the audience is positioned.</a:t>
            </a:r>
          </a:p>
          <a:p xmlns:a="http://schemas.openxmlformats.org/drawingml/2006/main">
            <a:r>
              <a:t/>
            </a:r>
          </a:p>
          <a:p xmlns:a="http://schemas.openxmlformats.org/drawingml/2006/main">
            <a:r>
              <a:t>[Sources]</a:t>
            </a:r>
          </a:p>
          <a:p xmlns:a="http://schemas.openxmlformats.org/drawingml/2006/main">
            <a:r>
              <a:t>- Bill Nichols, Introduction to Documentary, 3rd ed. (Indiana University Press, 2017).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Offer a choice rather than assigning every film. Ask students to verify that their selected film is accessible and captioned in their location. Availability can change; check every link before publishing the Canvas page.</a:t>
            </a:r>
          </a:p>
          <a:p xmlns:a="http://schemas.openxmlformats.org/drawingml/2006/main">
            <a:r>
              <a:t/>
            </a:r>
          </a:p>
          <a:p xmlns:a="http://schemas.openxmlformats.org/drawingml/2006/main">
            <a:r>
              <a:t>[Sources]</a:t>
            </a:r>
          </a:p>
          <a:p xmlns:a="http://schemas.openxmlformats.org/drawingml/2006/main">
            <a:r>
              <a:t>- Ten Meter Tower: https://www.arte.tv/fr/videos/067728-000-A/ten-meter-tower/</a:t>
            </a:r>
          </a:p>
          <a:p xmlns:a="http://schemas.openxmlformats.org/drawingml/2006/main">
            <a:r>
              <a:t>- The Housekeeper: https://vimeo.com/38515567</a:t>
            </a:r>
          </a:p>
          <a:p xmlns:a="http://schemas.openxmlformats.org/drawingml/2006/main">
            <a:r>
              <a:t>- Street Lessons: https://collection.nfb.ca/film/street-lessons</a:t>
            </a:r>
          </a:p>
          <a:p xmlns:a="http://schemas.openxmlformats.org/drawingml/2006/main">
            <a:r>
              <a:t>- The Queen of Basketball: https://breakwaterstudios.com/the-queen-of-basketball-watch-now/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Offer a choice rather than assigning every film. Ask students to verify that their selected film is accessible and captioned in their location. Availability can change; check every link before publishing the Canvas page.</a:t>
            </a:r>
          </a:p>
          <a:p xmlns:a="http://schemas.openxmlformats.org/drawingml/2006/main">
            <a:r>
              <a:t/>
            </a:r>
          </a:p>
          <a:p xmlns:a="http://schemas.openxmlformats.org/drawingml/2006/main">
            <a:r>
              <a:t>[Sources]</a:t>
            </a:r>
          </a:p>
          <a:p xmlns:a="http://schemas.openxmlformats.org/drawingml/2006/main">
            <a:r>
              <a:t>- Three Thousand: https://www.nfb.ca/film/three-thousand/</a:t>
            </a:r>
          </a:p>
          <a:p xmlns:a="http://schemas.openxmlformats.org/drawingml/2006/main">
            <a:r>
              <a:t>- My Dead Dad’s Porno Tapes: https://vimeo.com/292537862</a:t>
            </a:r>
          </a:p>
          <a:p xmlns:a="http://schemas.openxmlformats.org/drawingml/2006/main">
            <a:r>
              <a:t>- Perfecting the Art of Longing: https://collection.nfb.ca/film/perfecting-the-art-of-longing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Require concrete evidence from the selected short. ‘I liked the cinematography’ is only a starting point. Students should name a moment, describe the choice, and explain its effect. The limitation should be reasoned, not dismissive.</a:t>
            </a:r>
          </a:p>
          <a:p xmlns:a="http://schemas.openxmlformats.org/drawingml/2006/main">
            <a:r>
              <a:t/>
            </a:r>
          </a:p>
          <a:p xmlns:a="http://schemas.openxmlformats.org/drawingml/2006/main">
            <a:r>
              <a:t>[Sources]</a:t>
            </a:r>
          </a:p>
          <a:p xmlns:a="http://schemas.openxmlformats.org/drawingml/2006/main">
            <a:r>
              <a:t>- Course-authored synthesis from the user-supplied course brief; no external source.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lab uses editable JSON, local browser persistence, a reflection summary, and plain-text export. It does not collect student data or assign a numerical score. Ask students to test consequences rather than decorate the same pitch with different labels.</a:t>
            </a:r>
          </a:p>
          <a:p xmlns:a="http://schemas.openxmlformats.org/drawingml/2006/main">
            <a:r>
              <a:t/>
            </a:r>
          </a:p>
          <a:p xmlns:a="http://schemas.openxmlformats.org/drawingml/2006/main">
            <a:r>
              <a:t>[Sources]</a:t>
            </a:r>
          </a:p>
          <a:p xmlns:a="http://schemas.openxmlformats.org/drawingml/2006/main">
            <a:r>
              <a:t>- Course-authored synthesis from the user-supplied course brief; no external source.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Students are not locking the project forever. They should name a provisional dominant form, one alternative, and a low-risk test: film ten minutes of activity, record a walking interview, examine available archive, or try a sound-led sequence. Feasibility remains part of form.</a:t>
            </a:r>
          </a:p>
          <a:p xmlns:a="http://schemas.openxmlformats.org/drawingml/2006/main">
            <a:r>
              <a:t/>
            </a:r>
          </a:p>
          <a:p xmlns:a="http://schemas.openxmlformats.org/drawingml/2006/main">
            <a:r>
              <a:t>[Sources]</a:t>
            </a:r>
          </a:p>
          <a:p xmlns:a="http://schemas.openxmlformats.org/drawingml/2006/main">
            <a:r>
              <a:t>- Course-authored synthesis from the user-supplied course brief; no external source.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End by reconnecting form to the whole developing documentary. Invite students to revise their idea rather than defend it. Their next step is Module 2: research, access, ethics, and a documentary vision grounded in what can genuinely be made.</a:t>
            </a:r>
          </a:p>
          <a:p xmlns:a="http://schemas.openxmlformats.org/drawingml/2006/main">
            <a:r>
              <a:t/>
            </a:r>
          </a:p>
          <a:p xmlns:a="http://schemas.openxmlformats.org/drawingml/2006/main">
            <a:r>
              <a:t>[Sources]</a:t>
            </a:r>
          </a:p>
          <a:p xmlns:a="http://schemas.openxmlformats.org/drawingml/2006/main">
            <a:r>
              <a:t>- Original AI-generated fictional educational visual created for DOC 515; no external asset source.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2c955b6a279452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b07532caa8b47a3" /><Relationship Type="http://schemas.openxmlformats.org/officeDocument/2006/relationships/slideLayout" Target="/ppt/slideLayouts/slideLayout1.xml" Id="R37d5800869634af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7d5800869634af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a5b3f810a424561" /><Relationship Type="http://schemas.openxmlformats.org/officeDocument/2006/relationships/image" Target="/ppt/media/image.png" Id="R3a70474a678b43d7" /><Relationship Type="http://schemas.openxmlformats.org/officeDocument/2006/relationships/notesSlide" Target="/ppt/notesSlides/notesSlide1.xml" Id="R866a8ebdfddc4ef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b89ba4ddc7544f6" /><Relationship Type="http://schemas.openxmlformats.org/officeDocument/2006/relationships/notesSlide" Target="/ppt/notesSlides/notesSlide2.xml" Id="Ra5e77612864b456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c4b1596e39b49f1" /><Relationship Type="http://schemas.openxmlformats.org/officeDocument/2006/relationships/notesSlide" Target="/ppt/notesSlides/notesSlide3.xml" Id="Rc5b993d6fc9444c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a5e6c68c60e4611" /><Relationship Type="http://schemas.openxmlformats.org/officeDocument/2006/relationships/notesSlide" Target="/ppt/notesSlides/notesSlide4.xml" Id="R4057aea9c18346d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b63ce63a21f45c0" /><Relationship Type="http://schemas.openxmlformats.org/officeDocument/2006/relationships/notesSlide" Target="/ppt/notesSlides/notesSlide5.xml" Id="R3f6afe7639ee4ef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a4ba79a9f8348bb" /><Relationship Type="http://schemas.openxmlformats.org/officeDocument/2006/relationships/notesSlide" Target="/ppt/notesSlides/notesSlide6.xml" Id="Rd3ce3cef85d14e8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9ffb7e18cab4280" /><Relationship Type="http://schemas.openxmlformats.org/officeDocument/2006/relationships/notesSlide" Target="/ppt/notesSlides/notesSlide7.xml" Id="Re12a59ac7331443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d943b68598043bf" /><Relationship Type="http://schemas.openxmlformats.org/officeDocument/2006/relationships/image" Target="/ppt/media/image2.png" Id="R7d1f6a068af14035" /><Relationship Type="http://schemas.openxmlformats.org/officeDocument/2006/relationships/notesSlide" Target="/ppt/notesSlides/notesSlide8.xml" Id="R024d4c8100a9475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3b878d3dc1149c3" /><Relationship Type="http://schemas.openxmlformats.org/officeDocument/2006/relationships/image" Target="/ppt/media/image3.png" Id="R97ac3d5cb59746e6" /><Relationship Type="http://schemas.openxmlformats.org/officeDocument/2006/relationships/notesSlide" Target="/ppt/notesSlides/notesSlide9.xml" Id="Ra7d6832e89ea4c7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565cf3a5c4d495c" /><Relationship Type="http://schemas.openxmlformats.org/officeDocument/2006/relationships/image" Target="/ppt/media/image4.png" Id="Rcda343b2ff034d65" /><Relationship Type="http://schemas.openxmlformats.org/officeDocument/2006/relationships/notesSlide" Target="/ppt/notesSlides/notesSlide10.xml" Id="Rcadb2641841c4be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0c27f1e7a684dd3" /><Relationship Type="http://schemas.openxmlformats.org/officeDocument/2006/relationships/image" Target="/ppt/media/image5.png" Id="Rcd79e643c6a24816" /><Relationship Type="http://schemas.openxmlformats.org/officeDocument/2006/relationships/notesSlide" Target="/ppt/notesSlides/notesSlide11.xml" Id="R8e04ecc9a6de45e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834b69bf53846d5" /><Relationship Type="http://schemas.openxmlformats.org/officeDocument/2006/relationships/image" Target="/ppt/media/image6.png" Id="R201d8951f95349f9" /><Relationship Type="http://schemas.openxmlformats.org/officeDocument/2006/relationships/notesSlide" Target="/ppt/notesSlides/notesSlide12.xml" Id="R8638778b1b9e416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faa580a69af4bda" /><Relationship Type="http://schemas.openxmlformats.org/officeDocument/2006/relationships/image" Target="/ppt/media/image7.png" Id="R3b66e85f3b4e47d0" /><Relationship Type="http://schemas.openxmlformats.org/officeDocument/2006/relationships/notesSlide" Target="/ppt/notesSlides/notesSlide13.xml" Id="Ref4990c53b5d446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9a4769480e9945ab" /><Relationship Type="http://schemas.openxmlformats.org/officeDocument/2006/relationships/notesSlide" Target="/ppt/notesSlides/notesSlide14.xml" Id="Re5424c1ecd9a492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56b1b12881ad4019" /><Relationship Type="http://schemas.openxmlformats.org/officeDocument/2006/relationships/image" Target="/ppt/media/image8.png" Id="Rbcfbfe3da73941b1" /><Relationship Type="http://schemas.openxmlformats.org/officeDocument/2006/relationships/notesSlide" Target="/ppt/notesSlides/notesSlide15.xml" Id="R5a90b3dee5d743c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3d608d9ffe784173" /><Relationship Type="http://schemas.openxmlformats.org/officeDocument/2006/relationships/image" Target="/ppt/media/image9.png" Id="R36adaaaa6d2c434b" /><Relationship Type="http://schemas.openxmlformats.org/officeDocument/2006/relationships/notesSlide" Target="/ppt/notesSlides/notesSlide16.xml" Id="Rc49c7fa4bc86424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6d83135f7a2e4b87" /><Relationship Type="http://schemas.openxmlformats.org/officeDocument/2006/relationships/image" Target="/ppt/media/image10.png" Id="Rcf4334c846364f11" /><Relationship Type="http://schemas.openxmlformats.org/officeDocument/2006/relationships/notesSlide" Target="/ppt/notesSlides/notesSlide17.xml" Id="Rbde5660e934e4bd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7aca3915b20040ee" /><Relationship Type="http://schemas.openxmlformats.org/officeDocument/2006/relationships/image" Target="/ppt/media/image11.png" Id="R4fbee70c9cab4716" /><Relationship Type="http://schemas.openxmlformats.org/officeDocument/2006/relationships/notesSlide" Target="/ppt/notesSlides/notesSlide18.xml" Id="Ra8e8af2df8134f6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19ae482b188f4442" /><Relationship Type="http://schemas.openxmlformats.org/officeDocument/2006/relationships/image" Target="/ppt/media/image12.png" Id="R8076da6a8c7e4f28" /><Relationship Type="http://schemas.openxmlformats.org/officeDocument/2006/relationships/notesSlide" Target="/ppt/notesSlides/notesSlide19.xml" Id="R66f61602ab99470e"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70a57d72fc964d26" /><Relationship Type="http://schemas.openxmlformats.org/officeDocument/2006/relationships/image" Target="/ppt/media/image13.png" Id="Rc09ad9b8532b41f6" /><Relationship Type="http://schemas.openxmlformats.org/officeDocument/2006/relationships/notesSlide" Target="/ppt/notesSlides/notesSlide20.xml" Id="Rd3e9484b591347a9"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e9bb0c68290a424f" /><Relationship Type="http://schemas.openxmlformats.org/officeDocument/2006/relationships/image" Target="/ppt/media/image14.png" Id="Re6f94552036340a8" /><Relationship Type="http://schemas.openxmlformats.org/officeDocument/2006/relationships/notesSlide" Target="/ppt/notesSlides/notesSlide21.xml" Id="R81b90518e16a4f1a"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a00b2dce840f416e" /><Relationship Type="http://schemas.openxmlformats.org/officeDocument/2006/relationships/notesSlide" Target="/ppt/notesSlides/notesSlide22.xml" Id="R9142806170b84b93"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ca9cd2e070ff4948" /><Relationship Type="http://schemas.openxmlformats.org/officeDocument/2006/relationships/hyperlink" Target="https://www.arte.tv/fr/videos/067728-000-A/ten-meter-tower/" TargetMode="External" Id="Re7553fecd7444cad" /><Relationship Type="http://schemas.openxmlformats.org/officeDocument/2006/relationships/hyperlink" Target="https://vimeo.com/38515567" TargetMode="External" Id="R7da0f39467104897" /><Relationship Type="http://schemas.openxmlformats.org/officeDocument/2006/relationships/hyperlink" Target="https://collection.nfb.ca/film/street-lessons" TargetMode="External" Id="R5170ff469e7843cb" /><Relationship Type="http://schemas.openxmlformats.org/officeDocument/2006/relationships/hyperlink" Target="https://breakwaterstudios.com/the-queen-of-basketball-watch-now/" TargetMode="External" Id="Re1863ddf4493487a" /><Relationship Type="http://schemas.openxmlformats.org/officeDocument/2006/relationships/notesSlide" Target="/ppt/notesSlides/notesSlide23.xml" Id="Rc3706cfdca08430f"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d535b23f855d4d35" /><Relationship Type="http://schemas.openxmlformats.org/officeDocument/2006/relationships/hyperlink" Target="https://www.nfb.ca/film/three-thousand/" TargetMode="External" Id="R0c12377488e74e4a" /><Relationship Type="http://schemas.openxmlformats.org/officeDocument/2006/relationships/hyperlink" Target="https://vimeo.com/292537862" TargetMode="External" Id="R4db410de91554711" /><Relationship Type="http://schemas.openxmlformats.org/officeDocument/2006/relationships/hyperlink" Target="https://collection.nfb.ca/film/perfecting-the-art-of-longing" TargetMode="External" Id="R4da6f7117ad54086" /><Relationship Type="http://schemas.openxmlformats.org/officeDocument/2006/relationships/notesSlide" Target="/ppt/notesSlides/notesSlide24.xml" Id="R6009ee2a674f4b39"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618e78537c674a95" /><Relationship Type="http://schemas.openxmlformats.org/officeDocument/2006/relationships/notesSlide" Target="/ppt/notesSlides/notesSlide25.xml" Id="Rdc31cc135df04a35"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fffbe040552f4f6c" /><Relationship Type="http://schemas.openxmlformats.org/officeDocument/2006/relationships/notesSlide" Target="/ppt/notesSlides/notesSlide26.xml" Id="R9654fc8420844df9"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4dac9c434dc74d26" /><Relationship Type="http://schemas.openxmlformats.org/officeDocument/2006/relationships/notesSlide" Target="/ppt/notesSlides/notesSlide27.xml" Id="R7d71c05f4b664863"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b53397b8e1744379" /><Relationship Type="http://schemas.openxmlformats.org/officeDocument/2006/relationships/image" Target="/ppt/media/image15.png" Id="R0eb0774eb1f64022" /><Relationship Type="http://schemas.openxmlformats.org/officeDocument/2006/relationships/notesSlide" Target="/ppt/notesSlides/notesSlide28.xml" Id="Rc7ce96e0ca6f4678" /></Relationships>
</file>

<file path=ppt/slides/slide1.xml><?xml version="1.0" encoding="utf-8"?>
<p:sld xmlns:p="http://schemas.openxmlformats.org/presentationml/2006/main">
  <p:cSld>
    <p:bg>
      <p:bgPr>
        <a:solidFill xmlns:a="http://schemas.openxmlformats.org/drawingml/2006/main">
          <a:srgbClr val="081116"/>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3a70474a678b43d7"/>
          <a:srcRect xmlns:a="http://schemas.openxmlformats.org/drawingml/2006/main" l="24205" t="0" r="24205" b="0"/>
          <a:stretch xmlns:a="http://schemas.openxmlformats.org/drawingml/2006/main">
            <a:fillRect l="0" t="0" r="0" b="0"/>
          </a:stretch>
        </p:blipFill>
        <p:spPr>
          <a:xfrm xmlns:a="http://schemas.openxmlformats.org/drawingml/2006/main">
            <a:off x="5905500" y="0"/>
            <a:ext cx="6286500" cy="6858000"/>
          </a:xfrm>
          <a:prstGeom xmlns:a="http://schemas.openxmlformats.org/drawingml/2006/main" prst="rect">
            <a:avLst/>
          </a:prstGeom>
        </p:spPr>
      </p:pic>
      <p:sp>
        <p:nvSpPr>
          <p:cNvPr id="2" name="title-accent">
            <a:extLst xmlns:a="http://schemas.openxmlformats.org/drawingml/2006/main">
              <a:ext uri="{FF2B5EF4-FFF2-40B4-BE49-F238E27FC236}">
                <a16:creationId xmlns:a16="http://schemas.microsoft.com/office/drawing/2014/main" id="{3F882DFC-34A3-4462-9605-5BEFDEDD7A5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C9924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009CD57-86D9-4CE4-A543-9BFE576909AB}"/>
              </a:ext>
            </a:extLst>
          </p:cNvPr>
          <p:cNvSpPr>
            <a:spLocks xmlns:a="http://schemas.openxmlformats.org/drawingml/2006/main" noGrp="1"/>
          </p:cNvSpPr>
          <p:nvPr/>
        </p:nvSpPr>
        <p:spPr>
          <a:xfrm xmlns:a="http://schemas.openxmlformats.org/drawingml/2006/main">
            <a:off x="685800" y="59055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1275" b="1" i="0">
                <a:solidFill>
                  <a:srgbClr val="C9924A"/>
                </a:solidFill>
              </a:defRPr>
            </a:pPr>
            <a:r>
              <a:rPr sz="1275" b="1" i="0">
                <a:solidFill>
                  <a:srgbClr val="C9924A"/>
                </a:solidFill>
              </a:rPr>
              <a:t>MODULE 1 · LESSON 2</a:t>
            </a:r>
          </a:p>
        </p:txBody>
      </p:sp>
      <p:sp>
        <p:nvSpPr>
          <p:cNvPr id="4" name="deck-title">
            <a:extLst xmlns:a="http://schemas.openxmlformats.org/drawingml/2006/main">
              <a:ext uri="{FF2B5EF4-FFF2-40B4-BE49-F238E27FC236}">
                <a16:creationId xmlns:a16="http://schemas.microsoft.com/office/drawing/2014/main" id="{1DED3B05-D45B-4165-AC81-1434FFE06A9B}"/>
              </a:ext>
            </a:extLst>
          </p:cNvPr>
          <p:cNvSpPr>
            <a:spLocks xmlns:a="http://schemas.openxmlformats.org/drawingml/2006/main" noGrp="1"/>
          </p:cNvSpPr>
          <p:nvPr/>
        </p:nvSpPr>
        <p:spPr>
          <a:xfrm xmlns:a="http://schemas.openxmlformats.org/drawingml/2006/main">
            <a:off x="685800" y="1466850"/>
            <a:ext cx="504825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90000"/>
              </a:lnSpc>
              <a:buNone/>
              <a:defRPr sz="4350" b="1" i="0">
                <a:solidFill>
                  <a:srgbClr val="F2EFE8"/>
                </a:solidFill>
              </a:defRPr>
            </a:pPr>
            <a:r>
              <a:rPr sz="4350" b="1" i="0">
                <a:solidFill>
                  <a:srgbClr val="F2EFE8"/>
                </a:solidFill>
              </a:rPr>
              <a:t>The Same Story,</a:t>
            </a:r>
          </a:p>
          <a:p xmlns:a="http://schemas.openxmlformats.org/drawingml/2006/main">
            <a:pPr algn="l">
              <a:lnSpc>
                <a:spcPct val="90000"/>
              </a:lnSpc>
              <a:buNone/>
              <a:defRPr sz="4350" b="1" i="0">
                <a:solidFill>
                  <a:srgbClr val="F2EFE8"/>
                </a:solidFill>
              </a:defRPr>
            </a:pPr>
            <a:r>
              <a:rPr sz="4350" b="1" i="0">
                <a:solidFill>
                  <a:srgbClr val="F2EFE8"/>
                </a:solidFill>
              </a:rPr>
              <a:t>Different Film</a:t>
            </a:r>
          </a:p>
        </p:txBody>
      </p:sp>
      <p:sp>
        <p:nvSpPr>
          <p:cNvPr id="5" name="">
            <a:extLst xmlns:a="http://schemas.openxmlformats.org/drawingml/2006/main">
              <a:ext uri="{FF2B5EF4-FFF2-40B4-BE49-F238E27FC236}">
                <a16:creationId xmlns:a16="http://schemas.microsoft.com/office/drawing/2014/main" id="{92BE40F8-01A2-45EB-BF51-362703909459}"/>
              </a:ext>
            </a:extLst>
          </p:cNvPr>
          <p:cNvSpPr>
            <a:spLocks xmlns:a="http://schemas.openxmlformats.org/drawingml/2006/main" noGrp="1"/>
          </p:cNvSpPr>
          <p:nvPr/>
        </p:nvSpPr>
        <p:spPr>
          <a:xfrm xmlns:a="http://schemas.openxmlformats.org/drawingml/2006/main">
            <a:off x="685800" y="3762375"/>
            <a:ext cx="4476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2025" b="0" i="0">
                <a:solidFill>
                  <a:srgbClr val="D8E0E1"/>
                </a:solidFill>
              </a:defRPr>
            </a:pPr>
            <a:r>
              <a:rPr sz="2025" b="0" i="0">
                <a:solidFill>
                  <a:srgbClr val="D8E0E1"/>
                </a:solidFill>
              </a:rPr>
              <a:t>Documentary form and creative choice</a:t>
            </a:r>
          </a:p>
        </p:txBody>
      </p:sp>
      <p:sp>
        <p:nvSpPr>
          <p:cNvPr id="6" name="">
            <a:extLst xmlns:a="http://schemas.openxmlformats.org/drawingml/2006/main">
              <a:ext uri="{FF2B5EF4-FFF2-40B4-BE49-F238E27FC236}">
                <a16:creationId xmlns:a16="http://schemas.microsoft.com/office/drawing/2014/main" id="{17F7D228-9D82-45A6-8BDD-29FD3CACE55B}"/>
              </a:ext>
            </a:extLst>
          </p:cNvPr>
          <p:cNvSpPr>
            <a:spLocks xmlns:a="http://schemas.openxmlformats.org/drawingml/2006/main" noGrp="1"/>
          </p:cNvSpPr>
          <p:nvPr/>
        </p:nvSpPr>
        <p:spPr>
          <a:xfrm xmlns:a="http://schemas.openxmlformats.org/drawingml/2006/main">
            <a:off x="685800" y="5857875"/>
            <a:ext cx="447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1350" b="0" i="0">
                <a:solidFill>
                  <a:srgbClr val="9FB0B9"/>
                </a:solidFill>
              </a:defRPr>
            </a:pPr>
            <a:r>
              <a:rPr sz="1350" b="0" i="0">
                <a:solidFill>
                  <a:srgbClr val="9FB0B9"/>
                </a:solidFill>
              </a:rPr>
              <a:t>What Makes a Good Documentary?</a:t>
            </a:r>
          </a:p>
        </p:txBody>
      </p:sp>
    </p:spTree>
    <p:extLst>
      <p:ext uri="{BB962C8B-B14F-4D97-AF65-F5344CB8AC3E}">
        <p14:creationId xmlns:p14="http://schemas.microsoft.com/office/powerpoint/2010/main" val="1380110869"/>
      </p:ext>
    </p:extLst>
  </p:cSld>
</p:sld>
</file>

<file path=ppt/slides/slide2.xml><?xml version="1.0" encoding="utf-8"?>
<p:sld xmlns:p="http://schemas.openxmlformats.org/presentationml/2006/main">
  <p:cSld>
    <p:bg>
      <p:bgPr>
        <a:solidFill xmlns:a="http://schemas.openxmlformats.org/drawingml/2006/main">
          <a:srgbClr val="081116"/>
        </a:solidFill>
      </p:bgPr>
    </p:bg>
    <p:spTree>
      <p:nvGrpSpPr>
        <p:cNvPr id="1" name=""/>
        <p:cNvGrpSpPr/>
        <p:nvPr/>
      </p:nvGrpSpPr>
      <p:grpSpPr>
        <a:xfrm xmlns:a="http://schemas.openxmlformats.org/drawingml/2006/main"/>
      </p:grpSpPr>
      <p:sp>
        <p:nvSpPr>
          <p:cNvPr id="14" name="accent-2">
            <a:extLst xmlns:a="http://schemas.openxmlformats.org/drawingml/2006/main">
              <a:ext uri="{FF2B5EF4-FFF2-40B4-BE49-F238E27FC236}">
                <a16:creationId xmlns:a16="http://schemas.microsoft.com/office/drawing/2014/main" id="{DAE8AB77-EF9E-48F6-9C1A-ED63047D8C6C}"/>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C9924A"/>
          </a:solidFill>
          <a:ln xmlns:a="http://schemas.openxmlformats.org/drawingml/2006/main" w="0">
            <a:noFill/>
            <a:prstDash val="solid"/>
          </a:ln>
        </p:spPr>
      </p:sp>
      <p:sp>
        <p:nvSpPr>
          <p:cNvPr id="2" name="eyebrow-2">
            <a:extLst xmlns:a="http://schemas.openxmlformats.org/drawingml/2006/main">
              <a:ext uri="{FF2B5EF4-FFF2-40B4-BE49-F238E27FC236}">
                <a16:creationId xmlns:a16="http://schemas.microsoft.com/office/drawing/2014/main" id="{D0EB9E26-E771-48D3-9F46-01C8AAD2AA74}"/>
              </a:ext>
            </a:extLst>
          </p:cNvPr>
          <p:cNvSpPr>
            <a:spLocks xmlns:a="http://schemas.openxmlformats.org/drawingml/2006/main" noGrp="1"/>
          </p:cNvSpPr>
          <p:nvPr/>
        </p:nvSpPr>
        <p:spPr>
          <a:xfrm xmlns:a="http://schemas.openxmlformats.org/drawingml/2006/main">
            <a:off x="685800" y="36195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1200" b="1" i="0">
                <a:solidFill>
                  <a:srgbClr val="C9924A"/>
                </a:solidFill>
              </a:defRPr>
            </a:pPr>
            <a:r>
              <a:rPr sz="1200" b="1" i="0">
                <a:solidFill>
                  <a:srgbClr val="C9924A"/>
                </a:solidFill>
              </a:rPr>
              <a:t>TODAY’S DESTINATION</a:t>
            </a:r>
          </a:p>
        </p:txBody>
      </p:sp>
      <p:sp>
        <p:nvSpPr>
          <p:cNvPr id="3" name="section-2">
            <a:extLst xmlns:a="http://schemas.openxmlformats.org/drawingml/2006/main">
              <a:ext uri="{FF2B5EF4-FFF2-40B4-BE49-F238E27FC236}">
                <a16:creationId xmlns:a16="http://schemas.microsoft.com/office/drawing/2014/main" id="{F8724688-2BA8-4865-99DD-BA66E85BD697}"/>
              </a:ext>
            </a:extLst>
          </p:cNvPr>
          <p:cNvSpPr>
            <a:spLocks xmlns:a="http://schemas.openxmlformats.org/drawingml/2006/main" noGrp="1"/>
          </p:cNvSpPr>
          <p:nvPr/>
        </p:nvSpPr>
        <p:spPr>
          <a:xfrm xmlns:a="http://schemas.openxmlformats.org/drawingml/2006/main">
            <a:off x="685800" y="6429375"/>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1200" b="0" i="0">
                <a:solidFill>
                  <a:srgbClr val="9FB0B9"/>
                </a:solidFill>
              </a:defRPr>
            </a:pPr>
            <a:r>
              <a:rPr sz="1200" b="0" i="0">
                <a:solidFill>
                  <a:srgbClr val="9FB0B9"/>
                </a:solidFill>
              </a:rPr>
              <a:t>ORIENTATION</a:t>
            </a:r>
          </a:p>
        </p:txBody>
      </p:sp>
      <p:sp>
        <p:nvSpPr>
          <p:cNvPr id="4" name="number-2">
            <a:extLst xmlns:a="http://schemas.openxmlformats.org/drawingml/2006/main">
              <a:ext uri="{FF2B5EF4-FFF2-40B4-BE49-F238E27FC236}">
                <a16:creationId xmlns:a16="http://schemas.microsoft.com/office/drawing/2014/main" id="{682225CB-2EA7-4A72-B3FE-261B0CCA2DA3}"/>
              </a:ext>
            </a:extLst>
          </p:cNvPr>
          <p:cNvSpPr>
            <a:spLocks xmlns:a="http://schemas.openxmlformats.org/drawingml/2006/main" noGrp="1"/>
          </p:cNvSpPr>
          <p:nvPr/>
        </p:nvSpPr>
        <p:spPr>
          <a:xfrm xmlns:a="http://schemas.openxmlformats.org/drawingml/2006/main">
            <a:off x="11049000" y="640080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lnSpc>
                <a:spcPct val="105000"/>
              </a:lnSpc>
              <a:buNone/>
              <a:defRPr sz="1200" b="1" i="0">
                <a:solidFill>
                  <a:srgbClr val="C9924A"/>
                </a:solidFill>
              </a:defRPr>
            </a:pPr>
            <a:r>
              <a:rPr sz="1200" b="1" i="0">
                <a:solidFill>
                  <a:srgbClr val="C9924A"/>
                </a:solidFill>
              </a:rPr>
              <a:t>02</a:t>
            </a:r>
          </a:p>
        </p:txBody>
      </p:sp>
      <p:sp>
        <p:nvSpPr>
          <p:cNvPr id="5" name="slide-title">
            <a:extLst xmlns:a="http://schemas.openxmlformats.org/drawingml/2006/main">
              <a:ext uri="{FF2B5EF4-FFF2-40B4-BE49-F238E27FC236}">
                <a16:creationId xmlns:a16="http://schemas.microsoft.com/office/drawing/2014/main" id="{E190F521-2F03-49DA-8E0B-DCEAAEDC9D06}"/>
              </a:ext>
            </a:extLst>
          </p:cNvPr>
          <p:cNvSpPr>
            <a:spLocks xmlns:a="http://schemas.openxmlformats.org/drawingml/2006/main" noGrp="1"/>
          </p:cNvSpPr>
          <p:nvPr/>
        </p:nvSpPr>
        <p:spPr>
          <a:xfrm xmlns:a="http://schemas.openxmlformats.org/drawingml/2006/main">
            <a:off x="685800" y="857250"/>
            <a:ext cx="9334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94000"/>
              </a:lnSpc>
              <a:buNone/>
              <a:defRPr sz="3600" b="1" i="0">
                <a:solidFill>
                  <a:srgbClr val="F2EFE8"/>
                </a:solidFill>
              </a:defRPr>
            </a:pPr>
            <a:r>
              <a:rPr sz="3600" b="1" i="0">
                <a:solidFill>
                  <a:srgbClr val="F2EFE8"/>
                </a:solidFill>
              </a:rPr>
              <a:t>By the end of this lesson, you can…</a:t>
            </a:r>
          </a:p>
        </p:txBody>
      </p:sp>
      <p:sp>
        <p:nvSpPr>
          <p:cNvPr id="6" name="bullet-0">
            <a:extLst xmlns:a="http://schemas.openxmlformats.org/drawingml/2006/main">
              <a:ext uri="{FF2B5EF4-FFF2-40B4-BE49-F238E27FC236}">
                <a16:creationId xmlns:a16="http://schemas.microsoft.com/office/drawing/2014/main" id="{533B2B33-20B0-458D-9576-EF690DC29FB8}"/>
              </a:ext>
            </a:extLst>
          </p:cNvPr>
          <p:cNvSpPr>
            <a:spLocks xmlns:a="http://schemas.openxmlformats.org/drawingml/2006/main" noGrp="1"/>
          </p:cNvSpPr>
          <p:nvPr/>
        </p:nvSpPr>
        <p:spPr>
          <a:xfrm xmlns:a="http://schemas.openxmlformats.org/drawingml/2006/main">
            <a:off x="685800" y="2381250"/>
            <a:ext cx="95250" cy="95250"/>
          </a:xfrm>
          <a:prstGeom xmlns:a="http://schemas.openxmlformats.org/drawingml/2006/main" prst="rect">
            <a:avLst/>
          </a:prstGeom>
          <a:solidFill xmlns:a="http://schemas.openxmlformats.org/drawingml/2006/main">
            <a:srgbClr val="C9924A"/>
          </a:solidFill>
          <a:ln xmlns:a="http://schemas.openxmlformats.org/drawingml/2006/main" w="0">
            <a:noFill/>
            <a:prstDash val="solid"/>
          </a:ln>
        </p:spPr>
      </p:sp>
      <p:sp>
        <p:nvSpPr>
          <p:cNvPr id="7" name="bullet-text-0">
            <a:extLst xmlns:a="http://schemas.openxmlformats.org/drawingml/2006/main">
              <a:ext uri="{FF2B5EF4-FFF2-40B4-BE49-F238E27FC236}">
                <a16:creationId xmlns:a16="http://schemas.microsoft.com/office/drawing/2014/main" id="{9B5BA92D-64DD-47C5-A53D-0ACC7E30BE2B}"/>
              </a:ext>
            </a:extLst>
          </p:cNvPr>
          <p:cNvSpPr>
            <a:spLocks xmlns:a="http://schemas.openxmlformats.org/drawingml/2006/main" noGrp="1"/>
          </p:cNvSpPr>
          <p:nvPr/>
        </p:nvSpPr>
        <p:spPr>
          <a:xfrm xmlns:a="http://schemas.openxmlformats.org/drawingml/2006/main">
            <a:off x="952500" y="2286000"/>
            <a:ext cx="9544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2000"/>
              </a:lnSpc>
              <a:buNone/>
              <a:defRPr sz="1875" b="0" i="0">
                <a:solidFill>
                  <a:srgbClr val="D8E0E1"/>
                </a:solidFill>
              </a:defRPr>
            </a:pPr>
            <a:r>
              <a:rPr sz="1875" b="0" i="0">
                <a:solidFill>
                  <a:srgbClr val="D8E0E1"/>
                </a:solidFill>
              </a:rPr>
              <a:t>Recognize six documentary approaches without treating them as rigid boxes.</a:t>
            </a:r>
          </a:p>
        </p:txBody>
      </p:sp>
      <p:sp>
        <p:nvSpPr>
          <p:cNvPr id="8" name="bullet-1">
            <a:extLst xmlns:a="http://schemas.openxmlformats.org/drawingml/2006/main">
              <a:ext uri="{FF2B5EF4-FFF2-40B4-BE49-F238E27FC236}">
                <a16:creationId xmlns:a16="http://schemas.microsoft.com/office/drawing/2014/main" id="{0E3A37B6-1782-44A3-9023-6D9748539F11}"/>
              </a:ext>
            </a:extLst>
          </p:cNvPr>
          <p:cNvSpPr>
            <a:spLocks xmlns:a="http://schemas.openxmlformats.org/drawingml/2006/main" noGrp="1"/>
          </p:cNvSpPr>
          <p:nvPr/>
        </p:nvSpPr>
        <p:spPr>
          <a:xfrm xmlns:a="http://schemas.openxmlformats.org/drawingml/2006/main">
            <a:off x="685800" y="3162300"/>
            <a:ext cx="95250" cy="95250"/>
          </a:xfrm>
          <a:prstGeom xmlns:a="http://schemas.openxmlformats.org/drawingml/2006/main" prst="rect">
            <a:avLst/>
          </a:prstGeom>
          <a:solidFill xmlns:a="http://schemas.openxmlformats.org/drawingml/2006/main">
            <a:srgbClr val="C9924A"/>
          </a:solidFill>
          <a:ln xmlns:a="http://schemas.openxmlformats.org/drawingml/2006/main" w="0">
            <a:noFill/>
            <a:prstDash val="solid"/>
          </a:ln>
        </p:spPr>
      </p:sp>
      <p:sp>
        <p:nvSpPr>
          <p:cNvPr id="9" name="bullet-text-1">
            <a:extLst xmlns:a="http://schemas.openxmlformats.org/drawingml/2006/main">
              <a:ext uri="{FF2B5EF4-FFF2-40B4-BE49-F238E27FC236}">
                <a16:creationId xmlns:a16="http://schemas.microsoft.com/office/drawing/2014/main" id="{6CBC1701-96B6-402C-B493-F2BB2198A692}"/>
              </a:ext>
            </a:extLst>
          </p:cNvPr>
          <p:cNvSpPr>
            <a:spLocks xmlns:a="http://schemas.openxmlformats.org/drawingml/2006/main" noGrp="1"/>
          </p:cNvSpPr>
          <p:nvPr/>
        </p:nvSpPr>
        <p:spPr>
          <a:xfrm xmlns:a="http://schemas.openxmlformats.org/drawingml/2006/main">
            <a:off x="952500" y="3067050"/>
            <a:ext cx="9544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2000"/>
              </a:lnSpc>
              <a:buNone/>
              <a:defRPr sz="1875" b="0" i="0">
                <a:solidFill>
                  <a:srgbClr val="D8E0E1"/>
                </a:solidFill>
              </a:defRPr>
            </a:pPr>
            <a:r>
              <a:rPr sz="1875" b="0" i="0">
                <a:solidFill>
                  <a:srgbClr val="D8E0E1"/>
                </a:solidFill>
              </a:rPr>
              <a:t>Read a short documentary as a set of deliberate choices.</a:t>
            </a:r>
          </a:p>
        </p:txBody>
      </p:sp>
      <p:sp>
        <p:nvSpPr>
          <p:cNvPr id="10" name="bullet-2">
            <a:extLst xmlns:a="http://schemas.openxmlformats.org/drawingml/2006/main">
              <a:ext uri="{FF2B5EF4-FFF2-40B4-BE49-F238E27FC236}">
                <a16:creationId xmlns:a16="http://schemas.microsoft.com/office/drawing/2014/main" id="{2062BF42-ED3B-41F2-B115-4E2033D38627}"/>
              </a:ext>
            </a:extLst>
          </p:cNvPr>
          <p:cNvSpPr>
            <a:spLocks xmlns:a="http://schemas.openxmlformats.org/drawingml/2006/main" noGrp="1"/>
          </p:cNvSpPr>
          <p:nvPr/>
        </p:nvSpPr>
        <p:spPr>
          <a:xfrm xmlns:a="http://schemas.openxmlformats.org/drawingml/2006/main">
            <a:off x="685800" y="3943350"/>
            <a:ext cx="95250" cy="95250"/>
          </a:xfrm>
          <a:prstGeom xmlns:a="http://schemas.openxmlformats.org/drawingml/2006/main" prst="rect">
            <a:avLst/>
          </a:prstGeom>
          <a:solidFill xmlns:a="http://schemas.openxmlformats.org/drawingml/2006/main">
            <a:srgbClr val="C9924A"/>
          </a:solidFill>
          <a:ln xmlns:a="http://schemas.openxmlformats.org/drawingml/2006/main" w="0">
            <a:noFill/>
            <a:prstDash val="solid"/>
          </a:ln>
        </p:spPr>
      </p:sp>
      <p:sp>
        <p:nvSpPr>
          <p:cNvPr id="11" name="bullet-text-2">
            <a:extLst xmlns:a="http://schemas.openxmlformats.org/drawingml/2006/main">
              <a:ext uri="{FF2B5EF4-FFF2-40B4-BE49-F238E27FC236}">
                <a16:creationId xmlns:a16="http://schemas.microsoft.com/office/drawing/2014/main" id="{33F41216-5092-4F16-8A09-2288CCFBA18E}"/>
              </a:ext>
            </a:extLst>
          </p:cNvPr>
          <p:cNvSpPr>
            <a:spLocks xmlns:a="http://schemas.openxmlformats.org/drawingml/2006/main" noGrp="1"/>
          </p:cNvSpPr>
          <p:nvPr/>
        </p:nvSpPr>
        <p:spPr>
          <a:xfrm xmlns:a="http://schemas.openxmlformats.org/drawingml/2006/main">
            <a:off x="952500" y="3848100"/>
            <a:ext cx="9544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2000"/>
              </a:lnSpc>
              <a:buNone/>
              <a:defRPr sz="1875" b="0" i="0">
                <a:solidFill>
                  <a:srgbClr val="D8E0E1"/>
                </a:solidFill>
              </a:defRPr>
            </a:pPr>
            <a:r>
              <a:rPr sz="1875" b="0" i="0">
                <a:solidFill>
                  <a:srgbClr val="D8E0E1"/>
                </a:solidFill>
              </a:rPr>
              <a:t>Retell one story in more than one form.</a:t>
            </a:r>
          </a:p>
        </p:txBody>
      </p:sp>
      <p:sp>
        <p:nvSpPr>
          <p:cNvPr id="12" name="bullet-3">
            <a:extLst xmlns:a="http://schemas.openxmlformats.org/drawingml/2006/main">
              <a:ext uri="{FF2B5EF4-FFF2-40B4-BE49-F238E27FC236}">
                <a16:creationId xmlns:a16="http://schemas.microsoft.com/office/drawing/2014/main" id="{F9D642D0-C32A-46D9-A8BD-418AC4B67201}"/>
              </a:ext>
            </a:extLst>
          </p:cNvPr>
          <p:cNvSpPr>
            <a:spLocks xmlns:a="http://schemas.openxmlformats.org/drawingml/2006/main" noGrp="1"/>
          </p:cNvSpPr>
          <p:nvPr/>
        </p:nvSpPr>
        <p:spPr>
          <a:xfrm xmlns:a="http://schemas.openxmlformats.org/drawingml/2006/main">
            <a:off x="685800" y="4724400"/>
            <a:ext cx="95250" cy="95250"/>
          </a:xfrm>
          <a:prstGeom xmlns:a="http://schemas.openxmlformats.org/drawingml/2006/main" prst="rect">
            <a:avLst/>
          </a:prstGeom>
          <a:solidFill xmlns:a="http://schemas.openxmlformats.org/drawingml/2006/main">
            <a:srgbClr val="C9924A"/>
          </a:solidFill>
          <a:ln xmlns:a="http://schemas.openxmlformats.org/drawingml/2006/main" w="0">
            <a:noFill/>
            <a:prstDash val="solid"/>
          </a:ln>
        </p:spPr>
      </p:sp>
      <p:sp>
        <p:nvSpPr>
          <p:cNvPr id="13" name="bullet-text-3">
            <a:extLst xmlns:a="http://schemas.openxmlformats.org/drawingml/2006/main">
              <a:ext uri="{FF2B5EF4-FFF2-40B4-BE49-F238E27FC236}">
                <a16:creationId xmlns:a16="http://schemas.microsoft.com/office/drawing/2014/main" id="{3B436544-E062-4FC7-94F4-8F283D5E1E7D}"/>
              </a:ext>
            </a:extLst>
          </p:cNvPr>
          <p:cNvSpPr>
            <a:spLocks xmlns:a="http://schemas.openxmlformats.org/drawingml/2006/main" noGrp="1"/>
          </p:cNvSpPr>
          <p:nvPr/>
        </p:nvSpPr>
        <p:spPr>
          <a:xfrm xmlns:a="http://schemas.openxmlformats.org/drawingml/2006/main">
            <a:off x="952500" y="4629150"/>
            <a:ext cx="9544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2000"/>
              </a:lnSpc>
              <a:buNone/>
              <a:defRPr sz="1875" b="0" i="0">
                <a:solidFill>
                  <a:srgbClr val="D8E0E1"/>
                </a:solidFill>
              </a:defRPr>
            </a:pPr>
            <a:r>
              <a:rPr sz="1875" b="0" i="0">
                <a:solidFill>
                  <a:srgbClr val="D8E0E1"/>
                </a:solidFill>
              </a:rPr>
              <a:t>Choose a provisional form for your own short—and name an alternative.</a:t>
            </a:r>
          </a:p>
        </p:txBody>
      </p:sp>
    </p:spTree>
    <p:extLst>
      <p:ext uri="{BB962C8B-B14F-4D97-AF65-F5344CB8AC3E}">
        <p14:creationId xmlns:p14="http://schemas.microsoft.com/office/powerpoint/2010/main" val="1912061993"/>
      </p:ext>
    </p:extLst>
  </p:cSld>
</p:sld>
</file>

<file path=ppt/slides/slide3.xml><?xml version="1.0" encoding="utf-8"?>
<p:sld xmlns:p="http://schemas.openxmlformats.org/presentationml/2006/main">
  <p:cSld>
    <p:bg>
      <p:bgPr>
        <a:solidFill xmlns:a="http://schemas.openxmlformats.org/drawingml/2006/main">
          <a:srgbClr val="081116"/>
        </a:solidFill>
      </p:bgPr>
    </p:bg>
    <p:spTree>
      <p:nvGrpSpPr>
        <p:cNvPr id="1" name=""/>
        <p:cNvGrpSpPr/>
        <p:nvPr/>
      </p:nvGrpSpPr>
      <p:grpSpPr>
        <a:xfrm xmlns:a="http://schemas.openxmlformats.org/drawingml/2006/main"/>
      </p:grpSpPr>
      <p:sp>
        <p:nvSpPr>
          <p:cNvPr id="8" name="accent-3">
            <a:extLst xmlns:a="http://schemas.openxmlformats.org/drawingml/2006/main">
              <a:ext uri="{FF2B5EF4-FFF2-40B4-BE49-F238E27FC236}">
                <a16:creationId xmlns:a16="http://schemas.microsoft.com/office/drawing/2014/main" id="{F86AD645-6A12-4420-BEA1-63A5399EAF36}"/>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C9924A"/>
          </a:solidFill>
          <a:ln xmlns:a="http://schemas.openxmlformats.org/drawingml/2006/main" w="0">
            <a:noFill/>
            <a:prstDash val="solid"/>
          </a:ln>
        </p:spPr>
      </p:sp>
      <p:sp>
        <p:nvSpPr>
          <p:cNvPr id="2" name="eyebrow-3">
            <a:extLst xmlns:a="http://schemas.openxmlformats.org/drawingml/2006/main">
              <a:ext uri="{FF2B5EF4-FFF2-40B4-BE49-F238E27FC236}">
                <a16:creationId xmlns:a16="http://schemas.microsoft.com/office/drawing/2014/main" id="{CAC70971-6AF0-4E8D-AC8B-D78956FA91C2}"/>
              </a:ext>
            </a:extLst>
          </p:cNvPr>
          <p:cNvSpPr>
            <a:spLocks xmlns:a="http://schemas.openxmlformats.org/drawingml/2006/main" noGrp="1"/>
          </p:cNvSpPr>
          <p:nvPr/>
        </p:nvSpPr>
        <p:spPr>
          <a:xfrm xmlns:a="http://schemas.openxmlformats.org/drawingml/2006/main">
            <a:off x="685800" y="36195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1200" b="1" i="0">
                <a:solidFill>
                  <a:srgbClr val="C9924A"/>
                </a:solidFill>
              </a:defRPr>
            </a:pPr>
            <a:r>
              <a:rPr sz="1200" b="1" i="0">
                <a:solidFill>
                  <a:srgbClr val="C9924A"/>
                </a:solidFill>
              </a:rPr>
              <a:t>BEGIN WITH STORY</a:t>
            </a:r>
          </a:p>
        </p:txBody>
      </p:sp>
      <p:sp>
        <p:nvSpPr>
          <p:cNvPr id="3" name="section-3">
            <a:extLst xmlns:a="http://schemas.openxmlformats.org/drawingml/2006/main">
              <a:ext uri="{FF2B5EF4-FFF2-40B4-BE49-F238E27FC236}">
                <a16:creationId xmlns:a16="http://schemas.microsoft.com/office/drawing/2014/main" id="{EA0E9A06-F339-481C-BCB8-213F98C8A56C}"/>
              </a:ext>
            </a:extLst>
          </p:cNvPr>
          <p:cNvSpPr>
            <a:spLocks xmlns:a="http://schemas.openxmlformats.org/drawingml/2006/main" noGrp="1"/>
          </p:cNvSpPr>
          <p:nvPr/>
        </p:nvSpPr>
        <p:spPr>
          <a:xfrm xmlns:a="http://schemas.openxmlformats.org/drawingml/2006/main">
            <a:off x="685800" y="6429375"/>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1200" b="0" i="0">
                <a:solidFill>
                  <a:srgbClr val="9FB0B9"/>
                </a:solidFill>
              </a:defRPr>
            </a:pPr>
            <a:r>
              <a:rPr sz="1200" b="0" i="0">
                <a:solidFill>
                  <a:srgbClr val="9FB0B9"/>
                </a:solidFill>
              </a:rPr>
              <a:t>FROM TOPIC TO FORM</a:t>
            </a:r>
          </a:p>
        </p:txBody>
      </p:sp>
      <p:sp>
        <p:nvSpPr>
          <p:cNvPr id="4" name="number-3">
            <a:extLst xmlns:a="http://schemas.openxmlformats.org/drawingml/2006/main">
              <a:ext uri="{FF2B5EF4-FFF2-40B4-BE49-F238E27FC236}">
                <a16:creationId xmlns:a16="http://schemas.microsoft.com/office/drawing/2014/main" id="{12EDA2AB-5D06-4946-83E2-52F721D032B9}"/>
              </a:ext>
            </a:extLst>
          </p:cNvPr>
          <p:cNvSpPr>
            <a:spLocks xmlns:a="http://schemas.openxmlformats.org/drawingml/2006/main" noGrp="1"/>
          </p:cNvSpPr>
          <p:nvPr/>
        </p:nvSpPr>
        <p:spPr>
          <a:xfrm xmlns:a="http://schemas.openxmlformats.org/drawingml/2006/main">
            <a:off x="11049000" y="640080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lnSpc>
                <a:spcPct val="105000"/>
              </a:lnSpc>
              <a:buNone/>
              <a:defRPr sz="1200" b="1" i="0">
                <a:solidFill>
                  <a:srgbClr val="C9924A"/>
                </a:solidFill>
              </a:defRPr>
            </a:pPr>
            <a:r>
              <a:rPr sz="1200" b="1" i="0">
                <a:solidFill>
                  <a:srgbClr val="C9924A"/>
                </a:solidFill>
              </a:rPr>
              <a:t>03</a:t>
            </a:r>
          </a:p>
        </p:txBody>
      </p:sp>
      <p:sp>
        <p:nvSpPr>
          <p:cNvPr id="5" name="quote-rule">
            <a:extLst xmlns:a="http://schemas.openxmlformats.org/drawingml/2006/main">
              <a:ext uri="{FF2B5EF4-FFF2-40B4-BE49-F238E27FC236}">
                <a16:creationId xmlns:a16="http://schemas.microsoft.com/office/drawing/2014/main" id="{6CE805CC-44DD-4059-93D4-6142AEEBD46A}"/>
              </a:ext>
            </a:extLst>
          </p:cNvPr>
          <p:cNvSpPr>
            <a:spLocks xmlns:a="http://schemas.openxmlformats.org/drawingml/2006/main" noGrp="1"/>
          </p:cNvSpPr>
          <p:nvPr/>
        </p:nvSpPr>
        <p:spPr>
          <a:xfrm xmlns:a="http://schemas.openxmlformats.org/drawingml/2006/main">
            <a:off x="819150" y="1352550"/>
            <a:ext cx="876300" cy="76200"/>
          </a:xfrm>
          <a:prstGeom xmlns:a="http://schemas.openxmlformats.org/drawingml/2006/main" prst="rect">
            <a:avLst/>
          </a:prstGeom>
          <a:solidFill xmlns:a="http://schemas.openxmlformats.org/drawingml/2006/main">
            <a:srgbClr val="C9924A"/>
          </a:solidFill>
          <a:ln xmlns:a="http://schemas.openxmlformats.org/drawingml/2006/main" w="0">
            <a:noFill/>
            <a:prstDash val="solid"/>
          </a:ln>
        </p:spPr>
      </p:sp>
      <p:sp>
        <p:nvSpPr>
          <p:cNvPr id="6" name="statement">
            <a:extLst xmlns:a="http://schemas.openxmlformats.org/drawingml/2006/main">
              <a:ext uri="{FF2B5EF4-FFF2-40B4-BE49-F238E27FC236}">
                <a16:creationId xmlns:a16="http://schemas.microsoft.com/office/drawing/2014/main" id="{EA4CA476-CB98-4DF3-9763-B007B8D8D18F}"/>
              </a:ext>
            </a:extLst>
          </p:cNvPr>
          <p:cNvSpPr>
            <a:spLocks xmlns:a="http://schemas.openxmlformats.org/drawingml/2006/main" noGrp="1"/>
          </p:cNvSpPr>
          <p:nvPr/>
        </p:nvSpPr>
        <p:spPr>
          <a:xfrm xmlns:a="http://schemas.openxmlformats.org/drawingml/2006/main">
            <a:off x="819150" y="1733550"/>
            <a:ext cx="990600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98000"/>
              </a:lnSpc>
              <a:buNone/>
              <a:defRPr sz="3600" b="1" i="0">
                <a:solidFill>
                  <a:srgbClr val="F2EFE8"/>
                </a:solidFill>
              </a:defRPr>
            </a:pPr>
            <a:r>
              <a:rPr sz="3600" b="1" i="0">
                <a:solidFill>
                  <a:srgbClr val="F2EFE8"/>
                </a:solidFill>
              </a:rPr>
              <a:t>A documentary is never only its subject.</a:t>
            </a:r>
          </a:p>
        </p:txBody>
      </p:sp>
      <p:sp>
        <p:nvSpPr>
          <p:cNvPr id="7" name="prompt">
            <a:extLst xmlns:a="http://schemas.openxmlformats.org/drawingml/2006/main">
              <a:ext uri="{FF2B5EF4-FFF2-40B4-BE49-F238E27FC236}">
                <a16:creationId xmlns:a16="http://schemas.microsoft.com/office/drawing/2014/main" id="{75248598-08D0-4C1E-9B08-A2157C637C95}"/>
              </a:ext>
            </a:extLst>
          </p:cNvPr>
          <p:cNvSpPr>
            <a:spLocks xmlns:a="http://schemas.openxmlformats.org/drawingml/2006/main" noGrp="1"/>
          </p:cNvSpPr>
          <p:nvPr/>
        </p:nvSpPr>
        <p:spPr>
          <a:xfrm xmlns:a="http://schemas.openxmlformats.org/drawingml/2006/main">
            <a:off x="819150" y="4762500"/>
            <a:ext cx="9239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1725" b="0" i="1">
                <a:solidFill>
                  <a:srgbClr val="9FB0B9"/>
                </a:solidFill>
              </a:defRPr>
            </a:pPr>
            <a:r>
              <a:rPr sz="1725" b="0" i="1">
                <a:solidFill>
                  <a:srgbClr val="9FB0B9"/>
                </a:solidFill>
              </a:rPr>
              <a:t>The same subject can become radically different films.</a:t>
            </a:r>
          </a:p>
        </p:txBody>
      </p:sp>
    </p:spTree>
    <p:extLst>
      <p:ext uri="{BB962C8B-B14F-4D97-AF65-F5344CB8AC3E}">
        <p14:creationId xmlns:p14="http://schemas.microsoft.com/office/powerpoint/2010/main" val="34701379"/>
      </p:ext>
    </p:extLst>
  </p:cSld>
</p:sld>
</file>

<file path=ppt/slides/slide4.xml><?xml version="1.0" encoding="utf-8"?>
<p:sld xmlns:p="http://schemas.openxmlformats.org/presentationml/2006/main">
  <p:cSld>
    <p:bg>
      <p:bgPr>
        <a:solidFill xmlns:a="http://schemas.openxmlformats.org/drawingml/2006/main">
          <a:srgbClr val="081116"/>
        </a:solidFill>
      </p:bgPr>
    </p:bg>
    <p:spTree>
      <p:nvGrpSpPr>
        <p:cNvPr id="1" name=""/>
        <p:cNvGrpSpPr/>
        <p:nvPr/>
      </p:nvGrpSpPr>
      <p:grpSpPr>
        <a:xfrm xmlns:a="http://schemas.openxmlformats.org/drawingml/2006/main"/>
      </p:grpSpPr>
      <p:sp>
        <p:nvSpPr>
          <p:cNvPr id="15" name="accent-4">
            <a:extLst xmlns:a="http://schemas.openxmlformats.org/drawingml/2006/main">
              <a:ext uri="{FF2B5EF4-FFF2-40B4-BE49-F238E27FC236}">
                <a16:creationId xmlns:a16="http://schemas.microsoft.com/office/drawing/2014/main" id="{09B1B6FA-0873-4C37-9024-5AB21C5879A4}"/>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C9924A"/>
          </a:solidFill>
          <a:ln xmlns:a="http://schemas.openxmlformats.org/drawingml/2006/main" w="0">
            <a:noFill/>
            <a:prstDash val="solid"/>
          </a:ln>
        </p:spPr>
      </p:sp>
      <p:sp>
        <p:nvSpPr>
          <p:cNvPr id="2" name="eyebrow-4">
            <a:extLst xmlns:a="http://schemas.openxmlformats.org/drawingml/2006/main">
              <a:ext uri="{FF2B5EF4-FFF2-40B4-BE49-F238E27FC236}">
                <a16:creationId xmlns:a16="http://schemas.microsoft.com/office/drawing/2014/main" id="{CB87F350-64A7-4752-AAA4-46969F31A93F}"/>
              </a:ext>
            </a:extLst>
          </p:cNvPr>
          <p:cNvSpPr>
            <a:spLocks xmlns:a="http://schemas.openxmlformats.org/drawingml/2006/main" noGrp="1"/>
          </p:cNvSpPr>
          <p:nvPr/>
        </p:nvSpPr>
        <p:spPr>
          <a:xfrm xmlns:a="http://schemas.openxmlformats.org/drawingml/2006/main">
            <a:off x="685800" y="36195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1200" b="1" i="0">
                <a:solidFill>
                  <a:srgbClr val="C9924A"/>
                </a:solidFill>
              </a:defRPr>
            </a:pPr>
            <a:r>
              <a:rPr sz="1200" b="1" i="0">
                <a:solidFill>
                  <a:srgbClr val="C9924A"/>
                </a:solidFill>
              </a:rPr>
              <a:t>A PRACTICAL EQUATION</a:t>
            </a:r>
          </a:p>
        </p:txBody>
      </p:sp>
      <p:sp>
        <p:nvSpPr>
          <p:cNvPr id="3" name="section-4">
            <a:extLst xmlns:a="http://schemas.openxmlformats.org/drawingml/2006/main">
              <a:ext uri="{FF2B5EF4-FFF2-40B4-BE49-F238E27FC236}">
                <a16:creationId xmlns:a16="http://schemas.microsoft.com/office/drawing/2014/main" id="{0DC5A502-5406-4787-AD11-8BD907878FB9}"/>
              </a:ext>
            </a:extLst>
          </p:cNvPr>
          <p:cNvSpPr>
            <a:spLocks xmlns:a="http://schemas.openxmlformats.org/drawingml/2006/main" noGrp="1"/>
          </p:cNvSpPr>
          <p:nvPr/>
        </p:nvSpPr>
        <p:spPr>
          <a:xfrm xmlns:a="http://schemas.openxmlformats.org/drawingml/2006/main">
            <a:off x="685800" y="6429375"/>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1200" b="0" i="0">
                <a:solidFill>
                  <a:srgbClr val="9FB0B9"/>
                </a:solidFill>
              </a:defRPr>
            </a:pPr>
            <a:r>
              <a:rPr sz="1200" b="0" i="0">
                <a:solidFill>
                  <a:srgbClr val="9FB0B9"/>
                </a:solidFill>
              </a:rPr>
              <a:t>FROM TOPIC TO FORM</a:t>
            </a:r>
          </a:p>
        </p:txBody>
      </p:sp>
      <p:sp>
        <p:nvSpPr>
          <p:cNvPr id="4" name="number-4">
            <a:extLst xmlns:a="http://schemas.openxmlformats.org/drawingml/2006/main">
              <a:ext uri="{FF2B5EF4-FFF2-40B4-BE49-F238E27FC236}">
                <a16:creationId xmlns:a16="http://schemas.microsoft.com/office/drawing/2014/main" id="{013400A9-704C-48D9-A985-0494B87682D9}"/>
              </a:ext>
            </a:extLst>
          </p:cNvPr>
          <p:cNvSpPr>
            <a:spLocks xmlns:a="http://schemas.openxmlformats.org/drawingml/2006/main" noGrp="1"/>
          </p:cNvSpPr>
          <p:nvPr/>
        </p:nvSpPr>
        <p:spPr>
          <a:xfrm xmlns:a="http://schemas.openxmlformats.org/drawingml/2006/main">
            <a:off x="11049000" y="640080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lnSpc>
                <a:spcPct val="105000"/>
              </a:lnSpc>
              <a:buNone/>
              <a:defRPr sz="1200" b="1" i="0">
                <a:solidFill>
                  <a:srgbClr val="C9924A"/>
                </a:solidFill>
              </a:defRPr>
            </a:pPr>
            <a:r>
              <a:rPr sz="1200" b="1" i="0">
                <a:solidFill>
                  <a:srgbClr val="C9924A"/>
                </a:solidFill>
              </a:rPr>
              <a:t>04</a:t>
            </a:r>
          </a:p>
        </p:txBody>
      </p:sp>
      <p:sp>
        <p:nvSpPr>
          <p:cNvPr id="5" name="slide-title">
            <a:extLst xmlns:a="http://schemas.openxmlformats.org/drawingml/2006/main">
              <a:ext uri="{FF2B5EF4-FFF2-40B4-BE49-F238E27FC236}">
                <a16:creationId xmlns:a16="http://schemas.microsoft.com/office/drawing/2014/main" id="{FB89C0A5-EE6A-4C80-89A8-360FE2913081}"/>
              </a:ext>
            </a:extLst>
          </p:cNvPr>
          <p:cNvSpPr>
            <a:spLocks xmlns:a="http://schemas.openxmlformats.org/drawingml/2006/main" noGrp="1"/>
          </p:cNvSpPr>
          <p:nvPr/>
        </p:nvSpPr>
        <p:spPr>
          <a:xfrm xmlns:a="http://schemas.openxmlformats.org/drawingml/2006/main">
            <a:off x="685800" y="857250"/>
            <a:ext cx="7810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94000"/>
              </a:lnSpc>
              <a:buNone/>
              <a:defRPr sz="4050" b="1" i="0">
                <a:solidFill>
                  <a:srgbClr val="F2EFE8"/>
                </a:solidFill>
              </a:defRPr>
            </a:pPr>
            <a:r>
              <a:rPr sz="4050" b="1" i="0">
                <a:solidFill>
                  <a:srgbClr val="F2EFE8"/>
                </a:solidFill>
              </a:rPr>
              <a:t>Topic + story + form</a:t>
            </a:r>
          </a:p>
        </p:txBody>
      </p:sp>
      <p:sp>
        <p:nvSpPr>
          <p:cNvPr id="6" name="">
            <a:extLst xmlns:a="http://schemas.openxmlformats.org/drawingml/2006/main">
              <a:ext uri="{FF2B5EF4-FFF2-40B4-BE49-F238E27FC236}">
                <a16:creationId xmlns:a16="http://schemas.microsoft.com/office/drawing/2014/main" id="{BABDD6B3-6926-4D24-80CC-ABC964715800}"/>
              </a:ext>
            </a:extLst>
          </p:cNvPr>
          <p:cNvSpPr>
            <a:spLocks xmlns:a="http://schemas.openxmlformats.org/drawingml/2006/main" noGrp="1"/>
          </p:cNvSpPr>
          <p:nvPr/>
        </p:nvSpPr>
        <p:spPr>
          <a:xfrm xmlns:a="http://schemas.openxmlformats.org/drawingml/2006/main">
            <a:off x="685800" y="2609850"/>
            <a:ext cx="285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lnSpc>
                <a:spcPct val="105000"/>
              </a:lnSpc>
              <a:buNone/>
              <a:defRPr sz="2400" b="1" i="0">
                <a:solidFill>
                  <a:srgbClr val="F2EFE8"/>
                </a:solidFill>
              </a:defRPr>
            </a:pPr>
            <a:r>
              <a:rPr sz="2400" b="1" i="0">
                <a:solidFill>
                  <a:srgbClr val="F2EFE8"/>
                </a:solidFill>
              </a:rPr>
              <a:t>TOPIC</a:t>
            </a:r>
          </a:p>
        </p:txBody>
      </p:sp>
      <p:sp>
        <p:nvSpPr>
          <p:cNvPr id="7" name="">
            <a:extLst xmlns:a="http://schemas.openxmlformats.org/drawingml/2006/main">
              <a:ext uri="{FF2B5EF4-FFF2-40B4-BE49-F238E27FC236}">
                <a16:creationId xmlns:a16="http://schemas.microsoft.com/office/drawing/2014/main" id="{8902892C-D4BC-4EC4-BE96-4A22D1CC0C7D}"/>
              </a:ext>
            </a:extLst>
          </p:cNvPr>
          <p:cNvSpPr>
            <a:spLocks xmlns:a="http://schemas.openxmlformats.org/drawingml/2006/main" noGrp="1"/>
          </p:cNvSpPr>
          <p:nvPr/>
        </p:nvSpPr>
        <p:spPr>
          <a:xfrm xmlns:a="http://schemas.openxmlformats.org/drawingml/2006/main">
            <a:off x="685800" y="3238500"/>
            <a:ext cx="285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lnSpc>
                <a:spcPct val="105000"/>
              </a:lnSpc>
              <a:buNone/>
              <a:defRPr sz="1575" b="0" i="0">
                <a:solidFill>
                  <a:srgbClr val="9FB0B9"/>
                </a:solidFill>
              </a:defRPr>
            </a:pPr>
            <a:r>
              <a:rPr sz="1575" b="0" i="0">
                <a:solidFill>
                  <a:srgbClr val="9FB0B9"/>
                </a:solidFill>
              </a:rPr>
              <a:t>the broad area</a:t>
            </a:r>
          </a:p>
        </p:txBody>
      </p:sp>
      <p:sp>
        <p:nvSpPr>
          <p:cNvPr id="8" name="">
            <a:extLst xmlns:a="http://schemas.openxmlformats.org/drawingml/2006/main">
              <a:ext uri="{FF2B5EF4-FFF2-40B4-BE49-F238E27FC236}">
                <a16:creationId xmlns:a16="http://schemas.microsoft.com/office/drawing/2014/main" id="{DAD6A5B6-FAEC-4C51-AADF-8B5FF2FEADDD}"/>
              </a:ext>
            </a:extLst>
          </p:cNvPr>
          <p:cNvSpPr>
            <a:spLocks xmlns:a="http://schemas.openxmlformats.org/drawingml/2006/main" noGrp="1"/>
          </p:cNvSpPr>
          <p:nvPr/>
        </p:nvSpPr>
        <p:spPr>
          <a:xfrm xmlns:a="http://schemas.openxmlformats.org/drawingml/2006/main">
            <a:off x="3733800" y="2724150"/>
            <a:ext cx="571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lnSpc>
                <a:spcPct val="105000"/>
              </a:lnSpc>
              <a:buNone/>
              <a:defRPr sz="2850" b="0" i="0">
                <a:solidFill>
                  <a:srgbClr val="C9924A"/>
                </a:solidFill>
              </a:defRPr>
            </a:pPr>
            <a:r>
              <a:rPr sz="2850" b="0" i="0">
                <a:solidFill>
                  <a:srgbClr val="C9924A"/>
                </a:solidFill>
              </a:rPr>
              <a:t>+</a:t>
            </a:r>
          </a:p>
        </p:txBody>
      </p:sp>
      <p:sp>
        <p:nvSpPr>
          <p:cNvPr id="9" name="">
            <a:extLst xmlns:a="http://schemas.openxmlformats.org/drawingml/2006/main">
              <a:ext uri="{FF2B5EF4-FFF2-40B4-BE49-F238E27FC236}">
                <a16:creationId xmlns:a16="http://schemas.microsoft.com/office/drawing/2014/main" id="{1A2B87F6-72EF-400B-8308-EBDCCE686B37}"/>
              </a:ext>
            </a:extLst>
          </p:cNvPr>
          <p:cNvSpPr>
            <a:spLocks xmlns:a="http://schemas.openxmlformats.org/drawingml/2006/main" noGrp="1"/>
          </p:cNvSpPr>
          <p:nvPr/>
        </p:nvSpPr>
        <p:spPr>
          <a:xfrm xmlns:a="http://schemas.openxmlformats.org/drawingml/2006/main">
            <a:off x="4305300" y="2609850"/>
            <a:ext cx="285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lnSpc>
                <a:spcPct val="105000"/>
              </a:lnSpc>
              <a:buNone/>
              <a:defRPr sz="2400" b="1" i="0">
                <a:solidFill>
                  <a:srgbClr val="F2EFE8"/>
                </a:solidFill>
              </a:defRPr>
            </a:pPr>
            <a:r>
              <a:rPr sz="2400" b="1" i="0">
                <a:solidFill>
                  <a:srgbClr val="F2EFE8"/>
                </a:solidFill>
              </a:rPr>
              <a:t>STORY</a:t>
            </a:r>
          </a:p>
        </p:txBody>
      </p:sp>
      <p:sp>
        <p:nvSpPr>
          <p:cNvPr id="10" name="">
            <a:extLst xmlns:a="http://schemas.openxmlformats.org/drawingml/2006/main">
              <a:ext uri="{FF2B5EF4-FFF2-40B4-BE49-F238E27FC236}">
                <a16:creationId xmlns:a16="http://schemas.microsoft.com/office/drawing/2014/main" id="{176500A4-09B4-4E03-9C86-CCF7D342A8F9}"/>
              </a:ext>
            </a:extLst>
          </p:cNvPr>
          <p:cNvSpPr>
            <a:spLocks xmlns:a="http://schemas.openxmlformats.org/drawingml/2006/main" noGrp="1"/>
          </p:cNvSpPr>
          <p:nvPr/>
        </p:nvSpPr>
        <p:spPr>
          <a:xfrm xmlns:a="http://schemas.openxmlformats.org/drawingml/2006/main">
            <a:off x="4305300" y="3238500"/>
            <a:ext cx="285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lnSpc>
                <a:spcPct val="105000"/>
              </a:lnSpc>
              <a:buNone/>
              <a:defRPr sz="1575" b="0" i="0">
                <a:solidFill>
                  <a:srgbClr val="9FB0B9"/>
                </a:solidFill>
              </a:defRPr>
            </a:pPr>
            <a:r>
              <a:rPr sz="1575" b="0" i="0">
                <a:solidFill>
                  <a:srgbClr val="9FB0B9"/>
                </a:solidFill>
              </a:rPr>
              <a:t>what unfolds for whom</a:t>
            </a:r>
          </a:p>
        </p:txBody>
      </p:sp>
      <p:sp>
        <p:nvSpPr>
          <p:cNvPr id="11" name="">
            <a:extLst xmlns:a="http://schemas.openxmlformats.org/drawingml/2006/main">
              <a:ext uri="{FF2B5EF4-FFF2-40B4-BE49-F238E27FC236}">
                <a16:creationId xmlns:a16="http://schemas.microsoft.com/office/drawing/2014/main" id="{3A985BB0-0ADB-4F20-B3E1-A2C5D44EA96B}"/>
              </a:ext>
            </a:extLst>
          </p:cNvPr>
          <p:cNvSpPr>
            <a:spLocks xmlns:a="http://schemas.openxmlformats.org/drawingml/2006/main" noGrp="1"/>
          </p:cNvSpPr>
          <p:nvPr/>
        </p:nvSpPr>
        <p:spPr>
          <a:xfrm xmlns:a="http://schemas.openxmlformats.org/drawingml/2006/main">
            <a:off x="7353300" y="2724150"/>
            <a:ext cx="571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lnSpc>
                <a:spcPct val="105000"/>
              </a:lnSpc>
              <a:buNone/>
              <a:defRPr sz="2850" b="0" i="0">
                <a:solidFill>
                  <a:srgbClr val="C9924A"/>
                </a:solidFill>
              </a:defRPr>
            </a:pPr>
            <a:r>
              <a:rPr sz="2850" b="0" i="0">
                <a:solidFill>
                  <a:srgbClr val="C9924A"/>
                </a:solidFill>
              </a:rPr>
              <a:t>+</a:t>
            </a:r>
          </a:p>
        </p:txBody>
      </p:sp>
      <p:sp>
        <p:nvSpPr>
          <p:cNvPr id="12" name="">
            <a:extLst xmlns:a="http://schemas.openxmlformats.org/drawingml/2006/main">
              <a:ext uri="{FF2B5EF4-FFF2-40B4-BE49-F238E27FC236}">
                <a16:creationId xmlns:a16="http://schemas.microsoft.com/office/drawing/2014/main" id="{376F8580-3182-4F24-9922-E2A4A3F138A5}"/>
              </a:ext>
            </a:extLst>
          </p:cNvPr>
          <p:cNvSpPr>
            <a:spLocks xmlns:a="http://schemas.openxmlformats.org/drawingml/2006/main" noGrp="1"/>
          </p:cNvSpPr>
          <p:nvPr/>
        </p:nvSpPr>
        <p:spPr>
          <a:xfrm xmlns:a="http://schemas.openxmlformats.org/drawingml/2006/main">
            <a:off x="7924800" y="2609850"/>
            <a:ext cx="285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lnSpc>
                <a:spcPct val="105000"/>
              </a:lnSpc>
              <a:buNone/>
              <a:defRPr sz="2400" b="1" i="0">
                <a:solidFill>
                  <a:srgbClr val="C9924A"/>
                </a:solidFill>
              </a:defRPr>
            </a:pPr>
            <a:r>
              <a:rPr sz="2400" b="1" i="0">
                <a:solidFill>
                  <a:srgbClr val="C9924A"/>
                </a:solidFill>
              </a:rPr>
              <a:t>FORM</a:t>
            </a:r>
          </a:p>
        </p:txBody>
      </p:sp>
      <p:sp>
        <p:nvSpPr>
          <p:cNvPr id="13" name="">
            <a:extLst xmlns:a="http://schemas.openxmlformats.org/drawingml/2006/main">
              <a:ext uri="{FF2B5EF4-FFF2-40B4-BE49-F238E27FC236}">
                <a16:creationId xmlns:a16="http://schemas.microsoft.com/office/drawing/2014/main" id="{DD4598A4-C0D8-4E48-B6FF-7F9687B233D8}"/>
              </a:ext>
            </a:extLst>
          </p:cNvPr>
          <p:cNvSpPr>
            <a:spLocks xmlns:a="http://schemas.openxmlformats.org/drawingml/2006/main" noGrp="1"/>
          </p:cNvSpPr>
          <p:nvPr/>
        </p:nvSpPr>
        <p:spPr>
          <a:xfrm xmlns:a="http://schemas.openxmlformats.org/drawingml/2006/main">
            <a:off x="7924800" y="3238500"/>
            <a:ext cx="285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lnSpc>
                <a:spcPct val="105000"/>
              </a:lnSpc>
              <a:buNone/>
              <a:defRPr sz="1575" b="0" i="0">
                <a:solidFill>
                  <a:srgbClr val="9FB0B9"/>
                </a:solidFill>
              </a:defRPr>
            </a:pPr>
            <a:r>
              <a:rPr sz="1575" b="0" i="0">
                <a:solidFill>
                  <a:srgbClr val="9FB0B9"/>
                </a:solidFill>
              </a:rPr>
              <a:t>how we will encounter it</a:t>
            </a:r>
          </a:p>
        </p:txBody>
      </p:sp>
      <p:sp>
        <p:nvSpPr>
          <p:cNvPr id="14" name="">
            <a:extLst xmlns:a="http://schemas.openxmlformats.org/drawingml/2006/main">
              <a:ext uri="{FF2B5EF4-FFF2-40B4-BE49-F238E27FC236}">
                <a16:creationId xmlns:a16="http://schemas.microsoft.com/office/drawing/2014/main" id="{24EEEAF0-4A07-4A7E-98A2-B3DDF41F73B4}"/>
              </a:ext>
            </a:extLst>
          </p:cNvPr>
          <p:cNvSpPr>
            <a:spLocks xmlns:a="http://schemas.openxmlformats.org/drawingml/2006/main" noGrp="1"/>
          </p:cNvSpPr>
          <p:nvPr/>
        </p:nvSpPr>
        <p:spPr>
          <a:xfrm xmlns:a="http://schemas.openxmlformats.org/drawingml/2006/main">
            <a:off x="1524000" y="4762500"/>
            <a:ext cx="9144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lnSpc>
                <a:spcPct val="105000"/>
              </a:lnSpc>
              <a:buNone/>
              <a:defRPr sz="2250" b="0" i="1">
                <a:solidFill>
                  <a:srgbClr val="D8E0E1"/>
                </a:solidFill>
              </a:defRPr>
            </a:pPr>
            <a:r>
              <a:rPr sz="2250" b="0" i="1">
                <a:solidFill>
                  <a:srgbClr val="D8E0E1"/>
                </a:solidFill>
              </a:rPr>
              <a:t>Form is not decoration added after filming. It shapes what you seek, record, and withhold.</a:t>
            </a:r>
          </a:p>
        </p:txBody>
      </p:sp>
    </p:spTree>
    <p:extLst>
      <p:ext uri="{BB962C8B-B14F-4D97-AF65-F5344CB8AC3E}">
        <p14:creationId xmlns:p14="http://schemas.microsoft.com/office/powerpoint/2010/main" val="456649937"/>
      </p:ext>
    </p:extLst>
  </p:cSld>
</p:sld>
</file>

<file path=ppt/slides/slide5.xml><?xml version="1.0" encoding="utf-8"?>
<p:sld xmlns:p="http://schemas.openxmlformats.org/presentationml/2006/main">
  <p:cSld>
    <p:bg>
      <p:bgPr>
        <a:solidFill xmlns:a="http://schemas.openxmlformats.org/drawingml/2006/main">
          <a:srgbClr val="081116"/>
        </a:solidFill>
      </p:bgPr>
    </p:bg>
    <p:spTree>
      <p:nvGrpSpPr>
        <p:cNvPr id="1" name=""/>
        <p:cNvGrpSpPr/>
        <p:nvPr/>
      </p:nvGrpSpPr>
      <p:grpSpPr>
        <a:xfrm xmlns:a="http://schemas.openxmlformats.org/drawingml/2006/main"/>
      </p:grpSpPr>
      <p:sp>
        <p:nvSpPr>
          <p:cNvPr id="8" name="accent-5">
            <a:extLst xmlns:a="http://schemas.openxmlformats.org/drawingml/2006/main">
              <a:ext uri="{FF2B5EF4-FFF2-40B4-BE49-F238E27FC236}">
                <a16:creationId xmlns:a16="http://schemas.microsoft.com/office/drawing/2014/main" id="{DEF5F7C3-710A-48A1-823A-F588B7B4B4BB}"/>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C9924A"/>
          </a:solidFill>
          <a:ln xmlns:a="http://schemas.openxmlformats.org/drawingml/2006/main" w="0">
            <a:noFill/>
            <a:prstDash val="solid"/>
          </a:ln>
        </p:spPr>
      </p:sp>
      <p:sp>
        <p:nvSpPr>
          <p:cNvPr id="2" name="eyebrow-5">
            <a:extLst xmlns:a="http://schemas.openxmlformats.org/drawingml/2006/main">
              <a:ext uri="{FF2B5EF4-FFF2-40B4-BE49-F238E27FC236}">
                <a16:creationId xmlns:a16="http://schemas.microsoft.com/office/drawing/2014/main" id="{D84472A7-5B01-46C7-9903-6459D8133416}"/>
              </a:ext>
            </a:extLst>
          </p:cNvPr>
          <p:cNvSpPr>
            <a:spLocks xmlns:a="http://schemas.openxmlformats.org/drawingml/2006/main" noGrp="1"/>
          </p:cNvSpPr>
          <p:nvPr/>
        </p:nvSpPr>
        <p:spPr>
          <a:xfrm xmlns:a="http://schemas.openxmlformats.org/drawingml/2006/main">
            <a:off x="685800" y="36195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1200" b="1" i="0">
                <a:solidFill>
                  <a:srgbClr val="C9924A"/>
                </a:solidFill>
              </a:defRPr>
            </a:pPr>
            <a:r>
              <a:rPr sz="1200" b="1" i="0">
                <a:solidFill>
                  <a:srgbClr val="C9924A"/>
                </a:solidFill>
              </a:rPr>
              <a:t>FORM IS A RELATIONSHIP</a:t>
            </a:r>
          </a:p>
        </p:txBody>
      </p:sp>
      <p:sp>
        <p:nvSpPr>
          <p:cNvPr id="3" name="section-5">
            <a:extLst xmlns:a="http://schemas.openxmlformats.org/drawingml/2006/main">
              <a:ext uri="{FF2B5EF4-FFF2-40B4-BE49-F238E27FC236}">
                <a16:creationId xmlns:a16="http://schemas.microsoft.com/office/drawing/2014/main" id="{8C298BAC-39AA-4CC4-8B2C-2364107E57DB}"/>
              </a:ext>
            </a:extLst>
          </p:cNvPr>
          <p:cNvSpPr>
            <a:spLocks xmlns:a="http://schemas.openxmlformats.org/drawingml/2006/main" noGrp="1"/>
          </p:cNvSpPr>
          <p:nvPr/>
        </p:nvSpPr>
        <p:spPr>
          <a:xfrm xmlns:a="http://schemas.openxmlformats.org/drawingml/2006/main">
            <a:off x="685800" y="6429375"/>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1200" b="0" i="0">
                <a:solidFill>
                  <a:srgbClr val="9FB0B9"/>
                </a:solidFill>
              </a:defRPr>
            </a:pPr>
            <a:r>
              <a:rPr sz="1200" b="0" i="0">
                <a:solidFill>
                  <a:srgbClr val="9FB0B9"/>
                </a:solidFill>
              </a:rPr>
              <a:t>FROM TOPIC TO FORM</a:t>
            </a:r>
          </a:p>
        </p:txBody>
      </p:sp>
      <p:sp>
        <p:nvSpPr>
          <p:cNvPr id="4" name="number-5">
            <a:extLst xmlns:a="http://schemas.openxmlformats.org/drawingml/2006/main">
              <a:ext uri="{FF2B5EF4-FFF2-40B4-BE49-F238E27FC236}">
                <a16:creationId xmlns:a16="http://schemas.microsoft.com/office/drawing/2014/main" id="{F3C1F609-3417-4372-871D-717F99A616D3}"/>
              </a:ext>
            </a:extLst>
          </p:cNvPr>
          <p:cNvSpPr>
            <a:spLocks xmlns:a="http://schemas.openxmlformats.org/drawingml/2006/main" noGrp="1"/>
          </p:cNvSpPr>
          <p:nvPr/>
        </p:nvSpPr>
        <p:spPr>
          <a:xfrm xmlns:a="http://schemas.openxmlformats.org/drawingml/2006/main">
            <a:off x="11049000" y="640080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lnSpc>
                <a:spcPct val="105000"/>
              </a:lnSpc>
              <a:buNone/>
              <a:defRPr sz="1200" b="1" i="0">
                <a:solidFill>
                  <a:srgbClr val="C9924A"/>
                </a:solidFill>
              </a:defRPr>
            </a:pPr>
            <a:r>
              <a:rPr sz="1200" b="1" i="0">
                <a:solidFill>
                  <a:srgbClr val="C9924A"/>
                </a:solidFill>
              </a:rPr>
              <a:t>05</a:t>
            </a:r>
          </a:p>
        </p:txBody>
      </p:sp>
      <p:sp>
        <p:nvSpPr>
          <p:cNvPr id="5" name="quote-rule">
            <a:extLst xmlns:a="http://schemas.openxmlformats.org/drawingml/2006/main">
              <a:ext uri="{FF2B5EF4-FFF2-40B4-BE49-F238E27FC236}">
                <a16:creationId xmlns:a16="http://schemas.microsoft.com/office/drawing/2014/main" id="{5B107483-6C24-43F4-9842-255BCF75600C}"/>
              </a:ext>
            </a:extLst>
          </p:cNvPr>
          <p:cNvSpPr>
            <a:spLocks xmlns:a="http://schemas.openxmlformats.org/drawingml/2006/main" noGrp="1"/>
          </p:cNvSpPr>
          <p:nvPr/>
        </p:nvSpPr>
        <p:spPr>
          <a:xfrm xmlns:a="http://schemas.openxmlformats.org/drawingml/2006/main">
            <a:off x="819150" y="1352550"/>
            <a:ext cx="876300" cy="76200"/>
          </a:xfrm>
          <a:prstGeom xmlns:a="http://schemas.openxmlformats.org/drawingml/2006/main" prst="rect">
            <a:avLst/>
          </a:prstGeom>
          <a:solidFill xmlns:a="http://schemas.openxmlformats.org/drawingml/2006/main">
            <a:srgbClr val="C9924A"/>
          </a:solidFill>
          <a:ln xmlns:a="http://schemas.openxmlformats.org/drawingml/2006/main" w="0">
            <a:noFill/>
            <a:prstDash val="solid"/>
          </a:ln>
        </p:spPr>
      </p:sp>
      <p:sp>
        <p:nvSpPr>
          <p:cNvPr id="6" name="statement">
            <a:extLst xmlns:a="http://schemas.openxmlformats.org/drawingml/2006/main">
              <a:ext uri="{FF2B5EF4-FFF2-40B4-BE49-F238E27FC236}">
                <a16:creationId xmlns:a16="http://schemas.microsoft.com/office/drawing/2014/main" id="{297B450A-FEE8-4E67-B0A6-81B1C92F260A}"/>
              </a:ext>
            </a:extLst>
          </p:cNvPr>
          <p:cNvSpPr>
            <a:spLocks xmlns:a="http://schemas.openxmlformats.org/drawingml/2006/main" noGrp="1"/>
          </p:cNvSpPr>
          <p:nvPr/>
        </p:nvSpPr>
        <p:spPr>
          <a:xfrm xmlns:a="http://schemas.openxmlformats.org/drawingml/2006/main">
            <a:off x="819150" y="1733550"/>
            <a:ext cx="990600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98000"/>
              </a:lnSpc>
              <a:buNone/>
              <a:defRPr sz="3600" b="1" i="0">
                <a:solidFill>
                  <a:srgbClr val="F2EFE8"/>
                </a:solidFill>
              </a:defRPr>
            </a:pPr>
            <a:r>
              <a:rPr sz="3600" b="1" i="0">
                <a:solidFill>
                  <a:srgbClr val="F2EFE8"/>
                </a:solidFill>
              </a:rPr>
              <a:t>Form is the creative agreement between filmmaker, contributor, and viewer.</a:t>
            </a:r>
          </a:p>
        </p:txBody>
      </p:sp>
      <p:sp>
        <p:nvSpPr>
          <p:cNvPr id="7" name="prompt">
            <a:extLst xmlns:a="http://schemas.openxmlformats.org/drawingml/2006/main">
              <a:ext uri="{FF2B5EF4-FFF2-40B4-BE49-F238E27FC236}">
                <a16:creationId xmlns:a16="http://schemas.microsoft.com/office/drawing/2014/main" id="{34A683E4-582E-4E50-B26B-60E6B97AF2EC}"/>
              </a:ext>
            </a:extLst>
          </p:cNvPr>
          <p:cNvSpPr>
            <a:spLocks xmlns:a="http://schemas.openxmlformats.org/drawingml/2006/main" noGrp="1"/>
          </p:cNvSpPr>
          <p:nvPr/>
        </p:nvSpPr>
        <p:spPr>
          <a:xfrm xmlns:a="http://schemas.openxmlformats.org/drawingml/2006/main">
            <a:off x="819150" y="4762500"/>
            <a:ext cx="9239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1725" b="0" i="1">
                <a:solidFill>
                  <a:srgbClr val="9FB0B9"/>
                </a:solidFill>
              </a:defRPr>
            </a:pPr>
            <a:r>
              <a:rPr sz="1725" b="0" i="1">
                <a:solidFill>
                  <a:srgbClr val="9FB0B9"/>
                </a:solidFill>
              </a:rPr>
              <a:t>Who speaks? Who looks? Who knows? Who is changed by the encounter?</a:t>
            </a:r>
          </a:p>
        </p:txBody>
      </p:sp>
    </p:spTree>
    <p:extLst>
      <p:ext uri="{BB962C8B-B14F-4D97-AF65-F5344CB8AC3E}">
        <p14:creationId xmlns:p14="http://schemas.microsoft.com/office/powerpoint/2010/main" val="1277889193"/>
      </p:ext>
    </p:extLst>
  </p:cSld>
</p:sld>
</file>

<file path=ppt/slides/slide6.xml><?xml version="1.0" encoding="utf-8"?>
<p:sld xmlns:p="http://schemas.openxmlformats.org/presentationml/2006/main">
  <p:cSld>
    <p:bg>
      <p:bgPr>
        <a:solidFill xmlns:a="http://schemas.openxmlformats.org/drawingml/2006/main">
          <a:srgbClr val="081116"/>
        </a:solidFill>
      </p:bgPr>
    </p:bg>
    <p:spTree>
      <p:nvGrpSpPr>
        <p:cNvPr id="1" name=""/>
        <p:cNvGrpSpPr/>
        <p:nvPr/>
      </p:nvGrpSpPr>
      <p:grpSpPr>
        <a:xfrm xmlns:a="http://schemas.openxmlformats.org/drawingml/2006/main"/>
      </p:grpSpPr>
      <p:sp>
        <p:nvSpPr>
          <p:cNvPr id="8" name="accent-6">
            <a:extLst xmlns:a="http://schemas.openxmlformats.org/drawingml/2006/main">
              <a:ext uri="{FF2B5EF4-FFF2-40B4-BE49-F238E27FC236}">
                <a16:creationId xmlns:a16="http://schemas.microsoft.com/office/drawing/2014/main" id="{48178A53-AAD9-440A-8E4D-ED05744DFC9E}"/>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C9924A"/>
          </a:solidFill>
          <a:ln xmlns:a="http://schemas.openxmlformats.org/drawingml/2006/main" w="0">
            <a:noFill/>
            <a:prstDash val="solid"/>
          </a:ln>
        </p:spPr>
      </p:sp>
      <p:sp>
        <p:nvSpPr>
          <p:cNvPr id="2" name="eyebrow-6">
            <a:extLst xmlns:a="http://schemas.openxmlformats.org/drawingml/2006/main">
              <a:ext uri="{FF2B5EF4-FFF2-40B4-BE49-F238E27FC236}">
                <a16:creationId xmlns:a16="http://schemas.microsoft.com/office/drawing/2014/main" id="{779B3036-E174-4B91-AC0B-7DC468B1A64F}"/>
              </a:ext>
            </a:extLst>
          </p:cNvPr>
          <p:cNvSpPr>
            <a:spLocks xmlns:a="http://schemas.openxmlformats.org/drawingml/2006/main" noGrp="1"/>
          </p:cNvSpPr>
          <p:nvPr/>
        </p:nvSpPr>
        <p:spPr>
          <a:xfrm xmlns:a="http://schemas.openxmlformats.org/drawingml/2006/main">
            <a:off x="685800" y="36195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1200" b="1" i="0">
                <a:solidFill>
                  <a:srgbClr val="C9924A"/>
                </a:solidFill>
              </a:defRPr>
            </a:pPr>
            <a:r>
              <a:rPr sz="1200" b="1" i="0">
                <a:solidFill>
                  <a:srgbClr val="C9924A"/>
                </a:solidFill>
              </a:rPr>
              <a:t>USE FORMS AS LENSES</a:t>
            </a:r>
          </a:p>
        </p:txBody>
      </p:sp>
      <p:sp>
        <p:nvSpPr>
          <p:cNvPr id="3" name="section-6">
            <a:extLst xmlns:a="http://schemas.openxmlformats.org/drawingml/2006/main">
              <a:ext uri="{FF2B5EF4-FFF2-40B4-BE49-F238E27FC236}">
                <a16:creationId xmlns:a16="http://schemas.microsoft.com/office/drawing/2014/main" id="{5FDE3829-A15B-428F-801F-9F70B3EC23DF}"/>
              </a:ext>
            </a:extLst>
          </p:cNvPr>
          <p:cNvSpPr>
            <a:spLocks xmlns:a="http://schemas.openxmlformats.org/drawingml/2006/main" noGrp="1"/>
          </p:cNvSpPr>
          <p:nvPr/>
        </p:nvSpPr>
        <p:spPr>
          <a:xfrm xmlns:a="http://schemas.openxmlformats.org/drawingml/2006/main">
            <a:off x="685800" y="6429375"/>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1200" b="0" i="0">
                <a:solidFill>
                  <a:srgbClr val="9FB0B9"/>
                </a:solidFill>
              </a:defRPr>
            </a:pPr>
            <a:r>
              <a:rPr sz="1200" b="0" i="0">
                <a:solidFill>
                  <a:srgbClr val="9FB0B9"/>
                </a:solidFill>
              </a:rPr>
              <a:t>FROM TOPIC TO FORM</a:t>
            </a:r>
          </a:p>
        </p:txBody>
      </p:sp>
      <p:sp>
        <p:nvSpPr>
          <p:cNvPr id="4" name="number-6">
            <a:extLst xmlns:a="http://schemas.openxmlformats.org/drawingml/2006/main">
              <a:ext uri="{FF2B5EF4-FFF2-40B4-BE49-F238E27FC236}">
                <a16:creationId xmlns:a16="http://schemas.microsoft.com/office/drawing/2014/main" id="{E03630AF-620D-4C8A-87C3-6824E29B221C}"/>
              </a:ext>
            </a:extLst>
          </p:cNvPr>
          <p:cNvSpPr>
            <a:spLocks xmlns:a="http://schemas.openxmlformats.org/drawingml/2006/main" noGrp="1"/>
          </p:cNvSpPr>
          <p:nvPr/>
        </p:nvSpPr>
        <p:spPr>
          <a:xfrm xmlns:a="http://schemas.openxmlformats.org/drawingml/2006/main">
            <a:off x="11049000" y="640080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lnSpc>
                <a:spcPct val="105000"/>
              </a:lnSpc>
              <a:buNone/>
              <a:defRPr sz="1200" b="1" i="0">
                <a:solidFill>
                  <a:srgbClr val="C9924A"/>
                </a:solidFill>
              </a:defRPr>
            </a:pPr>
            <a:r>
              <a:rPr sz="1200" b="1" i="0">
                <a:solidFill>
                  <a:srgbClr val="C9924A"/>
                </a:solidFill>
              </a:rPr>
              <a:t>06</a:t>
            </a:r>
          </a:p>
        </p:txBody>
      </p:sp>
      <p:sp>
        <p:nvSpPr>
          <p:cNvPr id="5" name="quote-rule">
            <a:extLst xmlns:a="http://schemas.openxmlformats.org/drawingml/2006/main">
              <a:ext uri="{FF2B5EF4-FFF2-40B4-BE49-F238E27FC236}">
                <a16:creationId xmlns:a16="http://schemas.microsoft.com/office/drawing/2014/main" id="{747AF2C9-CEF7-465C-B395-0B6D5794D4AE}"/>
              </a:ext>
            </a:extLst>
          </p:cNvPr>
          <p:cNvSpPr>
            <a:spLocks xmlns:a="http://schemas.openxmlformats.org/drawingml/2006/main" noGrp="1"/>
          </p:cNvSpPr>
          <p:nvPr/>
        </p:nvSpPr>
        <p:spPr>
          <a:xfrm xmlns:a="http://schemas.openxmlformats.org/drawingml/2006/main">
            <a:off x="819150" y="1352550"/>
            <a:ext cx="876300" cy="76200"/>
          </a:xfrm>
          <a:prstGeom xmlns:a="http://schemas.openxmlformats.org/drawingml/2006/main" prst="rect">
            <a:avLst/>
          </a:prstGeom>
          <a:solidFill xmlns:a="http://schemas.openxmlformats.org/drawingml/2006/main">
            <a:srgbClr val="C9924A"/>
          </a:solidFill>
          <a:ln xmlns:a="http://schemas.openxmlformats.org/drawingml/2006/main" w="0">
            <a:noFill/>
            <a:prstDash val="solid"/>
          </a:ln>
        </p:spPr>
      </p:sp>
      <p:sp>
        <p:nvSpPr>
          <p:cNvPr id="6" name="statement">
            <a:extLst xmlns:a="http://schemas.openxmlformats.org/drawingml/2006/main">
              <a:ext uri="{FF2B5EF4-FFF2-40B4-BE49-F238E27FC236}">
                <a16:creationId xmlns:a16="http://schemas.microsoft.com/office/drawing/2014/main" id="{11887989-3A2E-4D27-94E0-1B5604DC6907}"/>
              </a:ext>
            </a:extLst>
          </p:cNvPr>
          <p:cNvSpPr>
            <a:spLocks xmlns:a="http://schemas.openxmlformats.org/drawingml/2006/main" noGrp="1"/>
          </p:cNvSpPr>
          <p:nvPr/>
        </p:nvSpPr>
        <p:spPr>
          <a:xfrm xmlns:a="http://schemas.openxmlformats.org/drawingml/2006/main">
            <a:off x="819150" y="1733550"/>
            <a:ext cx="990600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98000"/>
              </a:lnSpc>
              <a:buNone/>
              <a:defRPr sz="3600" b="1" i="0">
                <a:solidFill>
                  <a:srgbClr val="F2EFE8"/>
                </a:solidFill>
              </a:defRPr>
            </a:pPr>
            <a:r>
              <a:rPr sz="3600" b="1" i="0">
                <a:solidFill>
                  <a:srgbClr val="F2EFE8"/>
                </a:solidFill>
              </a:rPr>
              <a:t>Documentary forms overlap. Most films are hybrids.</a:t>
            </a:r>
          </a:p>
        </p:txBody>
      </p:sp>
      <p:sp>
        <p:nvSpPr>
          <p:cNvPr id="7" name="prompt">
            <a:extLst xmlns:a="http://schemas.openxmlformats.org/drawingml/2006/main">
              <a:ext uri="{FF2B5EF4-FFF2-40B4-BE49-F238E27FC236}">
                <a16:creationId xmlns:a16="http://schemas.microsoft.com/office/drawing/2014/main" id="{E0390C6B-3878-4FA9-967C-3D69E4D5C6BE}"/>
              </a:ext>
            </a:extLst>
          </p:cNvPr>
          <p:cNvSpPr>
            <a:spLocks xmlns:a="http://schemas.openxmlformats.org/drawingml/2006/main" noGrp="1"/>
          </p:cNvSpPr>
          <p:nvPr/>
        </p:nvSpPr>
        <p:spPr>
          <a:xfrm xmlns:a="http://schemas.openxmlformats.org/drawingml/2006/main">
            <a:off x="819150" y="4762500"/>
            <a:ext cx="9239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1725" b="0" i="1">
                <a:solidFill>
                  <a:srgbClr val="9FB0B9"/>
                </a:solidFill>
              </a:defRPr>
            </a:pPr>
            <a:r>
              <a:rPr sz="1725" b="0" i="1">
                <a:solidFill>
                  <a:srgbClr val="9FB0B9"/>
                </a:solidFill>
              </a:rPr>
              <a:t>Name the dominant logic—then notice what else the film borrows.</a:t>
            </a:r>
          </a:p>
        </p:txBody>
      </p:sp>
    </p:spTree>
    <p:extLst>
      <p:ext uri="{BB962C8B-B14F-4D97-AF65-F5344CB8AC3E}">
        <p14:creationId xmlns:p14="http://schemas.microsoft.com/office/powerpoint/2010/main" val="650054370"/>
      </p:ext>
    </p:extLst>
  </p:cSld>
</p:sld>
</file>

<file path=ppt/slides/slide7.xml><?xml version="1.0" encoding="utf-8"?>
<p:sld xmlns:p="http://schemas.openxmlformats.org/presentationml/2006/main">
  <p:cSld>
    <p:bg>
      <p:bgPr>
        <a:solidFill xmlns:a="http://schemas.openxmlformats.org/drawingml/2006/main">
          <a:srgbClr val="081116"/>
        </a:solidFill>
      </p:bgPr>
    </p:bg>
    <p:spTree>
      <p:nvGrpSpPr>
        <p:cNvPr id="1" name=""/>
        <p:cNvGrpSpPr/>
        <p:nvPr/>
      </p:nvGrpSpPr>
      <p:grpSpPr>
        <a:xfrm xmlns:a="http://schemas.openxmlformats.org/drawingml/2006/main"/>
      </p:grpSpPr>
      <p:sp>
        <p:nvSpPr>
          <p:cNvPr id="16" name="accent-7">
            <a:extLst xmlns:a="http://schemas.openxmlformats.org/drawingml/2006/main">
              <a:ext uri="{FF2B5EF4-FFF2-40B4-BE49-F238E27FC236}">
                <a16:creationId xmlns:a16="http://schemas.microsoft.com/office/drawing/2014/main" id="{4B5A30AA-CB74-4AD5-8AF9-1823585DF033}"/>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C9924A"/>
          </a:solidFill>
          <a:ln xmlns:a="http://schemas.openxmlformats.org/drawingml/2006/main" w="0">
            <a:noFill/>
            <a:prstDash val="solid"/>
          </a:ln>
        </p:spPr>
      </p:sp>
      <p:sp>
        <p:nvSpPr>
          <p:cNvPr id="2" name="eyebrow-7">
            <a:extLst xmlns:a="http://schemas.openxmlformats.org/drawingml/2006/main">
              <a:ext uri="{FF2B5EF4-FFF2-40B4-BE49-F238E27FC236}">
                <a16:creationId xmlns:a16="http://schemas.microsoft.com/office/drawing/2014/main" id="{ACAEAC11-183E-4F1E-B8F9-67FB101F2B8D}"/>
              </a:ext>
            </a:extLst>
          </p:cNvPr>
          <p:cNvSpPr>
            <a:spLocks xmlns:a="http://schemas.openxmlformats.org/drawingml/2006/main" noGrp="1"/>
          </p:cNvSpPr>
          <p:nvPr/>
        </p:nvSpPr>
        <p:spPr>
          <a:xfrm xmlns:a="http://schemas.openxmlformats.org/drawingml/2006/main">
            <a:off x="685800" y="36195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1200" b="1" i="0">
                <a:solidFill>
                  <a:srgbClr val="C9924A"/>
                </a:solidFill>
              </a:defRPr>
            </a:pPr>
            <a:r>
              <a:rPr sz="1200" b="1" i="0">
                <a:solidFill>
                  <a:srgbClr val="C9924A"/>
                </a:solidFill>
              </a:rPr>
              <a:t>CLOSE READING</a:t>
            </a:r>
          </a:p>
        </p:txBody>
      </p:sp>
      <p:sp>
        <p:nvSpPr>
          <p:cNvPr id="3" name="section-7">
            <a:extLst xmlns:a="http://schemas.openxmlformats.org/drawingml/2006/main">
              <a:ext uri="{FF2B5EF4-FFF2-40B4-BE49-F238E27FC236}">
                <a16:creationId xmlns:a16="http://schemas.microsoft.com/office/drawing/2014/main" id="{AE043AFD-4699-4F03-8E4D-D2111110583F}"/>
              </a:ext>
            </a:extLst>
          </p:cNvPr>
          <p:cNvSpPr>
            <a:spLocks xmlns:a="http://schemas.openxmlformats.org/drawingml/2006/main" noGrp="1"/>
          </p:cNvSpPr>
          <p:nvPr/>
        </p:nvSpPr>
        <p:spPr>
          <a:xfrm xmlns:a="http://schemas.openxmlformats.org/drawingml/2006/main">
            <a:off x="685800" y="6429375"/>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1200" b="0" i="0">
                <a:solidFill>
                  <a:srgbClr val="9FB0B9"/>
                </a:solidFill>
              </a:defRPr>
            </a:pPr>
            <a:r>
              <a:rPr sz="1200" b="0" i="0">
                <a:solidFill>
                  <a:srgbClr val="9FB0B9"/>
                </a:solidFill>
              </a:rPr>
              <a:t>WATCH LIKE A MAKER</a:t>
            </a:r>
          </a:p>
        </p:txBody>
      </p:sp>
      <p:sp>
        <p:nvSpPr>
          <p:cNvPr id="4" name="number-7">
            <a:extLst xmlns:a="http://schemas.openxmlformats.org/drawingml/2006/main">
              <a:ext uri="{FF2B5EF4-FFF2-40B4-BE49-F238E27FC236}">
                <a16:creationId xmlns:a16="http://schemas.microsoft.com/office/drawing/2014/main" id="{F065EBB8-E207-467B-BF06-373A6BF77C5F}"/>
              </a:ext>
            </a:extLst>
          </p:cNvPr>
          <p:cNvSpPr>
            <a:spLocks xmlns:a="http://schemas.openxmlformats.org/drawingml/2006/main" noGrp="1"/>
          </p:cNvSpPr>
          <p:nvPr/>
        </p:nvSpPr>
        <p:spPr>
          <a:xfrm xmlns:a="http://schemas.openxmlformats.org/drawingml/2006/main">
            <a:off x="11049000" y="640080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lnSpc>
                <a:spcPct val="105000"/>
              </a:lnSpc>
              <a:buNone/>
              <a:defRPr sz="1200" b="1" i="0">
                <a:solidFill>
                  <a:srgbClr val="C9924A"/>
                </a:solidFill>
              </a:defRPr>
            </a:pPr>
            <a:r>
              <a:rPr sz="1200" b="1" i="0">
                <a:solidFill>
                  <a:srgbClr val="C9924A"/>
                </a:solidFill>
              </a:rPr>
              <a:t>07</a:t>
            </a:r>
          </a:p>
        </p:txBody>
      </p:sp>
      <p:sp>
        <p:nvSpPr>
          <p:cNvPr id="5" name="slide-title">
            <a:extLst xmlns:a="http://schemas.openxmlformats.org/drawingml/2006/main">
              <a:ext uri="{FF2B5EF4-FFF2-40B4-BE49-F238E27FC236}">
                <a16:creationId xmlns:a16="http://schemas.microsoft.com/office/drawing/2014/main" id="{C5733377-0E3E-4F67-A6B1-03C51CC91471}"/>
              </a:ext>
            </a:extLst>
          </p:cNvPr>
          <p:cNvSpPr>
            <a:spLocks xmlns:a="http://schemas.openxmlformats.org/drawingml/2006/main" noGrp="1"/>
          </p:cNvSpPr>
          <p:nvPr/>
        </p:nvSpPr>
        <p:spPr>
          <a:xfrm xmlns:a="http://schemas.openxmlformats.org/drawingml/2006/main">
            <a:off x="685800" y="857250"/>
            <a:ext cx="87630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94000"/>
              </a:lnSpc>
              <a:buNone/>
              <a:defRPr sz="3750" b="1" i="0">
                <a:solidFill>
                  <a:srgbClr val="F2EFE8"/>
                </a:solidFill>
              </a:defRPr>
            </a:pPr>
            <a:r>
              <a:rPr sz="3750" b="1" i="0">
                <a:solidFill>
                  <a:srgbClr val="F2EFE8"/>
                </a:solidFill>
              </a:rPr>
              <a:t>Watch choices—not just content</a:t>
            </a:r>
          </a:p>
        </p:txBody>
      </p:sp>
      <p:sp>
        <p:nvSpPr>
          <p:cNvPr id="6" name="bullet-0">
            <a:extLst xmlns:a="http://schemas.openxmlformats.org/drawingml/2006/main">
              <a:ext uri="{FF2B5EF4-FFF2-40B4-BE49-F238E27FC236}">
                <a16:creationId xmlns:a16="http://schemas.microsoft.com/office/drawing/2014/main" id="{6614D784-4337-4CB9-B95B-3D4631006A5B}"/>
              </a:ext>
            </a:extLst>
          </p:cNvPr>
          <p:cNvSpPr>
            <a:spLocks xmlns:a="http://schemas.openxmlformats.org/drawingml/2006/main" noGrp="1"/>
          </p:cNvSpPr>
          <p:nvPr/>
        </p:nvSpPr>
        <p:spPr>
          <a:xfrm xmlns:a="http://schemas.openxmlformats.org/drawingml/2006/main">
            <a:off x="685800" y="2247900"/>
            <a:ext cx="95250" cy="95250"/>
          </a:xfrm>
          <a:prstGeom xmlns:a="http://schemas.openxmlformats.org/drawingml/2006/main" prst="rect">
            <a:avLst/>
          </a:prstGeom>
          <a:solidFill xmlns:a="http://schemas.openxmlformats.org/drawingml/2006/main">
            <a:srgbClr val="C9924A"/>
          </a:solidFill>
          <a:ln xmlns:a="http://schemas.openxmlformats.org/drawingml/2006/main" w="0">
            <a:noFill/>
            <a:prstDash val="solid"/>
          </a:ln>
        </p:spPr>
      </p:sp>
      <p:sp>
        <p:nvSpPr>
          <p:cNvPr id="7" name="bullet-text-0">
            <a:extLst xmlns:a="http://schemas.openxmlformats.org/drawingml/2006/main">
              <a:ext uri="{FF2B5EF4-FFF2-40B4-BE49-F238E27FC236}">
                <a16:creationId xmlns:a16="http://schemas.microsoft.com/office/drawing/2014/main" id="{890C9E0B-F3D8-494E-852B-F6CC263A15D6}"/>
              </a:ext>
            </a:extLst>
          </p:cNvPr>
          <p:cNvSpPr>
            <a:spLocks xmlns:a="http://schemas.openxmlformats.org/drawingml/2006/main" noGrp="1"/>
          </p:cNvSpPr>
          <p:nvPr/>
        </p:nvSpPr>
        <p:spPr>
          <a:xfrm xmlns:a="http://schemas.openxmlformats.org/drawingml/2006/main">
            <a:off x="952500" y="2152650"/>
            <a:ext cx="100203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2000"/>
              </a:lnSpc>
              <a:buNone/>
              <a:defRPr sz="1800" b="0" i="0">
                <a:solidFill>
                  <a:srgbClr val="D8E0E1"/>
                </a:solidFill>
              </a:defRPr>
            </a:pPr>
            <a:r>
              <a:rPr sz="1800" b="0" i="0">
                <a:solidFill>
                  <a:srgbClr val="D8E0E1"/>
                </a:solidFill>
              </a:rPr>
              <a:t>What can we see happening now?</a:t>
            </a:r>
          </a:p>
        </p:txBody>
      </p:sp>
      <p:sp>
        <p:nvSpPr>
          <p:cNvPr id="8" name="bullet-1">
            <a:extLst xmlns:a="http://schemas.openxmlformats.org/drawingml/2006/main">
              <a:ext uri="{FF2B5EF4-FFF2-40B4-BE49-F238E27FC236}">
                <a16:creationId xmlns:a16="http://schemas.microsoft.com/office/drawing/2014/main" id="{A95FD62D-4183-4301-8CE9-C89BD8A05588}"/>
              </a:ext>
            </a:extLst>
          </p:cNvPr>
          <p:cNvSpPr>
            <a:spLocks xmlns:a="http://schemas.openxmlformats.org/drawingml/2006/main" noGrp="1"/>
          </p:cNvSpPr>
          <p:nvPr/>
        </p:nvSpPr>
        <p:spPr>
          <a:xfrm xmlns:a="http://schemas.openxmlformats.org/drawingml/2006/main">
            <a:off x="685800" y="2933700"/>
            <a:ext cx="95250" cy="95250"/>
          </a:xfrm>
          <a:prstGeom xmlns:a="http://schemas.openxmlformats.org/drawingml/2006/main" prst="rect">
            <a:avLst/>
          </a:prstGeom>
          <a:solidFill xmlns:a="http://schemas.openxmlformats.org/drawingml/2006/main">
            <a:srgbClr val="C9924A"/>
          </a:solidFill>
          <a:ln xmlns:a="http://schemas.openxmlformats.org/drawingml/2006/main" w="0">
            <a:noFill/>
            <a:prstDash val="solid"/>
          </a:ln>
        </p:spPr>
      </p:sp>
      <p:sp>
        <p:nvSpPr>
          <p:cNvPr id="9" name="bullet-text-1">
            <a:extLst xmlns:a="http://schemas.openxmlformats.org/drawingml/2006/main">
              <a:ext uri="{FF2B5EF4-FFF2-40B4-BE49-F238E27FC236}">
                <a16:creationId xmlns:a16="http://schemas.microsoft.com/office/drawing/2014/main" id="{EC9CE9B4-4198-4326-AA05-3DE5878AB84B}"/>
              </a:ext>
            </a:extLst>
          </p:cNvPr>
          <p:cNvSpPr>
            <a:spLocks xmlns:a="http://schemas.openxmlformats.org/drawingml/2006/main" noGrp="1"/>
          </p:cNvSpPr>
          <p:nvPr/>
        </p:nvSpPr>
        <p:spPr>
          <a:xfrm xmlns:a="http://schemas.openxmlformats.org/drawingml/2006/main">
            <a:off x="952500" y="2838450"/>
            <a:ext cx="100203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2000"/>
              </a:lnSpc>
              <a:buNone/>
              <a:defRPr sz="1800" b="0" i="0">
                <a:solidFill>
                  <a:srgbClr val="D8E0E1"/>
                </a:solidFill>
              </a:defRPr>
            </a:pPr>
            <a:r>
              <a:rPr sz="1800" b="0" i="0">
                <a:solidFill>
                  <a:srgbClr val="D8E0E1"/>
                </a:solidFill>
              </a:rPr>
              <a:t>Who carries the story—and who controls its telling?</a:t>
            </a:r>
          </a:p>
        </p:txBody>
      </p:sp>
      <p:sp>
        <p:nvSpPr>
          <p:cNvPr id="10" name="bullet-2">
            <a:extLst xmlns:a="http://schemas.openxmlformats.org/drawingml/2006/main">
              <a:ext uri="{FF2B5EF4-FFF2-40B4-BE49-F238E27FC236}">
                <a16:creationId xmlns:a16="http://schemas.microsoft.com/office/drawing/2014/main" id="{3A5465D7-5685-42E7-8649-10E58AC0F592}"/>
              </a:ext>
            </a:extLst>
          </p:cNvPr>
          <p:cNvSpPr>
            <a:spLocks xmlns:a="http://schemas.openxmlformats.org/drawingml/2006/main" noGrp="1"/>
          </p:cNvSpPr>
          <p:nvPr/>
        </p:nvSpPr>
        <p:spPr>
          <a:xfrm xmlns:a="http://schemas.openxmlformats.org/drawingml/2006/main">
            <a:off x="685800" y="3619500"/>
            <a:ext cx="95250" cy="95250"/>
          </a:xfrm>
          <a:prstGeom xmlns:a="http://schemas.openxmlformats.org/drawingml/2006/main" prst="rect">
            <a:avLst/>
          </a:prstGeom>
          <a:solidFill xmlns:a="http://schemas.openxmlformats.org/drawingml/2006/main">
            <a:srgbClr val="C9924A"/>
          </a:solidFill>
          <a:ln xmlns:a="http://schemas.openxmlformats.org/drawingml/2006/main" w="0">
            <a:noFill/>
            <a:prstDash val="solid"/>
          </a:ln>
        </p:spPr>
      </p:sp>
      <p:sp>
        <p:nvSpPr>
          <p:cNvPr id="11" name="bullet-text-2">
            <a:extLst xmlns:a="http://schemas.openxmlformats.org/drawingml/2006/main">
              <a:ext uri="{FF2B5EF4-FFF2-40B4-BE49-F238E27FC236}">
                <a16:creationId xmlns:a16="http://schemas.microsoft.com/office/drawing/2014/main" id="{B064087B-B18E-435C-9A9D-D23F1582A4EC}"/>
              </a:ext>
            </a:extLst>
          </p:cNvPr>
          <p:cNvSpPr>
            <a:spLocks xmlns:a="http://schemas.openxmlformats.org/drawingml/2006/main" noGrp="1"/>
          </p:cNvSpPr>
          <p:nvPr/>
        </p:nvSpPr>
        <p:spPr>
          <a:xfrm xmlns:a="http://schemas.openxmlformats.org/drawingml/2006/main">
            <a:off x="952500" y="3524250"/>
            <a:ext cx="100203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2000"/>
              </a:lnSpc>
              <a:buNone/>
              <a:defRPr sz="1800" b="0" i="0">
                <a:solidFill>
                  <a:srgbClr val="D8E0E1"/>
                </a:solidFill>
              </a:defRPr>
            </a:pPr>
            <a:r>
              <a:rPr sz="1800" b="0" i="0">
                <a:solidFill>
                  <a:srgbClr val="D8E0E1"/>
                </a:solidFill>
              </a:rPr>
              <a:t>Where do tension, surprise, or change enter?</a:t>
            </a:r>
          </a:p>
        </p:txBody>
      </p:sp>
      <p:sp>
        <p:nvSpPr>
          <p:cNvPr id="12" name="bullet-3">
            <a:extLst xmlns:a="http://schemas.openxmlformats.org/drawingml/2006/main">
              <a:ext uri="{FF2B5EF4-FFF2-40B4-BE49-F238E27FC236}">
                <a16:creationId xmlns:a16="http://schemas.microsoft.com/office/drawing/2014/main" id="{7EAB7445-8432-4455-878E-A8E7D4C711F5}"/>
              </a:ext>
            </a:extLst>
          </p:cNvPr>
          <p:cNvSpPr>
            <a:spLocks xmlns:a="http://schemas.openxmlformats.org/drawingml/2006/main" noGrp="1"/>
          </p:cNvSpPr>
          <p:nvPr/>
        </p:nvSpPr>
        <p:spPr>
          <a:xfrm xmlns:a="http://schemas.openxmlformats.org/drawingml/2006/main">
            <a:off x="685800" y="4305300"/>
            <a:ext cx="95250" cy="95250"/>
          </a:xfrm>
          <a:prstGeom xmlns:a="http://schemas.openxmlformats.org/drawingml/2006/main" prst="rect">
            <a:avLst/>
          </a:prstGeom>
          <a:solidFill xmlns:a="http://schemas.openxmlformats.org/drawingml/2006/main">
            <a:srgbClr val="C9924A"/>
          </a:solidFill>
          <a:ln xmlns:a="http://schemas.openxmlformats.org/drawingml/2006/main" w="0">
            <a:noFill/>
            <a:prstDash val="solid"/>
          </a:ln>
        </p:spPr>
      </p:sp>
      <p:sp>
        <p:nvSpPr>
          <p:cNvPr id="13" name="bullet-text-3">
            <a:extLst xmlns:a="http://schemas.openxmlformats.org/drawingml/2006/main">
              <a:ext uri="{FF2B5EF4-FFF2-40B4-BE49-F238E27FC236}">
                <a16:creationId xmlns:a16="http://schemas.microsoft.com/office/drawing/2014/main" id="{BA570C7D-375F-4A67-A505-A78639BB414A}"/>
              </a:ext>
            </a:extLst>
          </p:cNvPr>
          <p:cNvSpPr>
            <a:spLocks xmlns:a="http://schemas.openxmlformats.org/drawingml/2006/main" noGrp="1"/>
          </p:cNvSpPr>
          <p:nvPr/>
        </p:nvSpPr>
        <p:spPr>
          <a:xfrm xmlns:a="http://schemas.openxmlformats.org/drawingml/2006/main">
            <a:off x="952500" y="4210050"/>
            <a:ext cx="100203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2000"/>
              </a:lnSpc>
              <a:buNone/>
              <a:defRPr sz="1800" b="0" i="0">
                <a:solidFill>
                  <a:srgbClr val="D8E0E1"/>
                </a:solidFill>
              </a:defRPr>
            </a:pPr>
            <a:r>
              <a:rPr sz="1800" b="0" i="0">
                <a:solidFill>
                  <a:srgbClr val="D8E0E1"/>
                </a:solidFill>
              </a:rPr>
              <a:t>What do camera, edit, archive, narration, and sound make us feel or believe?</a:t>
            </a:r>
          </a:p>
        </p:txBody>
      </p:sp>
      <p:sp>
        <p:nvSpPr>
          <p:cNvPr id="14" name="bullet-4">
            <a:extLst xmlns:a="http://schemas.openxmlformats.org/drawingml/2006/main">
              <a:ext uri="{FF2B5EF4-FFF2-40B4-BE49-F238E27FC236}">
                <a16:creationId xmlns:a16="http://schemas.microsoft.com/office/drawing/2014/main" id="{E99E5D1B-D954-467B-8212-3F72128E8FB3}"/>
              </a:ext>
            </a:extLst>
          </p:cNvPr>
          <p:cNvSpPr>
            <a:spLocks xmlns:a="http://schemas.openxmlformats.org/drawingml/2006/main" noGrp="1"/>
          </p:cNvSpPr>
          <p:nvPr/>
        </p:nvSpPr>
        <p:spPr>
          <a:xfrm xmlns:a="http://schemas.openxmlformats.org/drawingml/2006/main">
            <a:off x="685800" y="4991100"/>
            <a:ext cx="95250" cy="95250"/>
          </a:xfrm>
          <a:prstGeom xmlns:a="http://schemas.openxmlformats.org/drawingml/2006/main" prst="rect">
            <a:avLst/>
          </a:prstGeom>
          <a:solidFill xmlns:a="http://schemas.openxmlformats.org/drawingml/2006/main">
            <a:srgbClr val="C9924A"/>
          </a:solidFill>
          <a:ln xmlns:a="http://schemas.openxmlformats.org/drawingml/2006/main" w="0">
            <a:noFill/>
            <a:prstDash val="solid"/>
          </a:ln>
        </p:spPr>
      </p:sp>
      <p:sp>
        <p:nvSpPr>
          <p:cNvPr id="15" name="bullet-text-4">
            <a:extLst xmlns:a="http://schemas.openxmlformats.org/drawingml/2006/main">
              <a:ext uri="{FF2B5EF4-FFF2-40B4-BE49-F238E27FC236}">
                <a16:creationId xmlns:a16="http://schemas.microsoft.com/office/drawing/2014/main" id="{1C91EC62-AB08-4C02-8E44-11BF856E7E02}"/>
              </a:ext>
            </a:extLst>
          </p:cNvPr>
          <p:cNvSpPr>
            <a:spLocks xmlns:a="http://schemas.openxmlformats.org/drawingml/2006/main" noGrp="1"/>
          </p:cNvSpPr>
          <p:nvPr/>
        </p:nvSpPr>
        <p:spPr>
          <a:xfrm xmlns:a="http://schemas.openxmlformats.org/drawingml/2006/main">
            <a:off x="952500" y="4895850"/>
            <a:ext cx="100203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2000"/>
              </a:lnSpc>
              <a:buNone/>
              <a:defRPr sz="1800" b="0" i="0">
                <a:solidFill>
                  <a:srgbClr val="D8E0E1"/>
                </a:solidFill>
              </a:defRPr>
            </a:pPr>
            <a:r>
              <a:rPr sz="1800" b="0" i="0">
                <a:solidFill>
                  <a:srgbClr val="D8E0E1"/>
                </a:solidFill>
              </a:rPr>
              <a:t>What access and ethical choices made these moments possible?</a:t>
            </a:r>
          </a:p>
        </p:txBody>
      </p:sp>
    </p:spTree>
    <p:extLst>
      <p:ext uri="{BB962C8B-B14F-4D97-AF65-F5344CB8AC3E}">
        <p14:creationId xmlns:p14="http://schemas.microsoft.com/office/powerpoint/2010/main" val="1217952579"/>
      </p:ext>
    </p:extLst>
  </p:cSld>
</p:sld>
</file>

<file path=ppt/slides/slide8.xml><?xml version="1.0" encoding="utf-8"?>
<p:sld xmlns:p="http://schemas.openxmlformats.org/presentationml/2006/main">
  <p:cSld>
    <p:bg>
      <p:bgPr>
        <a:solidFill xmlns:a="http://schemas.openxmlformats.org/drawingml/2006/main">
          <a:srgbClr val="081116"/>
        </a:solidFill>
      </p:bgPr>
    </p:bg>
    <p:spTree>
      <p:nvGrpSpPr>
        <p:cNvPr id="1" name=""/>
        <p:cNvGrpSpPr/>
        <p:nvPr/>
      </p:nvGrpSpPr>
      <p:grpSpPr>
        <a:xfrm xmlns:a="http://schemas.openxmlformats.org/drawingml/2006/main"/>
      </p:grpSpPr>
      <p:sp>
        <p:nvSpPr>
          <p:cNvPr id="17" name="accent-8">
            <a:extLst xmlns:a="http://schemas.openxmlformats.org/drawingml/2006/main">
              <a:ext uri="{FF2B5EF4-FFF2-40B4-BE49-F238E27FC236}">
                <a16:creationId xmlns:a16="http://schemas.microsoft.com/office/drawing/2014/main" id="{FE874E51-938A-4EB8-AD85-0AAD3193A3BC}"/>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C9924A"/>
          </a:solidFill>
          <a:ln xmlns:a="http://schemas.openxmlformats.org/drawingml/2006/main" w="0">
            <a:noFill/>
            <a:prstDash val="solid"/>
          </a:ln>
        </p:spPr>
      </p:sp>
      <p:sp>
        <p:nvSpPr>
          <p:cNvPr id="2" name="eyebrow-8">
            <a:extLst xmlns:a="http://schemas.openxmlformats.org/drawingml/2006/main">
              <a:ext uri="{FF2B5EF4-FFF2-40B4-BE49-F238E27FC236}">
                <a16:creationId xmlns:a16="http://schemas.microsoft.com/office/drawing/2014/main" id="{78D633FE-AD9C-4E72-90B0-88856DB83E3D}"/>
              </a:ext>
            </a:extLst>
          </p:cNvPr>
          <p:cNvSpPr>
            <a:spLocks xmlns:a="http://schemas.openxmlformats.org/drawingml/2006/main" noGrp="1"/>
          </p:cNvSpPr>
          <p:nvPr/>
        </p:nvSpPr>
        <p:spPr>
          <a:xfrm xmlns:a="http://schemas.openxmlformats.org/drawingml/2006/main">
            <a:off x="685800" y="36195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1200" b="1" i="0">
                <a:solidFill>
                  <a:srgbClr val="C9924A"/>
                </a:solidFill>
              </a:defRPr>
            </a:pPr>
            <a:r>
              <a:rPr sz="1200" b="1" i="0">
                <a:solidFill>
                  <a:srgbClr val="C9924A"/>
                </a:solidFill>
              </a:rPr>
              <a:t>A WORKING VOCABULARY</a:t>
            </a:r>
          </a:p>
        </p:txBody>
      </p:sp>
      <p:sp>
        <p:nvSpPr>
          <p:cNvPr id="3" name="section-8">
            <a:extLst xmlns:a="http://schemas.openxmlformats.org/drawingml/2006/main">
              <a:ext uri="{FF2B5EF4-FFF2-40B4-BE49-F238E27FC236}">
                <a16:creationId xmlns:a16="http://schemas.microsoft.com/office/drawing/2014/main" id="{905B00FF-B2D5-405B-B367-5002AFF280CC}"/>
              </a:ext>
            </a:extLst>
          </p:cNvPr>
          <p:cNvSpPr>
            <a:spLocks xmlns:a="http://schemas.openxmlformats.org/drawingml/2006/main" noGrp="1"/>
          </p:cNvSpPr>
          <p:nvPr/>
        </p:nvSpPr>
        <p:spPr>
          <a:xfrm xmlns:a="http://schemas.openxmlformats.org/drawingml/2006/main">
            <a:off x="685800" y="6429375"/>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1200" b="0" i="0">
                <a:solidFill>
                  <a:srgbClr val="9FB0B9"/>
                </a:solidFill>
              </a:defRPr>
            </a:pPr>
            <a:r>
              <a:rPr sz="1200" b="0" i="0">
                <a:solidFill>
                  <a:srgbClr val="9FB0B9"/>
                </a:solidFill>
              </a:rPr>
              <a:t>DOCUMENTARY FORMS</a:t>
            </a:r>
          </a:p>
        </p:txBody>
      </p:sp>
      <p:sp>
        <p:nvSpPr>
          <p:cNvPr id="4" name="number-8">
            <a:extLst xmlns:a="http://schemas.openxmlformats.org/drawingml/2006/main">
              <a:ext uri="{FF2B5EF4-FFF2-40B4-BE49-F238E27FC236}">
                <a16:creationId xmlns:a16="http://schemas.microsoft.com/office/drawing/2014/main" id="{F5148E4A-28DB-4817-ACDB-8AE1656CFDFB}"/>
              </a:ext>
            </a:extLst>
          </p:cNvPr>
          <p:cNvSpPr>
            <a:spLocks xmlns:a="http://schemas.openxmlformats.org/drawingml/2006/main" noGrp="1"/>
          </p:cNvSpPr>
          <p:nvPr/>
        </p:nvSpPr>
        <p:spPr>
          <a:xfrm xmlns:a="http://schemas.openxmlformats.org/drawingml/2006/main">
            <a:off x="11049000" y="640080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lnSpc>
                <a:spcPct val="105000"/>
              </a:lnSpc>
              <a:buNone/>
              <a:defRPr sz="1200" b="1" i="0">
                <a:solidFill>
                  <a:srgbClr val="C9924A"/>
                </a:solidFill>
              </a:defRPr>
            </a:pPr>
            <a:r>
              <a:rPr sz="1200" b="1" i="0">
                <a:solidFill>
                  <a:srgbClr val="C9924A"/>
                </a:solidFill>
              </a:rPr>
              <a:t>08</a:t>
            </a:r>
          </a:p>
        </p:txBody>
      </p:sp>
      <p:sp>
        <p:nvSpPr>
          <p:cNvPr id="5" name="slide-title">
            <a:extLst xmlns:a="http://schemas.openxmlformats.org/drawingml/2006/main">
              <a:ext uri="{FF2B5EF4-FFF2-40B4-BE49-F238E27FC236}">
                <a16:creationId xmlns:a16="http://schemas.microsoft.com/office/drawing/2014/main" id="{E7ED3713-F9C2-4E50-8F22-988F7F39E1E0}"/>
              </a:ext>
            </a:extLst>
          </p:cNvPr>
          <p:cNvSpPr>
            <a:spLocks xmlns:a="http://schemas.openxmlformats.org/drawingml/2006/main" noGrp="1"/>
          </p:cNvSpPr>
          <p:nvPr/>
        </p:nvSpPr>
        <p:spPr>
          <a:xfrm xmlns:a="http://schemas.openxmlformats.org/drawingml/2006/main">
            <a:off x="685800" y="838200"/>
            <a:ext cx="61912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94000"/>
              </a:lnSpc>
              <a:buNone/>
              <a:defRPr sz="3900" b="1" i="0">
                <a:solidFill>
                  <a:srgbClr val="F2EFE8"/>
                </a:solidFill>
              </a:defRPr>
            </a:pPr>
            <a:r>
              <a:rPr sz="3900" b="1" i="0">
                <a:solidFill>
                  <a:srgbClr val="F2EFE8"/>
                </a:solidFill>
              </a:rPr>
              <a:t>Observational</a:t>
            </a:r>
          </a:p>
        </p:txBody>
      </p:sp>
      <p:sp>
        <p:nvSpPr>
          <p:cNvPr id="6" name="essence">
            <a:extLst xmlns:a="http://schemas.openxmlformats.org/drawingml/2006/main">
              <a:ext uri="{FF2B5EF4-FFF2-40B4-BE49-F238E27FC236}">
                <a16:creationId xmlns:a16="http://schemas.microsoft.com/office/drawing/2014/main" id="{FC6DDE9A-C0B4-4DDF-AE87-FF9E416A0112}"/>
              </a:ext>
            </a:extLst>
          </p:cNvPr>
          <p:cNvSpPr>
            <a:spLocks xmlns:a="http://schemas.openxmlformats.org/drawingml/2006/main" noGrp="1"/>
          </p:cNvSpPr>
          <p:nvPr/>
        </p:nvSpPr>
        <p:spPr>
          <a:xfrm xmlns:a="http://schemas.openxmlformats.org/drawingml/2006/main">
            <a:off x="685800" y="2152650"/>
            <a:ext cx="5191125"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2175" b="0" i="1">
                <a:solidFill>
                  <a:srgbClr val="F2EFE8"/>
                </a:solidFill>
              </a:defRPr>
            </a:pPr>
            <a:r>
              <a:rPr sz="2175" b="0" i="1">
                <a:solidFill>
                  <a:srgbClr val="F2EFE8"/>
                </a:solidFill>
              </a:rPr>
              <a:t>Stay close to unfolding behavior and let action carry meaning.</a:t>
            </a:r>
          </a:p>
        </p:txBody>
      </p:sp>
      <p:sp>
        <p:nvSpPr>
          <p:cNvPr id="7" name="look-for">
            <a:extLst xmlns:a="http://schemas.openxmlformats.org/drawingml/2006/main">
              <a:ext uri="{FF2B5EF4-FFF2-40B4-BE49-F238E27FC236}">
                <a16:creationId xmlns:a16="http://schemas.microsoft.com/office/drawing/2014/main" id="{E36FB54C-93E4-4D62-BC22-F579A6DACA16}"/>
              </a:ext>
            </a:extLst>
          </p:cNvPr>
          <p:cNvSpPr>
            <a:spLocks xmlns:a="http://schemas.openxmlformats.org/drawingml/2006/main" noGrp="1"/>
          </p:cNvSpPr>
          <p:nvPr/>
        </p:nvSpPr>
        <p:spPr>
          <a:xfrm xmlns:a="http://schemas.openxmlformats.org/drawingml/2006/main">
            <a:off x="685800" y="333375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1200" b="1" i="0">
                <a:solidFill>
                  <a:srgbClr val="C9924A"/>
                </a:solidFill>
              </a:defRPr>
            </a:pPr>
            <a:r>
              <a:rPr sz="1200" b="1" i="0">
                <a:solidFill>
                  <a:srgbClr val="C9924A"/>
                </a:solidFill>
              </a:rPr>
              <a:t>LOOK FOR</a:t>
            </a:r>
          </a:p>
        </p:txBody>
      </p:sp>
      <p:sp>
        <p:nvSpPr>
          <p:cNvPr id="8" name="bullet-0">
            <a:extLst xmlns:a="http://schemas.openxmlformats.org/drawingml/2006/main">
              <a:ext uri="{FF2B5EF4-FFF2-40B4-BE49-F238E27FC236}">
                <a16:creationId xmlns:a16="http://schemas.microsoft.com/office/drawing/2014/main" id="{C41F58D2-57AD-42AD-9B47-2DDFC6474A12}"/>
              </a:ext>
            </a:extLst>
          </p:cNvPr>
          <p:cNvSpPr>
            <a:spLocks xmlns:a="http://schemas.openxmlformats.org/drawingml/2006/main" noGrp="1"/>
          </p:cNvSpPr>
          <p:nvPr/>
        </p:nvSpPr>
        <p:spPr>
          <a:xfrm xmlns:a="http://schemas.openxmlformats.org/drawingml/2006/main">
            <a:off x="685800" y="3790950"/>
            <a:ext cx="95250" cy="95250"/>
          </a:xfrm>
          <a:prstGeom xmlns:a="http://schemas.openxmlformats.org/drawingml/2006/main" prst="rect">
            <a:avLst/>
          </a:prstGeom>
          <a:solidFill xmlns:a="http://schemas.openxmlformats.org/drawingml/2006/main">
            <a:srgbClr val="C9924A"/>
          </a:solidFill>
          <a:ln xmlns:a="http://schemas.openxmlformats.org/drawingml/2006/main" w="0">
            <a:noFill/>
            <a:prstDash val="solid"/>
          </a:ln>
        </p:spPr>
      </p:sp>
      <p:sp>
        <p:nvSpPr>
          <p:cNvPr id="9" name="bullet-text-0">
            <a:extLst xmlns:a="http://schemas.openxmlformats.org/drawingml/2006/main">
              <a:ext uri="{FF2B5EF4-FFF2-40B4-BE49-F238E27FC236}">
                <a16:creationId xmlns:a16="http://schemas.microsoft.com/office/drawing/2014/main" id="{4E885E8B-4C80-4345-AA3E-5EF186DD4494}"/>
              </a:ext>
            </a:extLst>
          </p:cNvPr>
          <p:cNvSpPr>
            <a:spLocks xmlns:a="http://schemas.openxmlformats.org/drawingml/2006/main" noGrp="1"/>
          </p:cNvSpPr>
          <p:nvPr/>
        </p:nvSpPr>
        <p:spPr>
          <a:xfrm xmlns:a="http://schemas.openxmlformats.org/drawingml/2006/main">
            <a:off x="952500" y="3695700"/>
            <a:ext cx="49720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2000"/>
              </a:lnSpc>
              <a:buNone/>
              <a:defRPr sz="1575" b="0" i="0">
                <a:solidFill>
                  <a:srgbClr val="D8E0E1"/>
                </a:solidFill>
              </a:defRPr>
            </a:pPr>
            <a:r>
              <a:rPr sz="1575" b="0" i="0">
                <a:solidFill>
                  <a:srgbClr val="D8E0E1"/>
                </a:solidFill>
              </a:rPr>
              <a:t>Sustained scenes and real-time action</a:t>
            </a:r>
          </a:p>
        </p:txBody>
      </p:sp>
      <p:sp>
        <p:nvSpPr>
          <p:cNvPr id="10" name="bullet-1">
            <a:extLst xmlns:a="http://schemas.openxmlformats.org/drawingml/2006/main">
              <a:ext uri="{FF2B5EF4-FFF2-40B4-BE49-F238E27FC236}">
                <a16:creationId xmlns:a16="http://schemas.microsoft.com/office/drawing/2014/main" id="{16AA5677-3902-41F1-A5C1-091AED09E68D}"/>
              </a:ext>
            </a:extLst>
          </p:cNvPr>
          <p:cNvSpPr>
            <a:spLocks xmlns:a="http://schemas.openxmlformats.org/drawingml/2006/main" noGrp="1"/>
          </p:cNvSpPr>
          <p:nvPr/>
        </p:nvSpPr>
        <p:spPr>
          <a:xfrm xmlns:a="http://schemas.openxmlformats.org/drawingml/2006/main">
            <a:off x="685800" y="4305300"/>
            <a:ext cx="95250" cy="95250"/>
          </a:xfrm>
          <a:prstGeom xmlns:a="http://schemas.openxmlformats.org/drawingml/2006/main" prst="rect">
            <a:avLst/>
          </a:prstGeom>
          <a:solidFill xmlns:a="http://schemas.openxmlformats.org/drawingml/2006/main">
            <a:srgbClr val="C9924A"/>
          </a:solidFill>
          <a:ln xmlns:a="http://schemas.openxmlformats.org/drawingml/2006/main" w="0">
            <a:noFill/>
            <a:prstDash val="solid"/>
          </a:ln>
        </p:spPr>
      </p:sp>
      <p:sp>
        <p:nvSpPr>
          <p:cNvPr id="11" name="bullet-text-1">
            <a:extLst xmlns:a="http://schemas.openxmlformats.org/drawingml/2006/main">
              <a:ext uri="{FF2B5EF4-FFF2-40B4-BE49-F238E27FC236}">
                <a16:creationId xmlns:a16="http://schemas.microsoft.com/office/drawing/2014/main" id="{9B2B0945-3DD7-4384-A497-227BE98518A4}"/>
              </a:ext>
            </a:extLst>
          </p:cNvPr>
          <p:cNvSpPr>
            <a:spLocks xmlns:a="http://schemas.openxmlformats.org/drawingml/2006/main" noGrp="1"/>
          </p:cNvSpPr>
          <p:nvPr/>
        </p:nvSpPr>
        <p:spPr>
          <a:xfrm xmlns:a="http://schemas.openxmlformats.org/drawingml/2006/main">
            <a:off x="952500" y="4210050"/>
            <a:ext cx="49720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2000"/>
              </a:lnSpc>
              <a:buNone/>
              <a:defRPr sz="1575" b="0" i="0">
                <a:solidFill>
                  <a:srgbClr val="D8E0E1"/>
                </a:solidFill>
              </a:defRPr>
            </a:pPr>
            <a:r>
              <a:rPr sz="1575" b="0" i="0">
                <a:solidFill>
                  <a:srgbClr val="D8E0E1"/>
                </a:solidFill>
              </a:rPr>
              <a:t>Limited overt explanation</a:t>
            </a:r>
          </a:p>
        </p:txBody>
      </p:sp>
      <p:sp>
        <p:nvSpPr>
          <p:cNvPr id="12" name="bullet-2">
            <a:extLst xmlns:a="http://schemas.openxmlformats.org/drawingml/2006/main">
              <a:ext uri="{FF2B5EF4-FFF2-40B4-BE49-F238E27FC236}">
                <a16:creationId xmlns:a16="http://schemas.microsoft.com/office/drawing/2014/main" id="{26BCF0CD-B13F-4BB3-B152-0DD9381E327D}"/>
              </a:ext>
            </a:extLst>
          </p:cNvPr>
          <p:cNvSpPr>
            <a:spLocks xmlns:a="http://schemas.openxmlformats.org/drawingml/2006/main" noGrp="1"/>
          </p:cNvSpPr>
          <p:nvPr/>
        </p:nvSpPr>
        <p:spPr>
          <a:xfrm xmlns:a="http://schemas.openxmlformats.org/drawingml/2006/main">
            <a:off x="685800" y="4819650"/>
            <a:ext cx="95250" cy="95250"/>
          </a:xfrm>
          <a:prstGeom xmlns:a="http://schemas.openxmlformats.org/drawingml/2006/main" prst="rect">
            <a:avLst/>
          </a:prstGeom>
          <a:solidFill xmlns:a="http://schemas.openxmlformats.org/drawingml/2006/main">
            <a:srgbClr val="C9924A"/>
          </a:solidFill>
          <a:ln xmlns:a="http://schemas.openxmlformats.org/drawingml/2006/main" w="0">
            <a:noFill/>
            <a:prstDash val="solid"/>
          </a:ln>
        </p:spPr>
      </p:sp>
      <p:sp>
        <p:nvSpPr>
          <p:cNvPr id="13" name="bullet-text-2">
            <a:extLst xmlns:a="http://schemas.openxmlformats.org/drawingml/2006/main">
              <a:ext uri="{FF2B5EF4-FFF2-40B4-BE49-F238E27FC236}">
                <a16:creationId xmlns:a16="http://schemas.microsoft.com/office/drawing/2014/main" id="{A0211D7D-2DB2-466D-83EB-2F29AB6997D2}"/>
              </a:ext>
            </a:extLst>
          </p:cNvPr>
          <p:cNvSpPr>
            <a:spLocks xmlns:a="http://schemas.openxmlformats.org/drawingml/2006/main" noGrp="1"/>
          </p:cNvSpPr>
          <p:nvPr/>
        </p:nvSpPr>
        <p:spPr>
          <a:xfrm xmlns:a="http://schemas.openxmlformats.org/drawingml/2006/main">
            <a:off x="952500" y="4724400"/>
            <a:ext cx="49720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2000"/>
              </a:lnSpc>
              <a:buNone/>
              <a:defRPr sz="1575" b="0" i="0">
                <a:solidFill>
                  <a:srgbClr val="D8E0E1"/>
                </a:solidFill>
              </a:defRPr>
            </a:pPr>
            <a:r>
              <a:rPr sz="1575" b="0" i="0">
                <a:solidFill>
                  <a:srgbClr val="D8E0E1"/>
                </a:solidFill>
              </a:rPr>
              <a:t>Meaning built through selection and juxtaposition</a:t>
            </a:r>
          </a:p>
        </p:txBody>
      </p:sp>
      <p:sp>
        <p:nvSpPr>
          <p:cNvPr id="14" name="question">
            <a:extLst xmlns:a="http://schemas.openxmlformats.org/drawingml/2006/main">
              <a:ext uri="{FF2B5EF4-FFF2-40B4-BE49-F238E27FC236}">
                <a16:creationId xmlns:a16="http://schemas.microsoft.com/office/drawing/2014/main" id="{D387E584-3515-4360-8B83-E1ADC0654410}"/>
              </a:ext>
            </a:extLst>
          </p:cNvPr>
          <p:cNvSpPr>
            <a:spLocks xmlns:a="http://schemas.openxmlformats.org/drawingml/2006/main" noGrp="1"/>
          </p:cNvSpPr>
          <p:nvPr/>
        </p:nvSpPr>
        <p:spPr>
          <a:xfrm xmlns:a="http://schemas.openxmlformats.org/drawingml/2006/main">
            <a:off x="685800" y="5410200"/>
            <a:ext cx="5238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1500" b="1" i="0">
                <a:solidFill>
                  <a:srgbClr val="C9924A"/>
                </a:solidFill>
              </a:defRPr>
            </a:pPr>
            <a:r>
              <a:rPr sz="1500" b="1" i="0">
                <a:solidFill>
                  <a:srgbClr val="C9924A"/>
                </a:solidFill>
              </a:rPr>
              <a:t>What can happen without being arranged?</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7d1f6a068af14035"/>
          <a:srcRect xmlns:a="http://schemas.openxmlformats.org/drawingml/2006/main" l="4643" t="0" r="4643" b="0"/>
          <a:stretch xmlns:a="http://schemas.openxmlformats.org/drawingml/2006/main">
            <a:fillRect l="0" t="0" r="0" b="0"/>
          </a:stretch>
        </p:blipFill>
        <p:spPr>
          <a:xfrm xmlns:a="http://schemas.openxmlformats.org/drawingml/2006/main">
            <a:off x="6667500" y="685800"/>
            <a:ext cx="4838700" cy="5334000"/>
          </a:xfrm>
          <a:prstGeom xmlns:a="http://schemas.openxmlformats.org/drawingml/2006/main" prst="rect">
            <a:avLst/>
          </a:prstGeom>
        </p:spPr>
      </p:pic>
      <p:sp>
        <p:nvSpPr>
          <p:cNvPr id="16" name="image-rule">
            <a:extLst xmlns:a="http://schemas.openxmlformats.org/drawingml/2006/main">
              <a:ext uri="{FF2B5EF4-FFF2-40B4-BE49-F238E27FC236}">
                <a16:creationId xmlns:a16="http://schemas.microsoft.com/office/drawing/2014/main" id="{D5E3C215-CEAA-4159-8A73-201443A4BAA1}"/>
              </a:ext>
            </a:extLst>
          </p:cNvPr>
          <p:cNvSpPr>
            <a:spLocks xmlns:a="http://schemas.openxmlformats.org/drawingml/2006/main" noGrp="1"/>
          </p:cNvSpPr>
          <p:nvPr/>
        </p:nvSpPr>
        <p:spPr>
          <a:xfrm xmlns:a="http://schemas.openxmlformats.org/drawingml/2006/main">
            <a:off x="6477000" y="685800"/>
            <a:ext cx="76200" cy="5334000"/>
          </a:xfrm>
          <a:prstGeom xmlns:a="http://schemas.openxmlformats.org/drawingml/2006/main" prst="rect">
            <a:avLst/>
          </a:prstGeom>
          <a:solidFill xmlns:a="http://schemas.openxmlformats.org/drawingml/2006/main">
            <a:srgbClr val="2D6675"/>
          </a:solidFill>
          <a:ln xmlns:a="http://schemas.openxmlformats.org/drawingml/2006/main" w="0">
            <a:noFill/>
            <a:prstDash val="solid"/>
          </a:ln>
        </p:spPr>
      </p:sp>
    </p:spTree>
    <p:extLst>
      <p:ext uri="{BB962C8B-B14F-4D97-AF65-F5344CB8AC3E}">
        <p14:creationId xmlns:p14="http://schemas.microsoft.com/office/powerpoint/2010/main" val="2012309810"/>
      </p:ext>
    </p:extLst>
  </p:cSld>
</p:sld>
</file>

<file path=ppt/slides/slide9.xml><?xml version="1.0" encoding="utf-8"?>
<p:sld xmlns:p="http://schemas.openxmlformats.org/presentationml/2006/main">
  <p:cSld>
    <p:bg>
      <p:bgPr>
        <a:solidFill xmlns:a="http://schemas.openxmlformats.org/drawingml/2006/main">
          <a:srgbClr val="081116"/>
        </a:solidFill>
      </p:bgPr>
    </p:bg>
    <p:spTree>
      <p:nvGrpSpPr>
        <p:cNvPr id="1" name=""/>
        <p:cNvGrpSpPr/>
        <p:nvPr/>
      </p:nvGrpSpPr>
      <p:grpSpPr>
        <a:xfrm xmlns:a="http://schemas.openxmlformats.org/drawingml/2006/main"/>
      </p:grpSpPr>
      <p:sp>
        <p:nvSpPr>
          <p:cNvPr id="17" name="accent-9">
            <a:extLst xmlns:a="http://schemas.openxmlformats.org/drawingml/2006/main">
              <a:ext uri="{FF2B5EF4-FFF2-40B4-BE49-F238E27FC236}">
                <a16:creationId xmlns:a16="http://schemas.microsoft.com/office/drawing/2014/main" id="{3A94B9DD-1389-4E6C-902A-413A4F1D93D0}"/>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C9924A"/>
          </a:solidFill>
          <a:ln xmlns:a="http://schemas.openxmlformats.org/drawingml/2006/main" w="0">
            <a:noFill/>
            <a:prstDash val="solid"/>
          </a:ln>
        </p:spPr>
      </p:sp>
      <p:sp>
        <p:nvSpPr>
          <p:cNvPr id="2" name="eyebrow-9">
            <a:extLst xmlns:a="http://schemas.openxmlformats.org/drawingml/2006/main">
              <a:ext uri="{FF2B5EF4-FFF2-40B4-BE49-F238E27FC236}">
                <a16:creationId xmlns:a16="http://schemas.microsoft.com/office/drawing/2014/main" id="{B1B0CD23-DE21-490A-8796-E63DF433AC80}"/>
              </a:ext>
            </a:extLst>
          </p:cNvPr>
          <p:cNvSpPr>
            <a:spLocks xmlns:a="http://schemas.openxmlformats.org/drawingml/2006/main" noGrp="1"/>
          </p:cNvSpPr>
          <p:nvPr/>
        </p:nvSpPr>
        <p:spPr>
          <a:xfrm xmlns:a="http://schemas.openxmlformats.org/drawingml/2006/main">
            <a:off x="685800" y="36195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1200" b="1" i="0">
                <a:solidFill>
                  <a:srgbClr val="C9924A"/>
                </a:solidFill>
              </a:defRPr>
            </a:pPr>
            <a:r>
              <a:rPr sz="1200" b="1" i="0">
                <a:solidFill>
                  <a:srgbClr val="C9924A"/>
                </a:solidFill>
              </a:rPr>
              <a:t>A WORKING VOCABULARY</a:t>
            </a:r>
          </a:p>
        </p:txBody>
      </p:sp>
      <p:sp>
        <p:nvSpPr>
          <p:cNvPr id="3" name="section-9">
            <a:extLst xmlns:a="http://schemas.openxmlformats.org/drawingml/2006/main">
              <a:ext uri="{FF2B5EF4-FFF2-40B4-BE49-F238E27FC236}">
                <a16:creationId xmlns:a16="http://schemas.microsoft.com/office/drawing/2014/main" id="{D4428D0D-F137-4F82-928D-210315CA2C39}"/>
              </a:ext>
            </a:extLst>
          </p:cNvPr>
          <p:cNvSpPr>
            <a:spLocks xmlns:a="http://schemas.openxmlformats.org/drawingml/2006/main" noGrp="1"/>
          </p:cNvSpPr>
          <p:nvPr/>
        </p:nvSpPr>
        <p:spPr>
          <a:xfrm xmlns:a="http://schemas.openxmlformats.org/drawingml/2006/main">
            <a:off x="685800" y="6429375"/>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1200" b="0" i="0">
                <a:solidFill>
                  <a:srgbClr val="9FB0B9"/>
                </a:solidFill>
              </a:defRPr>
            </a:pPr>
            <a:r>
              <a:rPr sz="1200" b="0" i="0">
                <a:solidFill>
                  <a:srgbClr val="9FB0B9"/>
                </a:solidFill>
              </a:rPr>
              <a:t>DOCUMENTARY FORMS</a:t>
            </a:r>
          </a:p>
        </p:txBody>
      </p:sp>
      <p:sp>
        <p:nvSpPr>
          <p:cNvPr id="4" name="number-9">
            <a:extLst xmlns:a="http://schemas.openxmlformats.org/drawingml/2006/main">
              <a:ext uri="{FF2B5EF4-FFF2-40B4-BE49-F238E27FC236}">
                <a16:creationId xmlns:a16="http://schemas.microsoft.com/office/drawing/2014/main" id="{F83B7E65-2C54-4F16-98D5-0F0012B2EED6}"/>
              </a:ext>
            </a:extLst>
          </p:cNvPr>
          <p:cNvSpPr>
            <a:spLocks xmlns:a="http://schemas.openxmlformats.org/drawingml/2006/main" noGrp="1"/>
          </p:cNvSpPr>
          <p:nvPr/>
        </p:nvSpPr>
        <p:spPr>
          <a:xfrm xmlns:a="http://schemas.openxmlformats.org/drawingml/2006/main">
            <a:off x="11049000" y="640080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lnSpc>
                <a:spcPct val="105000"/>
              </a:lnSpc>
              <a:buNone/>
              <a:defRPr sz="1200" b="1" i="0">
                <a:solidFill>
                  <a:srgbClr val="C9924A"/>
                </a:solidFill>
              </a:defRPr>
            </a:pPr>
            <a:r>
              <a:rPr sz="1200" b="1" i="0">
                <a:solidFill>
                  <a:srgbClr val="C9924A"/>
                </a:solidFill>
              </a:rPr>
              <a:t>09</a:t>
            </a:r>
          </a:p>
        </p:txBody>
      </p:sp>
      <p:sp>
        <p:nvSpPr>
          <p:cNvPr id="5" name="slide-title">
            <a:extLst xmlns:a="http://schemas.openxmlformats.org/drawingml/2006/main">
              <a:ext uri="{FF2B5EF4-FFF2-40B4-BE49-F238E27FC236}">
                <a16:creationId xmlns:a16="http://schemas.microsoft.com/office/drawing/2014/main" id="{866CD278-9E93-44FA-BAF1-F9007E6546AF}"/>
              </a:ext>
            </a:extLst>
          </p:cNvPr>
          <p:cNvSpPr>
            <a:spLocks xmlns:a="http://schemas.openxmlformats.org/drawingml/2006/main" noGrp="1"/>
          </p:cNvSpPr>
          <p:nvPr/>
        </p:nvSpPr>
        <p:spPr>
          <a:xfrm xmlns:a="http://schemas.openxmlformats.org/drawingml/2006/main">
            <a:off x="685800" y="838200"/>
            <a:ext cx="61912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94000"/>
              </a:lnSpc>
              <a:buNone/>
              <a:defRPr sz="3900" b="1" i="0">
                <a:solidFill>
                  <a:srgbClr val="F2EFE8"/>
                </a:solidFill>
              </a:defRPr>
            </a:pPr>
            <a:r>
              <a:rPr sz="3900" b="1" i="0">
                <a:solidFill>
                  <a:srgbClr val="F2EFE8"/>
                </a:solidFill>
              </a:rPr>
              <a:t>Issue-led / expository</a:t>
            </a:r>
          </a:p>
        </p:txBody>
      </p:sp>
      <p:sp>
        <p:nvSpPr>
          <p:cNvPr id="6" name="essence">
            <a:extLst xmlns:a="http://schemas.openxmlformats.org/drawingml/2006/main">
              <a:ext uri="{FF2B5EF4-FFF2-40B4-BE49-F238E27FC236}">
                <a16:creationId xmlns:a16="http://schemas.microsoft.com/office/drawing/2014/main" id="{749D0D0C-FA19-4F7D-BCD6-2ABF26A54363}"/>
              </a:ext>
            </a:extLst>
          </p:cNvPr>
          <p:cNvSpPr>
            <a:spLocks xmlns:a="http://schemas.openxmlformats.org/drawingml/2006/main" noGrp="1"/>
          </p:cNvSpPr>
          <p:nvPr/>
        </p:nvSpPr>
        <p:spPr>
          <a:xfrm xmlns:a="http://schemas.openxmlformats.org/drawingml/2006/main">
            <a:off x="685800" y="2152650"/>
            <a:ext cx="5191125"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2175" b="0" i="1">
                <a:solidFill>
                  <a:srgbClr val="F2EFE8"/>
                </a:solidFill>
              </a:defRPr>
            </a:pPr>
            <a:r>
              <a:rPr sz="2175" b="0" i="1">
                <a:solidFill>
                  <a:srgbClr val="F2EFE8"/>
                </a:solidFill>
              </a:rPr>
              <a:t>Organize evidence and argument so the audience can follow a claim.</a:t>
            </a:r>
          </a:p>
        </p:txBody>
      </p:sp>
      <p:sp>
        <p:nvSpPr>
          <p:cNvPr id="7" name="look-for">
            <a:extLst xmlns:a="http://schemas.openxmlformats.org/drawingml/2006/main">
              <a:ext uri="{FF2B5EF4-FFF2-40B4-BE49-F238E27FC236}">
                <a16:creationId xmlns:a16="http://schemas.microsoft.com/office/drawing/2014/main" id="{03711878-3183-4F96-9A2E-012F6C1FF5C3}"/>
              </a:ext>
            </a:extLst>
          </p:cNvPr>
          <p:cNvSpPr>
            <a:spLocks xmlns:a="http://schemas.openxmlformats.org/drawingml/2006/main" noGrp="1"/>
          </p:cNvSpPr>
          <p:nvPr/>
        </p:nvSpPr>
        <p:spPr>
          <a:xfrm xmlns:a="http://schemas.openxmlformats.org/drawingml/2006/main">
            <a:off x="685800" y="333375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1200" b="1" i="0">
                <a:solidFill>
                  <a:srgbClr val="C9924A"/>
                </a:solidFill>
              </a:defRPr>
            </a:pPr>
            <a:r>
              <a:rPr sz="1200" b="1" i="0">
                <a:solidFill>
                  <a:srgbClr val="C9924A"/>
                </a:solidFill>
              </a:rPr>
              <a:t>LOOK FOR</a:t>
            </a:r>
          </a:p>
        </p:txBody>
      </p:sp>
      <p:sp>
        <p:nvSpPr>
          <p:cNvPr id="8" name="bullet-0">
            <a:extLst xmlns:a="http://schemas.openxmlformats.org/drawingml/2006/main">
              <a:ext uri="{FF2B5EF4-FFF2-40B4-BE49-F238E27FC236}">
                <a16:creationId xmlns:a16="http://schemas.microsoft.com/office/drawing/2014/main" id="{EEC7FC87-166D-4BDF-8F9F-42348B68B9B9}"/>
              </a:ext>
            </a:extLst>
          </p:cNvPr>
          <p:cNvSpPr>
            <a:spLocks xmlns:a="http://schemas.openxmlformats.org/drawingml/2006/main" noGrp="1"/>
          </p:cNvSpPr>
          <p:nvPr/>
        </p:nvSpPr>
        <p:spPr>
          <a:xfrm xmlns:a="http://schemas.openxmlformats.org/drawingml/2006/main">
            <a:off x="685800" y="3790950"/>
            <a:ext cx="95250" cy="95250"/>
          </a:xfrm>
          <a:prstGeom xmlns:a="http://schemas.openxmlformats.org/drawingml/2006/main" prst="rect">
            <a:avLst/>
          </a:prstGeom>
          <a:solidFill xmlns:a="http://schemas.openxmlformats.org/drawingml/2006/main">
            <a:srgbClr val="C9924A"/>
          </a:solidFill>
          <a:ln xmlns:a="http://schemas.openxmlformats.org/drawingml/2006/main" w="0">
            <a:noFill/>
            <a:prstDash val="solid"/>
          </a:ln>
        </p:spPr>
      </p:sp>
      <p:sp>
        <p:nvSpPr>
          <p:cNvPr id="9" name="bullet-text-0">
            <a:extLst xmlns:a="http://schemas.openxmlformats.org/drawingml/2006/main">
              <a:ext uri="{FF2B5EF4-FFF2-40B4-BE49-F238E27FC236}">
                <a16:creationId xmlns:a16="http://schemas.microsoft.com/office/drawing/2014/main" id="{1FD27804-7E5F-414B-82F9-9DBB422B5386}"/>
              </a:ext>
            </a:extLst>
          </p:cNvPr>
          <p:cNvSpPr>
            <a:spLocks xmlns:a="http://schemas.openxmlformats.org/drawingml/2006/main" noGrp="1"/>
          </p:cNvSpPr>
          <p:nvPr/>
        </p:nvSpPr>
        <p:spPr>
          <a:xfrm xmlns:a="http://schemas.openxmlformats.org/drawingml/2006/main">
            <a:off x="952500" y="3695700"/>
            <a:ext cx="49720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2000"/>
              </a:lnSpc>
              <a:buNone/>
              <a:defRPr sz="1575" b="0" i="0">
                <a:solidFill>
                  <a:srgbClr val="D8E0E1"/>
                </a:solidFill>
              </a:defRPr>
            </a:pPr>
            <a:r>
              <a:rPr sz="1575" b="0" i="0">
                <a:solidFill>
                  <a:srgbClr val="D8E0E1"/>
                </a:solidFill>
              </a:rPr>
              <a:t>A governing question or argument</a:t>
            </a:r>
          </a:p>
        </p:txBody>
      </p:sp>
      <p:sp>
        <p:nvSpPr>
          <p:cNvPr id="10" name="bullet-1">
            <a:extLst xmlns:a="http://schemas.openxmlformats.org/drawingml/2006/main">
              <a:ext uri="{FF2B5EF4-FFF2-40B4-BE49-F238E27FC236}">
                <a16:creationId xmlns:a16="http://schemas.microsoft.com/office/drawing/2014/main" id="{F662DECD-E001-471F-81D7-63D3A655345E}"/>
              </a:ext>
            </a:extLst>
          </p:cNvPr>
          <p:cNvSpPr>
            <a:spLocks xmlns:a="http://schemas.openxmlformats.org/drawingml/2006/main" noGrp="1"/>
          </p:cNvSpPr>
          <p:nvPr/>
        </p:nvSpPr>
        <p:spPr>
          <a:xfrm xmlns:a="http://schemas.openxmlformats.org/drawingml/2006/main">
            <a:off x="685800" y="4305300"/>
            <a:ext cx="95250" cy="95250"/>
          </a:xfrm>
          <a:prstGeom xmlns:a="http://schemas.openxmlformats.org/drawingml/2006/main" prst="rect">
            <a:avLst/>
          </a:prstGeom>
          <a:solidFill xmlns:a="http://schemas.openxmlformats.org/drawingml/2006/main">
            <a:srgbClr val="C9924A"/>
          </a:solidFill>
          <a:ln xmlns:a="http://schemas.openxmlformats.org/drawingml/2006/main" w="0">
            <a:noFill/>
            <a:prstDash val="solid"/>
          </a:ln>
        </p:spPr>
      </p:sp>
      <p:sp>
        <p:nvSpPr>
          <p:cNvPr id="11" name="bullet-text-1">
            <a:extLst xmlns:a="http://schemas.openxmlformats.org/drawingml/2006/main">
              <a:ext uri="{FF2B5EF4-FFF2-40B4-BE49-F238E27FC236}">
                <a16:creationId xmlns:a16="http://schemas.microsoft.com/office/drawing/2014/main" id="{6F8FBE54-11A0-448F-993D-958DAFD9A77C}"/>
              </a:ext>
            </a:extLst>
          </p:cNvPr>
          <p:cNvSpPr>
            <a:spLocks xmlns:a="http://schemas.openxmlformats.org/drawingml/2006/main" noGrp="1"/>
          </p:cNvSpPr>
          <p:nvPr/>
        </p:nvSpPr>
        <p:spPr>
          <a:xfrm xmlns:a="http://schemas.openxmlformats.org/drawingml/2006/main">
            <a:off x="952500" y="4210050"/>
            <a:ext cx="49720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2000"/>
              </a:lnSpc>
              <a:buNone/>
              <a:defRPr sz="1575" b="0" i="0">
                <a:solidFill>
                  <a:srgbClr val="D8E0E1"/>
                </a:solidFill>
              </a:defRPr>
            </a:pPr>
            <a:r>
              <a:rPr sz="1575" b="0" i="0">
                <a:solidFill>
                  <a:srgbClr val="D8E0E1"/>
                </a:solidFill>
              </a:rPr>
              <a:t>Interviews, records, archive, or narration</a:t>
            </a:r>
          </a:p>
        </p:txBody>
      </p:sp>
      <p:sp>
        <p:nvSpPr>
          <p:cNvPr id="12" name="bullet-2">
            <a:extLst xmlns:a="http://schemas.openxmlformats.org/drawingml/2006/main">
              <a:ext uri="{FF2B5EF4-FFF2-40B4-BE49-F238E27FC236}">
                <a16:creationId xmlns:a16="http://schemas.microsoft.com/office/drawing/2014/main" id="{92D63935-3FBD-405C-81D5-780C9BDCD1CC}"/>
              </a:ext>
            </a:extLst>
          </p:cNvPr>
          <p:cNvSpPr>
            <a:spLocks xmlns:a="http://schemas.openxmlformats.org/drawingml/2006/main" noGrp="1"/>
          </p:cNvSpPr>
          <p:nvPr/>
        </p:nvSpPr>
        <p:spPr>
          <a:xfrm xmlns:a="http://schemas.openxmlformats.org/drawingml/2006/main">
            <a:off x="685800" y="4819650"/>
            <a:ext cx="95250" cy="95250"/>
          </a:xfrm>
          <a:prstGeom xmlns:a="http://schemas.openxmlformats.org/drawingml/2006/main" prst="rect">
            <a:avLst/>
          </a:prstGeom>
          <a:solidFill xmlns:a="http://schemas.openxmlformats.org/drawingml/2006/main">
            <a:srgbClr val="C9924A"/>
          </a:solidFill>
          <a:ln xmlns:a="http://schemas.openxmlformats.org/drawingml/2006/main" w="0">
            <a:noFill/>
            <a:prstDash val="solid"/>
          </a:ln>
        </p:spPr>
      </p:sp>
      <p:sp>
        <p:nvSpPr>
          <p:cNvPr id="13" name="bullet-text-2">
            <a:extLst xmlns:a="http://schemas.openxmlformats.org/drawingml/2006/main">
              <a:ext uri="{FF2B5EF4-FFF2-40B4-BE49-F238E27FC236}">
                <a16:creationId xmlns:a16="http://schemas.microsoft.com/office/drawing/2014/main" id="{BA603D56-5EF4-4F5A-8016-0EC8FD895D4C}"/>
              </a:ext>
            </a:extLst>
          </p:cNvPr>
          <p:cNvSpPr>
            <a:spLocks xmlns:a="http://schemas.openxmlformats.org/drawingml/2006/main" noGrp="1"/>
          </p:cNvSpPr>
          <p:nvPr/>
        </p:nvSpPr>
        <p:spPr>
          <a:xfrm xmlns:a="http://schemas.openxmlformats.org/drawingml/2006/main">
            <a:off x="952500" y="4724400"/>
            <a:ext cx="49720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2000"/>
              </a:lnSpc>
              <a:buNone/>
              <a:defRPr sz="1575" b="0" i="0">
                <a:solidFill>
                  <a:srgbClr val="D8E0E1"/>
                </a:solidFill>
              </a:defRPr>
            </a:pPr>
            <a:r>
              <a:rPr sz="1575" b="0" i="0">
                <a:solidFill>
                  <a:srgbClr val="D8E0E1"/>
                </a:solidFill>
              </a:rPr>
              <a:t>Evidence arranged for clarity and consequence</a:t>
            </a:r>
          </a:p>
        </p:txBody>
      </p:sp>
      <p:sp>
        <p:nvSpPr>
          <p:cNvPr id="14" name="question">
            <a:extLst xmlns:a="http://schemas.openxmlformats.org/drawingml/2006/main">
              <a:ext uri="{FF2B5EF4-FFF2-40B4-BE49-F238E27FC236}">
                <a16:creationId xmlns:a16="http://schemas.microsoft.com/office/drawing/2014/main" id="{549CA176-C88A-4A56-B159-BDE3E69F7D0E}"/>
              </a:ext>
            </a:extLst>
          </p:cNvPr>
          <p:cNvSpPr>
            <a:spLocks xmlns:a="http://schemas.openxmlformats.org/drawingml/2006/main" noGrp="1"/>
          </p:cNvSpPr>
          <p:nvPr/>
        </p:nvSpPr>
        <p:spPr>
          <a:xfrm xmlns:a="http://schemas.openxmlformats.org/drawingml/2006/main">
            <a:off x="685800" y="5410200"/>
            <a:ext cx="5238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1500" b="1" i="0">
                <a:solidFill>
                  <a:srgbClr val="C9924A"/>
                </a:solidFill>
              </a:defRPr>
            </a:pPr>
            <a:r>
              <a:rPr sz="1500" b="1" i="0">
                <a:solidFill>
                  <a:srgbClr val="C9924A"/>
                </a:solidFill>
              </a:rPr>
              <a:t>What must the audience understand—and why now?</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97ac3d5cb59746e6"/>
          <a:srcRect xmlns:a="http://schemas.openxmlformats.org/drawingml/2006/main" l="4643" t="0" r="4643" b="0"/>
          <a:stretch xmlns:a="http://schemas.openxmlformats.org/drawingml/2006/main">
            <a:fillRect l="0" t="0" r="0" b="0"/>
          </a:stretch>
        </p:blipFill>
        <p:spPr>
          <a:xfrm xmlns:a="http://schemas.openxmlformats.org/drawingml/2006/main">
            <a:off x="6667500" y="685800"/>
            <a:ext cx="4838700" cy="5334000"/>
          </a:xfrm>
          <a:prstGeom xmlns:a="http://schemas.openxmlformats.org/drawingml/2006/main" prst="rect">
            <a:avLst/>
          </a:prstGeom>
        </p:spPr>
      </p:pic>
      <p:sp>
        <p:nvSpPr>
          <p:cNvPr id="16" name="image-rule">
            <a:extLst xmlns:a="http://schemas.openxmlformats.org/drawingml/2006/main">
              <a:ext uri="{FF2B5EF4-FFF2-40B4-BE49-F238E27FC236}">
                <a16:creationId xmlns:a16="http://schemas.microsoft.com/office/drawing/2014/main" id="{6DA9F3AB-1465-4AB9-B224-00F6E1F13D60}"/>
              </a:ext>
            </a:extLst>
          </p:cNvPr>
          <p:cNvSpPr>
            <a:spLocks xmlns:a="http://schemas.openxmlformats.org/drawingml/2006/main" noGrp="1"/>
          </p:cNvSpPr>
          <p:nvPr/>
        </p:nvSpPr>
        <p:spPr>
          <a:xfrm xmlns:a="http://schemas.openxmlformats.org/drawingml/2006/main">
            <a:off x="6477000" y="685800"/>
            <a:ext cx="76200" cy="5334000"/>
          </a:xfrm>
          <a:prstGeom xmlns:a="http://schemas.openxmlformats.org/drawingml/2006/main" prst="rect">
            <a:avLst/>
          </a:prstGeom>
          <a:solidFill xmlns:a="http://schemas.openxmlformats.org/drawingml/2006/main">
            <a:srgbClr val="2D6675"/>
          </a:solidFill>
          <a:ln xmlns:a="http://schemas.openxmlformats.org/drawingml/2006/main" w="0">
            <a:noFill/>
            <a:prstDash val="solid"/>
          </a:ln>
        </p:spPr>
      </p:sp>
    </p:spTree>
    <p:extLst>
      <p:ext uri="{BB962C8B-B14F-4D97-AF65-F5344CB8AC3E}">
        <p14:creationId xmlns:p14="http://schemas.microsoft.com/office/powerpoint/2010/main" val="2000254607"/>
      </p:ext>
    </p:extLst>
  </p:cSld>
</p:sld>
</file>

<file path=ppt/slides/slide10.xml><?xml version="1.0" encoding="utf-8"?>
<p:sld xmlns:p="http://schemas.openxmlformats.org/presentationml/2006/main">
  <p:cSld>
    <p:bg>
      <p:bgPr>
        <a:solidFill xmlns:a="http://schemas.openxmlformats.org/drawingml/2006/main">
          <a:srgbClr val="081116"/>
        </a:solidFill>
      </p:bgPr>
    </p:bg>
    <p:spTree>
      <p:nvGrpSpPr>
        <p:cNvPr id="1" name=""/>
        <p:cNvGrpSpPr/>
        <p:nvPr/>
      </p:nvGrpSpPr>
      <p:grpSpPr>
        <a:xfrm xmlns:a="http://schemas.openxmlformats.org/drawingml/2006/main"/>
      </p:grpSpPr>
      <p:sp>
        <p:nvSpPr>
          <p:cNvPr id="17" name="accent-10">
            <a:extLst xmlns:a="http://schemas.openxmlformats.org/drawingml/2006/main">
              <a:ext uri="{FF2B5EF4-FFF2-40B4-BE49-F238E27FC236}">
                <a16:creationId xmlns:a16="http://schemas.microsoft.com/office/drawing/2014/main" id="{859D2C60-0D6E-4F36-8D02-D47FE13E4BA7}"/>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C9924A"/>
          </a:solidFill>
          <a:ln xmlns:a="http://schemas.openxmlformats.org/drawingml/2006/main" w="0">
            <a:noFill/>
            <a:prstDash val="solid"/>
          </a:ln>
        </p:spPr>
      </p:sp>
      <p:sp>
        <p:nvSpPr>
          <p:cNvPr id="2" name="eyebrow-10">
            <a:extLst xmlns:a="http://schemas.openxmlformats.org/drawingml/2006/main">
              <a:ext uri="{FF2B5EF4-FFF2-40B4-BE49-F238E27FC236}">
                <a16:creationId xmlns:a16="http://schemas.microsoft.com/office/drawing/2014/main" id="{62C81534-5717-4A8B-A723-542CD4E5402D}"/>
              </a:ext>
            </a:extLst>
          </p:cNvPr>
          <p:cNvSpPr>
            <a:spLocks xmlns:a="http://schemas.openxmlformats.org/drawingml/2006/main" noGrp="1"/>
          </p:cNvSpPr>
          <p:nvPr/>
        </p:nvSpPr>
        <p:spPr>
          <a:xfrm xmlns:a="http://schemas.openxmlformats.org/drawingml/2006/main">
            <a:off x="685800" y="36195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1200" b="1" i="0">
                <a:solidFill>
                  <a:srgbClr val="C9924A"/>
                </a:solidFill>
              </a:defRPr>
            </a:pPr>
            <a:r>
              <a:rPr sz="1200" b="1" i="0">
                <a:solidFill>
                  <a:srgbClr val="C9924A"/>
                </a:solidFill>
              </a:rPr>
              <a:t>A WORKING VOCABULARY</a:t>
            </a:r>
          </a:p>
        </p:txBody>
      </p:sp>
      <p:sp>
        <p:nvSpPr>
          <p:cNvPr id="3" name="section-10">
            <a:extLst xmlns:a="http://schemas.openxmlformats.org/drawingml/2006/main">
              <a:ext uri="{FF2B5EF4-FFF2-40B4-BE49-F238E27FC236}">
                <a16:creationId xmlns:a16="http://schemas.microsoft.com/office/drawing/2014/main" id="{CEA2CB58-9750-4294-8B4A-40B313C4C65B}"/>
              </a:ext>
            </a:extLst>
          </p:cNvPr>
          <p:cNvSpPr>
            <a:spLocks xmlns:a="http://schemas.openxmlformats.org/drawingml/2006/main" noGrp="1"/>
          </p:cNvSpPr>
          <p:nvPr/>
        </p:nvSpPr>
        <p:spPr>
          <a:xfrm xmlns:a="http://schemas.openxmlformats.org/drawingml/2006/main">
            <a:off x="685800" y="6429375"/>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1200" b="0" i="0">
                <a:solidFill>
                  <a:srgbClr val="9FB0B9"/>
                </a:solidFill>
              </a:defRPr>
            </a:pPr>
            <a:r>
              <a:rPr sz="1200" b="0" i="0">
                <a:solidFill>
                  <a:srgbClr val="9FB0B9"/>
                </a:solidFill>
              </a:rPr>
              <a:t>DOCUMENTARY FORMS</a:t>
            </a:r>
          </a:p>
        </p:txBody>
      </p:sp>
      <p:sp>
        <p:nvSpPr>
          <p:cNvPr id="4" name="number-10">
            <a:extLst xmlns:a="http://schemas.openxmlformats.org/drawingml/2006/main">
              <a:ext uri="{FF2B5EF4-FFF2-40B4-BE49-F238E27FC236}">
                <a16:creationId xmlns:a16="http://schemas.microsoft.com/office/drawing/2014/main" id="{B388B1BD-02C4-496B-A837-5DF1A75BA019}"/>
              </a:ext>
            </a:extLst>
          </p:cNvPr>
          <p:cNvSpPr>
            <a:spLocks xmlns:a="http://schemas.openxmlformats.org/drawingml/2006/main" noGrp="1"/>
          </p:cNvSpPr>
          <p:nvPr/>
        </p:nvSpPr>
        <p:spPr>
          <a:xfrm xmlns:a="http://schemas.openxmlformats.org/drawingml/2006/main">
            <a:off x="11049000" y="640080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lnSpc>
                <a:spcPct val="105000"/>
              </a:lnSpc>
              <a:buNone/>
              <a:defRPr sz="1200" b="1" i="0">
                <a:solidFill>
                  <a:srgbClr val="C9924A"/>
                </a:solidFill>
              </a:defRPr>
            </a:pPr>
            <a:r>
              <a:rPr sz="1200" b="1" i="0">
                <a:solidFill>
                  <a:srgbClr val="C9924A"/>
                </a:solidFill>
              </a:rPr>
              <a:t>10</a:t>
            </a:r>
          </a:p>
        </p:txBody>
      </p:sp>
      <p:sp>
        <p:nvSpPr>
          <p:cNvPr id="5" name="slide-title">
            <a:extLst xmlns:a="http://schemas.openxmlformats.org/drawingml/2006/main">
              <a:ext uri="{FF2B5EF4-FFF2-40B4-BE49-F238E27FC236}">
                <a16:creationId xmlns:a16="http://schemas.microsoft.com/office/drawing/2014/main" id="{1F3F99C8-40F9-45C5-A29A-79C6B26B0391}"/>
              </a:ext>
            </a:extLst>
          </p:cNvPr>
          <p:cNvSpPr>
            <a:spLocks xmlns:a="http://schemas.openxmlformats.org/drawingml/2006/main" noGrp="1"/>
          </p:cNvSpPr>
          <p:nvPr/>
        </p:nvSpPr>
        <p:spPr>
          <a:xfrm xmlns:a="http://schemas.openxmlformats.org/drawingml/2006/main">
            <a:off x="685800" y="838200"/>
            <a:ext cx="61912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94000"/>
              </a:lnSpc>
              <a:buNone/>
              <a:defRPr sz="3900" b="1" i="0">
                <a:solidFill>
                  <a:srgbClr val="F2EFE8"/>
                </a:solidFill>
              </a:defRPr>
            </a:pPr>
            <a:r>
              <a:rPr sz="3900" b="1" i="0">
                <a:solidFill>
                  <a:srgbClr val="F2EFE8"/>
                </a:solidFill>
              </a:rPr>
              <a:t>Participatory</a:t>
            </a:r>
          </a:p>
        </p:txBody>
      </p:sp>
      <p:sp>
        <p:nvSpPr>
          <p:cNvPr id="6" name="essence">
            <a:extLst xmlns:a="http://schemas.openxmlformats.org/drawingml/2006/main">
              <a:ext uri="{FF2B5EF4-FFF2-40B4-BE49-F238E27FC236}">
                <a16:creationId xmlns:a16="http://schemas.microsoft.com/office/drawing/2014/main" id="{FA0A6C0D-8E20-43CD-AC7D-012A9E84E47F}"/>
              </a:ext>
            </a:extLst>
          </p:cNvPr>
          <p:cNvSpPr>
            <a:spLocks xmlns:a="http://schemas.openxmlformats.org/drawingml/2006/main" noGrp="1"/>
          </p:cNvSpPr>
          <p:nvPr/>
        </p:nvSpPr>
        <p:spPr>
          <a:xfrm xmlns:a="http://schemas.openxmlformats.org/drawingml/2006/main">
            <a:off x="685800" y="2152650"/>
            <a:ext cx="5191125"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2175" b="0" i="1">
                <a:solidFill>
                  <a:srgbClr val="F2EFE8"/>
                </a:solidFill>
              </a:defRPr>
            </a:pPr>
            <a:r>
              <a:rPr sz="2175" b="0" i="1">
                <a:solidFill>
                  <a:srgbClr val="F2EFE8"/>
                </a:solidFill>
              </a:rPr>
              <a:t>Let the encounter between filmmaker and contributor become part of the film.</a:t>
            </a:r>
          </a:p>
        </p:txBody>
      </p:sp>
      <p:sp>
        <p:nvSpPr>
          <p:cNvPr id="7" name="look-for">
            <a:extLst xmlns:a="http://schemas.openxmlformats.org/drawingml/2006/main">
              <a:ext uri="{FF2B5EF4-FFF2-40B4-BE49-F238E27FC236}">
                <a16:creationId xmlns:a16="http://schemas.microsoft.com/office/drawing/2014/main" id="{6AD8E0BA-01DB-4C30-87E6-2A464FAAC4F3}"/>
              </a:ext>
            </a:extLst>
          </p:cNvPr>
          <p:cNvSpPr>
            <a:spLocks xmlns:a="http://schemas.openxmlformats.org/drawingml/2006/main" noGrp="1"/>
          </p:cNvSpPr>
          <p:nvPr/>
        </p:nvSpPr>
        <p:spPr>
          <a:xfrm xmlns:a="http://schemas.openxmlformats.org/drawingml/2006/main">
            <a:off x="685800" y="333375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1200" b="1" i="0">
                <a:solidFill>
                  <a:srgbClr val="C9924A"/>
                </a:solidFill>
              </a:defRPr>
            </a:pPr>
            <a:r>
              <a:rPr sz="1200" b="1" i="0">
                <a:solidFill>
                  <a:srgbClr val="C9924A"/>
                </a:solidFill>
              </a:rPr>
              <a:t>LOOK FOR</a:t>
            </a:r>
          </a:p>
        </p:txBody>
      </p:sp>
      <p:sp>
        <p:nvSpPr>
          <p:cNvPr id="8" name="bullet-0">
            <a:extLst xmlns:a="http://schemas.openxmlformats.org/drawingml/2006/main">
              <a:ext uri="{FF2B5EF4-FFF2-40B4-BE49-F238E27FC236}">
                <a16:creationId xmlns:a16="http://schemas.microsoft.com/office/drawing/2014/main" id="{D22ED46E-B3D6-48D9-92BA-B679791AB9E8}"/>
              </a:ext>
            </a:extLst>
          </p:cNvPr>
          <p:cNvSpPr>
            <a:spLocks xmlns:a="http://schemas.openxmlformats.org/drawingml/2006/main" noGrp="1"/>
          </p:cNvSpPr>
          <p:nvPr/>
        </p:nvSpPr>
        <p:spPr>
          <a:xfrm xmlns:a="http://schemas.openxmlformats.org/drawingml/2006/main">
            <a:off x="685800" y="3790950"/>
            <a:ext cx="95250" cy="95250"/>
          </a:xfrm>
          <a:prstGeom xmlns:a="http://schemas.openxmlformats.org/drawingml/2006/main" prst="rect">
            <a:avLst/>
          </a:prstGeom>
          <a:solidFill xmlns:a="http://schemas.openxmlformats.org/drawingml/2006/main">
            <a:srgbClr val="C9924A"/>
          </a:solidFill>
          <a:ln xmlns:a="http://schemas.openxmlformats.org/drawingml/2006/main" w="0">
            <a:noFill/>
            <a:prstDash val="solid"/>
          </a:ln>
        </p:spPr>
      </p:sp>
      <p:sp>
        <p:nvSpPr>
          <p:cNvPr id="9" name="bullet-text-0">
            <a:extLst xmlns:a="http://schemas.openxmlformats.org/drawingml/2006/main">
              <a:ext uri="{FF2B5EF4-FFF2-40B4-BE49-F238E27FC236}">
                <a16:creationId xmlns:a16="http://schemas.microsoft.com/office/drawing/2014/main" id="{E9646677-B856-46E5-9AE9-0DB1EE7C337A}"/>
              </a:ext>
            </a:extLst>
          </p:cNvPr>
          <p:cNvSpPr>
            <a:spLocks xmlns:a="http://schemas.openxmlformats.org/drawingml/2006/main" noGrp="1"/>
          </p:cNvSpPr>
          <p:nvPr/>
        </p:nvSpPr>
        <p:spPr>
          <a:xfrm xmlns:a="http://schemas.openxmlformats.org/drawingml/2006/main">
            <a:off x="952500" y="3695700"/>
            <a:ext cx="49720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2000"/>
              </a:lnSpc>
              <a:buNone/>
              <a:defRPr sz="1575" b="0" i="0">
                <a:solidFill>
                  <a:srgbClr val="D8E0E1"/>
                </a:solidFill>
              </a:defRPr>
            </a:pPr>
            <a:r>
              <a:rPr sz="1575" b="0" i="0">
                <a:solidFill>
                  <a:srgbClr val="D8E0E1"/>
                </a:solidFill>
              </a:rPr>
              <a:t>Questions, exchanges, or collaboration</a:t>
            </a:r>
          </a:p>
        </p:txBody>
      </p:sp>
      <p:sp>
        <p:nvSpPr>
          <p:cNvPr id="10" name="bullet-1">
            <a:extLst xmlns:a="http://schemas.openxmlformats.org/drawingml/2006/main">
              <a:ext uri="{FF2B5EF4-FFF2-40B4-BE49-F238E27FC236}">
                <a16:creationId xmlns:a16="http://schemas.microsoft.com/office/drawing/2014/main" id="{26F9BCA4-F4D7-406E-A9E5-43194A723F65}"/>
              </a:ext>
            </a:extLst>
          </p:cNvPr>
          <p:cNvSpPr>
            <a:spLocks xmlns:a="http://schemas.openxmlformats.org/drawingml/2006/main" noGrp="1"/>
          </p:cNvSpPr>
          <p:nvPr/>
        </p:nvSpPr>
        <p:spPr>
          <a:xfrm xmlns:a="http://schemas.openxmlformats.org/drawingml/2006/main">
            <a:off x="685800" y="4305300"/>
            <a:ext cx="95250" cy="95250"/>
          </a:xfrm>
          <a:prstGeom xmlns:a="http://schemas.openxmlformats.org/drawingml/2006/main" prst="rect">
            <a:avLst/>
          </a:prstGeom>
          <a:solidFill xmlns:a="http://schemas.openxmlformats.org/drawingml/2006/main">
            <a:srgbClr val="C9924A"/>
          </a:solidFill>
          <a:ln xmlns:a="http://schemas.openxmlformats.org/drawingml/2006/main" w="0">
            <a:noFill/>
            <a:prstDash val="solid"/>
          </a:ln>
        </p:spPr>
      </p:sp>
      <p:sp>
        <p:nvSpPr>
          <p:cNvPr id="11" name="bullet-text-1">
            <a:extLst xmlns:a="http://schemas.openxmlformats.org/drawingml/2006/main">
              <a:ext uri="{FF2B5EF4-FFF2-40B4-BE49-F238E27FC236}">
                <a16:creationId xmlns:a16="http://schemas.microsoft.com/office/drawing/2014/main" id="{EF6D95EA-A5EA-4D80-B57B-92F70F394158}"/>
              </a:ext>
            </a:extLst>
          </p:cNvPr>
          <p:cNvSpPr>
            <a:spLocks xmlns:a="http://schemas.openxmlformats.org/drawingml/2006/main" noGrp="1"/>
          </p:cNvSpPr>
          <p:nvPr/>
        </p:nvSpPr>
        <p:spPr>
          <a:xfrm xmlns:a="http://schemas.openxmlformats.org/drawingml/2006/main">
            <a:off x="952500" y="4210050"/>
            <a:ext cx="49720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2000"/>
              </a:lnSpc>
              <a:buNone/>
              <a:defRPr sz="1575" b="0" i="0">
                <a:solidFill>
                  <a:srgbClr val="D8E0E1"/>
                </a:solidFill>
              </a:defRPr>
            </a:pPr>
            <a:r>
              <a:rPr sz="1575" b="0" i="0">
                <a:solidFill>
                  <a:srgbClr val="D8E0E1"/>
                </a:solidFill>
              </a:rPr>
              <a:t>The filmmaker’s presence affects events</a:t>
            </a:r>
          </a:p>
        </p:txBody>
      </p:sp>
      <p:sp>
        <p:nvSpPr>
          <p:cNvPr id="12" name="bullet-2">
            <a:extLst xmlns:a="http://schemas.openxmlformats.org/drawingml/2006/main">
              <a:ext uri="{FF2B5EF4-FFF2-40B4-BE49-F238E27FC236}">
                <a16:creationId xmlns:a16="http://schemas.microsoft.com/office/drawing/2014/main" id="{4EF96FE7-DCCD-44C5-87D9-7DCB1332BFFB}"/>
              </a:ext>
            </a:extLst>
          </p:cNvPr>
          <p:cNvSpPr>
            <a:spLocks xmlns:a="http://schemas.openxmlformats.org/drawingml/2006/main" noGrp="1"/>
          </p:cNvSpPr>
          <p:nvPr/>
        </p:nvSpPr>
        <p:spPr>
          <a:xfrm xmlns:a="http://schemas.openxmlformats.org/drawingml/2006/main">
            <a:off x="685800" y="4819650"/>
            <a:ext cx="95250" cy="95250"/>
          </a:xfrm>
          <a:prstGeom xmlns:a="http://schemas.openxmlformats.org/drawingml/2006/main" prst="rect">
            <a:avLst/>
          </a:prstGeom>
          <a:solidFill xmlns:a="http://schemas.openxmlformats.org/drawingml/2006/main">
            <a:srgbClr val="C9924A"/>
          </a:solidFill>
          <a:ln xmlns:a="http://schemas.openxmlformats.org/drawingml/2006/main" w="0">
            <a:noFill/>
            <a:prstDash val="solid"/>
          </a:ln>
        </p:spPr>
      </p:sp>
      <p:sp>
        <p:nvSpPr>
          <p:cNvPr id="13" name="bullet-text-2">
            <a:extLst xmlns:a="http://schemas.openxmlformats.org/drawingml/2006/main">
              <a:ext uri="{FF2B5EF4-FFF2-40B4-BE49-F238E27FC236}">
                <a16:creationId xmlns:a16="http://schemas.microsoft.com/office/drawing/2014/main" id="{D946D540-8EF1-41AE-8AC7-BEF2E132A069}"/>
              </a:ext>
            </a:extLst>
          </p:cNvPr>
          <p:cNvSpPr>
            <a:spLocks xmlns:a="http://schemas.openxmlformats.org/drawingml/2006/main" noGrp="1"/>
          </p:cNvSpPr>
          <p:nvPr/>
        </p:nvSpPr>
        <p:spPr>
          <a:xfrm xmlns:a="http://schemas.openxmlformats.org/drawingml/2006/main">
            <a:off x="952500" y="4724400"/>
            <a:ext cx="49720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2000"/>
              </a:lnSpc>
              <a:buNone/>
              <a:defRPr sz="1575" b="0" i="0">
                <a:solidFill>
                  <a:srgbClr val="D8E0E1"/>
                </a:solidFill>
              </a:defRPr>
            </a:pPr>
            <a:r>
              <a:rPr sz="1575" b="0" i="0">
                <a:solidFill>
                  <a:srgbClr val="D8E0E1"/>
                </a:solidFill>
              </a:rPr>
              <a:t>Knowledge emerges through relationship</a:t>
            </a:r>
          </a:p>
        </p:txBody>
      </p:sp>
      <p:sp>
        <p:nvSpPr>
          <p:cNvPr id="14" name="question">
            <a:extLst xmlns:a="http://schemas.openxmlformats.org/drawingml/2006/main">
              <a:ext uri="{FF2B5EF4-FFF2-40B4-BE49-F238E27FC236}">
                <a16:creationId xmlns:a16="http://schemas.microsoft.com/office/drawing/2014/main" id="{E977BC89-21A0-4EFC-964F-D46A3E4DD09C}"/>
              </a:ext>
            </a:extLst>
          </p:cNvPr>
          <p:cNvSpPr>
            <a:spLocks xmlns:a="http://schemas.openxmlformats.org/drawingml/2006/main" noGrp="1"/>
          </p:cNvSpPr>
          <p:nvPr/>
        </p:nvSpPr>
        <p:spPr>
          <a:xfrm xmlns:a="http://schemas.openxmlformats.org/drawingml/2006/main">
            <a:off x="685800" y="5410200"/>
            <a:ext cx="5238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1500" b="1" i="0">
                <a:solidFill>
                  <a:srgbClr val="C9924A"/>
                </a:solidFill>
              </a:defRPr>
            </a:pPr>
            <a:r>
              <a:rPr sz="1500" b="1" i="0">
                <a:solidFill>
                  <a:srgbClr val="C9924A"/>
                </a:solidFill>
              </a:rPr>
              <a:t>What does the encounter reveal?</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cda343b2ff034d65"/>
          <a:srcRect xmlns:a="http://schemas.openxmlformats.org/drawingml/2006/main" l="4643" t="0" r="4643" b="0"/>
          <a:stretch xmlns:a="http://schemas.openxmlformats.org/drawingml/2006/main">
            <a:fillRect l="0" t="0" r="0" b="0"/>
          </a:stretch>
        </p:blipFill>
        <p:spPr>
          <a:xfrm xmlns:a="http://schemas.openxmlformats.org/drawingml/2006/main">
            <a:off x="6667500" y="685800"/>
            <a:ext cx="4838700" cy="5334000"/>
          </a:xfrm>
          <a:prstGeom xmlns:a="http://schemas.openxmlformats.org/drawingml/2006/main" prst="rect">
            <a:avLst/>
          </a:prstGeom>
        </p:spPr>
      </p:pic>
      <p:sp>
        <p:nvSpPr>
          <p:cNvPr id="16" name="image-rule">
            <a:extLst xmlns:a="http://schemas.openxmlformats.org/drawingml/2006/main">
              <a:ext uri="{FF2B5EF4-FFF2-40B4-BE49-F238E27FC236}">
                <a16:creationId xmlns:a16="http://schemas.microsoft.com/office/drawing/2014/main" id="{614CF7CC-DAA0-479E-B141-40E059B53FF4}"/>
              </a:ext>
            </a:extLst>
          </p:cNvPr>
          <p:cNvSpPr>
            <a:spLocks xmlns:a="http://schemas.openxmlformats.org/drawingml/2006/main" noGrp="1"/>
          </p:cNvSpPr>
          <p:nvPr/>
        </p:nvSpPr>
        <p:spPr>
          <a:xfrm xmlns:a="http://schemas.openxmlformats.org/drawingml/2006/main">
            <a:off x="6477000" y="685800"/>
            <a:ext cx="76200" cy="5334000"/>
          </a:xfrm>
          <a:prstGeom xmlns:a="http://schemas.openxmlformats.org/drawingml/2006/main" prst="rect">
            <a:avLst/>
          </a:prstGeom>
          <a:solidFill xmlns:a="http://schemas.openxmlformats.org/drawingml/2006/main">
            <a:srgbClr val="2D6675"/>
          </a:solidFill>
          <a:ln xmlns:a="http://schemas.openxmlformats.org/drawingml/2006/main" w="0">
            <a:noFill/>
            <a:prstDash val="solid"/>
          </a:ln>
        </p:spPr>
      </p:sp>
    </p:spTree>
    <p:extLst>
      <p:ext uri="{BB962C8B-B14F-4D97-AF65-F5344CB8AC3E}">
        <p14:creationId xmlns:p14="http://schemas.microsoft.com/office/powerpoint/2010/main" val="814478176"/>
      </p:ext>
    </p:extLst>
  </p:cSld>
</p:sld>
</file>

<file path=ppt/slides/slide11.xml><?xml version="1.0" encoding="utf-8"?>
<p:sld xmlns:p="http://schemas.openxmlformats.org/presentationml/2006/main">
  <p:cSld>
    <p:bg>
      <p:bgPr>
        <a:solidFill xmlns:a="http://schemas.openxmlformats.org/drawingml/2006/main">
          <a:srgbClr val="081116"/>
        </a:solidFill>
      </p:bgPr>
    </p:bg>
    <p:spTree>
      <p:nvGrpSpPr>
        <p:cNvPr id="1" name=""/>
        <p:cNvGrpSpPr/>
        <p:nvPr/>
      </p:nvGrpSpPr>
      <p:grpSpPr>
        <a:xfrm xmlns:a="http://schemas.openxmlformats.org/drawingml/2006/main"/>
      </p:grpSpPr>
      <p:sp>
        <p:nvSpPr>
          <p:cNvPr id="17" name="accent-11">
            <a:extLst xmlns:a="http://schemas.openxmlformats.org/drawingml/2006/main">
              <a:ext uri="{FF2B5EF4-FFF2-40B4-BE49-F238E27FC236}">
                <a16:creationId xmlns:a16="http://schemas.microsoft.com/office/drawing/2014/main" id="{956E9A73-3D5C-4EB5-A81D-67A37F8C47D2}"/>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C9924A"/>
          </a:solidFill>
          <a:ln xmlns:a="http://schemas.openxmlformats.org/drawingml/2006/main" w="0">
            <a:noFill/>
            <a:prstDash val="solid"/>
          </a:ln>
        </p:spPr>
      </p:sp>
      <p:sp>
        <p:nvSpPr>
          <p:cNvPr id="2" name="eyebrow-11">
            <a:extLst xmlns:a="http://schemas.openxmlformats.org/drawingml/2006/main">
              <a:ext uri="{FF2B5EF4-FFF2-40B4-BE49-F238E27FC236}">
                <a16:creationId xmlns:a16="http://schemas.microsoft.com/office/drawing/2014/main" id="{2D34B667-09B5-4884-8465-7159B2D04363}"/>
              </a:ext>
            </a:extLst>
          </p:cNvPr>
          <p:cNvSpPr>
            <a:spLocks xmlns:a="http://schemas.openxmlformats.org/drawingml/2006/main" noGrp="1"/>
          </p:cNvSpPr>
          <p:nvPr/>
        </p:nvSpPr>
        <p:spPr>
          <a:xfrm xmlns:a="http://schemas.openxmlformats.org/drawingml/2006/main">
            <a:off x="685800" y="36195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1200" b="1" i="0">
                <a:solidFill>
                  <a:srgbClr val="C9924A"/>
                </a:solidFill>
              </a:defRPr>
            </a:pPr>
            <a:r>
              <a:rPr sz="1200" b="1" i="0">
                <a:solidFill>
                  <a:srgbClr val="C9924A"/>
                </a:solidFill>
              </a:rPr>
              <a:t>A WORKING VOCABULARY</a:t>
            </a:r>
          </a:p>
        </p:txBody>
      </p:sp>
      <p:sp>
        <p:nvSpPr>
          <p:cNvPr id="3" name="section-11">
            <a:extLst xmlns:a="http://schemas.openxmlformats.org/drawingml/2006/main">
              <a:ext uri="{FF2B5EF4-FFF2-40B4-BE49-F238E27FC236}">
                <a16:creationId xmlns:a16="http://schemas.microsoft.com/office/drawing/2014/main" id="{5F5099C5-5E27-4D68-9D9D-4C2564437121}"/>
              </a:ext>
            </a:extLst>
          </p:cNvPr>
          <p:cNvSpPr>
            <a:spLocks xmlns:a="http://schemas.openxmlformats.org/drawingml/2006/main" noGrp="1"/>
          </p:cNvSpPr>
          <p:nvPr/>
        </p:nvSpPr>
        <p:spPr>
          <a:xfrm xmlns:a="http://schemas.openxmlformats.org/drawingml/2006/main">
            <a:off x="685800" y="6429375"/>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1200" b="0" i="0">
                <a:solidFill>
                  <a:srgbClr val="9FB0B9"/>
                </a:solidFill>
              </a:defRPr>
            </a:pPr>
            <a:r>
              <a:rPr sz="1200" b="0" i="0">
                <a:solidFill>
                  <a:srgbClr val="9FB0B9"/>
                </a:solidFill>
              </a:rPr>
              <a:t>DOCUMENTARY FORMS</a:t>
            </a:r>
          </a:p>
        </p:txBody>
      </p:sp>
      <p:sp>
        <p:nvSpPr>
          <p:cNvPr id="4" name="number-11">
            <a:extLst xmlns:a="http://schemas.openxmlformats.org/drawingml/2006/main">
              <a:ext uri="{FF2B5EF4-FFF2-40B4-BE49-F238E27FC236}">
                <a16:creationId xmlns:a16="http://schemas.microsoft.com/office/drawing/2014/main" id="{1B3DF297-D71F-401F-80BA-115ECF6625BD}"/>
              </a:ext>
            </a:extLst>
          </p:cNvPr>
          <p:cNvSpPr>
            <a:spLocks xmlns:a="http://schemas.openxmlformats.org/drawingml/2006/main" noGrp="1"/>
          </p:cNvSpPr>
          <p:nvPr/>
        </p:nvSpPr>
        <p:spPr>
          <a:xfrm xmlns:a="http://schemas.openxmlformats.org/drawingml/2006/main">
            <a:off x="11049000" y="640080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lnSpc>
                <a:spcPct val="105000"/>
              </a:lnSpc>
              <a:buNone/>
              <a:defRPr sz="1200" b="1" i="0">
                <a:solidFill>
                  <a:srgbClr val="C9924A"/>
                </a:solidFill>
              </a:defRPr>
            </a:pPr>
            <a:r>
              <a:rPr sz="1200" b="1" i="0">
                <a:solidFill>
                  <a:srgbClr val="C9924A"/>
                </a:solidFill>
              </a:rPr>
              <a:t>11</a:t>
            </a:r>
          </a:p>
        </p:txBody>
      </p:sp>
      <p:sp>
        <p:nvSpPr>
          <p:cNvPr id="5" name="slide-title">
            <a:extLst xmlns:a="http://schemas.openxmlformats.org/drawingml/2006/main">
              <a:ext uri="{FF2B5EF4-FFF2-40B4-BE49-F238E27FC236}">
                <a16:creationId xmlns:a16="http://schemas.microsoft.com/office/drawing/2014/main" id="{66973E9F-8333-44AB-8C01-F148FB14A878}"/>
              </a:ext>
            </a:extLst>
          </p:cNvPr>
          <p:cNvSpPr>
            <a:spLocks xmlns:a="http://schemas.openxmlformats.org/drawingml/2006/main" noGrp="1"/>
          </p:cNvSpPr>
          <p:nvPr/>
        </p:nvSpPr>
        <p:spPr>
          <a:xfrm xmlns:a="http://schemas.openxmlformats.org/drawingml/2006/main">
            <a:off x="685800" y="838200"/>
            <a:ext cx="61912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94000"/>
              </a:lnSpc>
              <a:buNone/>
              <a:defRPr sz="3900" b="1" i="0">
                <a:solidFill>
                  <a:srgbClr val="F2EFE8"/>
                </a:solidFill>
              </a:defRPr>
            </a:pPr>
            <a:r>
              <a:rPr sz="3900" b="1" i="0">
                <a:solidFill>
                  <a:srgbClr val="F2EFE8"/>
                </a:solidFill>
              </a:rPr>
              <a:t>Reflexive</a:t>
            </a:r>
          </a:p>
        </p:txBody>
      </p:sp>
      <p:sp>
        <p:nvSpPr>
          <p:cNvPr id="6" name="essence">
            <a:extLst xmlns:a="http://schemas.openxmlformats.org/drawingml/2006/main">
              <a:ext uri="{FF2B5EF4-FFF2-40B4-BE49-F238E27FC236}">
                <a16:creationId xmlns:a16="http://schemas.microsoft.com/office/drawing/2014/main" id="{9BE98F6E-7A37-4FC1-A7D7-A2ADA1CD7DB2}"/>
              </a:ext>
            </a:extLst>
          </p:cNvPr>
          <p:cNvSpPr>
            <a:spLocks xmlns:a="http://schemas.openxmlformats.org/drawingml/2006/main" noGrp="1"/>
          </p:cNvSpPr>
          <p:nvPr/>
        </p:nvSpPr>
        <p:spPr>
          <a:xfrm xmlns:a="http://schemas.openxmlformats.org/drawingml/2006/main">
            <a:off x="685800" y="2152650"/>
            <a:ext cx="5191125"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2175" b="0" i="1">
                <a:solidFill>
                  <a:srgbClr val="F2EFE8"/>
                </a:solidFill>
              </a:defRPr>
            </a:pPr>
            <a:r>
              <a:rPr sz="2175" b="0" i="1">
                <a:solidFill>
                  <a:srgbClr val="F2EFE8"/>
                </a:solidFill>
              </a:rPr>
              <a:t>Make the process, construction, or uncertainty of documentary visible.</a:t>
            </a:r>
          </a:p>
        </p:txBody>
      </p:sp>
      <p:sp>
        <p:nvSpPr>
          <p:cNvPr id="7" name="look-for">
            <a:extLst xmlns:a="http://schemas.openxmlformats.org/drawingml/2006/main">
              <a:ext uri="{FF2B5EF4-FFF2-40B4-BE49-F238E27FC236}">
                <a16:creationId xmlns:a16="http://schemas.microsoft.com/office/drawing/2014/main" id="{4FBAA492-7726-462E-9CFE-8EC7FB1B9EFA}"/>
              </a:ext>
            </a:extLst>
          </p:cNvPr>
          <p:cNvSpPr>
            <a:spLocks xmlns:a="http://schemas.openxmlformats.org/drawingml/2006/main" noGrp="1"/>
          </p:cNvSpPr>
          <p:nvPr/>
        </p:nvSpPr>
        <p:spPr>
          <a:xfrm xmlns:a="http://schemas.openxmlformats.org/drawingml/2006/main">
            <a:off x="685800" y="333375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1200" b="1" i="0">
                <a:solidFill>
                  <a:srgbClr val="C9924A"/>
                </a:solidFill>
              </a:defRPr>
            </a:pPr>
            <a:r>
              <a:rPr sz="1200" b="1" i="0">
                <a:solidFill>
                  <a:srgbClr val="C9924A"/>
                </a:solidFill>
              </a:rPr>
              <a:t>LOOK FOR</a:t>
            </a:r>
          </a:p>
        </p:txBody>
      </p:sp>
      <p:sp>
        <p:nvSpPr>
          <p:cNvPr id="8" name="bullet-0">
            <a:extLst xmlns:a="http://schemas.openxmlformats.org/drawingml/2006/main">
              <a:ext uri="{FF2B5EF4-FFF2-40B4-BE49-F238E27FC236}">
                <a16:creationId xmlns:a16="http://schemas.microsoft.com/office/drawing/2014/main" id="{AE0C1A9D-3453-4FC1-834A-869B2EC2D051}"/>
              </a:ext>
            </a:extLst>
          </p:cNvPr>
          <p:cNvSpPr>
            <a:spLocks xmlns:a="http://schemas.openxmlformats.org/drawingml/2006/main" noGrp="1"/>
          </p:cNvSpPr>
          <p:nvPr/>
        </p:nvSpPr>
        <p:spPr>
          <a:xfrm xmlns:a="http://schemas.openxmlformats.org/drawingml/2006/main">
            <a:off x="685800" y="3790950"/>
            <a:ext cx="95250" cy="95250"/>
          </a:xfrm>
          <a:prstGeom xmlns:a="http://schemas.openxmlformats.org/drawingml/2006/main" prst="rect">
            <a:avLst/>
          </a:prstGeom>
          <a:solidFill xmlns:a="http://schemas.openxmlformats.org/drawingml/2006/main">
            <a:srgbClr val="C9924A"/>
          </a:solidFill>
          <a:ln xmlns:a="http://schemas.openxmlformats.org/drawingml/2006/main" w="0">
            <a:noFill/>
            <a:prstDash val="solid"/>
          </a:ln>
        </p:spPr>
      </p:sp>
      <p:sp>
        <p:nvSpPr>
          <p:cNvPr id="9" name="bullet-text-0">
            <a:extLst xmlns:a="http://schemas.openxmlformats.org/drawingml/2006/main">
              <a:ext uri="{FF2B5EF4-FFF2-40B4-BE49-F238E27FC236}">
                <a16:creationId xmlns:a16="http://schemas.microsoft.com/office/drawing/2014/main" id="{E49F73D4-EB6F-4E23-935F-04A6F04877DA}"/>
              </a:ext>
            </a:extLst>
          </p:cNvPr>
          <p:cNvSpPr>
            <a:spLocks xmlns:a="http://schemas.openxmlformats.org/drawingml/2006/main" noGrp="1"/>
          </p:cNvSpPr>
          <p:nvPr/>
        </p:nvSpPr>
        <p:spPr>
          <a:xfrm xmlns:a="http://schemas.openxmlformats.org/drawingml/2006/main">
            <a:off x="952500" y="3695700"/>
            <a:ext cx="49720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2000"/>
              </a:lnSpc>
              <a:buNone/>
              <a:defRPr sz="1575" b="0" i="0">
                <a:solidFill>
                  <a:srgbClr val="D8E0E1"/>
                </a:solidFill>
              </a:defRPr>
            </a:pPr>
            <a:r>
              <a:rPr sz="1575" b="0" i="0">
                <a:solidFill>
                  <a:srgbClr val="D8E0E1"/>
                </a:solidFill>
              </a:rPr>
              <a:t>The making of the film enters the film</a:t>
            </a:r>
          </a:p>
        </p:txBody>
      </p:sp>
      <p:sp>
        <p:nvSpPr>
          <p:cNvPr id="10" name="bullet-1">
            <a:extLst xmlns:a="http://schemas.openxmlformats.org/drawingml/2006/main">
              <a:ext uri="{FF2B5EF4-FFF2-40B4-BE49-F238E27FC236}">
                <a16:creationId xmlns:a16="http://schemas.microsoft.com/office/drawing/2014/main" id="{A4F17589-BF03-48A3-9AF2-6F3C193C0CAA}"/>
              </a:ext>
            </a:extLst>
          </p:cNvPr>
          <p:cNvSpPr>
            <a:spLocks xmlns:a="http://schemas.openxmlformats.org/drawingml/2006/main" noGrp="1"/>
          </p:cNvSpPr>
          <p:nvPr/>
        </p:nvSpPr>
        <p:spPr>
          <a:xfrm xmlns:a="http://schemas.openxmlformats.org/drawingml/2006/main">
            <a:off x="685800" y="4305300"/>
            <a:ext cx="95250" cy="95250"/>
          </a:xfrm>
          <a:prstGeom xmlns:a="http://schemas.openxmlformats.org/drawingml/2006/main" prst="rect">
            <a:avLst/>
          </a:prstGeom>
          <a:solidFill xmlns:a="http://schemas.openxmlformats.org/drawingml/2006/main">
            <a:srgbClr val="C9924A"/>
          </a:solidFill>
          <a:ln xmlns:a="http://schemas.openxmlformats.org/drawingml/2006/main" w="0">
            <a:noFill/>
            <a:prstDash val="solid"/>
          </a:ln>
        </p:spPr>
      </p:sp>
      <p:sp>
        <p:nvSpPr>
          <p:cNvPr id="11" name="bullet-text-1">
            <a:extLst xmlns:a="http://schemas.openxmlformats.org/drawingml/2006/main">
              <a:ext uri="{FF2B5EF4-FFF2-40B4-BE49-F238E27FC236}">
                <a16:creationId xmlns:a16="http://schemas.microsoft.com/office/drawing/2014/main" id="{65979D66-FC10-44C8-9F3D-74405D139656}"/>
              </a:ext>
            </a:extLst>
          </p:cNvPr>
          <p:cNvSpPr>
            <a:spLocks xmlns:a="http://schemas.openxmlformats.org/drawingml/2006/main" noGrp="1"/>
          </p:cNvSpPr>
          <p:nvPr/>
        </p:nvSpPr>
        <p:spPr>
          <a:xfrm xmlns:a="http://schemas.openxmlformats.org/drawingml/2006/main">
            <a:off x="952500" y="4210050"/>
            <a:ext cx="49720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2000"/>
              </a:lnSpc>
              <a:buNone/>
              <a:defRPr sz="1575" b="0" i="0">
                <a:solidFill>
                  <a:srgbClr val="D8E0E1"/>
                </a:solidFill>
              </a:defRPr>
            </a:pPr>
            <a:r>
              <a:rPr sz="1575" b="0" i="0">
                <a:solidFill>
                  <a:srgbClr val="D8E0E1"/>
                </a:solidFill>
              </a:rPr>
              <a:t>Evidence and representation are questioned</a:t>
            </a:r>
          </a:p>
        </p:txBody>
      </p:sp>
      <p:sp>
        <p:nvSpPr>
          <p:cNvPr id="12" name="bullet-2">
            <a:extLst xmlns:a="http://schemas.openxmlformats.org/drawingml/2006/main">
              <a:ext uri="{FF2B5EF4-FFF2-40B4-BE49-F238E27FC236}">
                <a16:creationId xmlns:a16="http://schemas.microsoft.com/office/drawing/2014/main" id="{628EA796-5393-452B-90F3-3DA301CB4343}"/>
              </a:ext>
            </a:extLst>
          </p:cNvPr>
          <p:cNvSpPr>
            <a:spLocks xmlns:a="http://schemas.openxmlformats.org/drawingml/2006/main" noGrp="1"/>
          </p:cNvSpPr>
          <p:nvPr/>
        </p:nvSpPr>
        <p:spPr>
          <a:xfrm xmlns:a="http://schemas.openxmlformats.org/drawingml/2006/main">
            <a:off x="685800" y="4819650"/>
            <a:ext cx="95250" cy="95250"/>
          </a:xfrm>
          <a:prstGeom xmlns:a="http://schemas.openxmlformats.org/drawingml/2006/main" prst="rect">
            <a:avLst/>
          </a:prstGeom>
          <a:solidFill xmlns:a="http://schemas.openxmlformats.org/drawingml/2006/main">
            <a:srgbClr val="C9924A"/>
          </a:solidFill>
          <a:ln xmlns:a="http://schemas.openxmlformats.org/drawingml/2006/main" w="0">
            <a:noFill/>
            <a:prstDash val="solid"/>
          </a:ln>
        </p:spPr>
      </p:sp>
      <p:sp>
        <p:nvSpPr>
          <p:cNvPr id="13" name="bullet-text-2">
            <a:extLst xmlns:a="http://schemas.openxmlformats.org/drawingml/2006/main">
              <a:ext uri="{FF2B5EF4-FFF2-40B4-BE49-F238E27FC236}">
                <a16:creationId xmlns:a16="http://schemas.microsoft.com/office/drawing/2014/main" id="{5D165F9B-27B1-4866-A1F1-7BB093FE2DCB}"/>
              </a:ext>
            </a:extLst>
          </p:cNvPr>
          <p:cNvSpPr>
            <a:spLocks xmlns:a="http://schemas.openxmlformats.org/drawingml/2006/main" noGrp="1"/>
          </p:cNvSpPr>
          <p:nvPr/>
        </p:nvSpPr>
        <p:spPr>
          <a:xfrm xmlns:a="http://schemas.openxmlformats.org/drawingml/2006/main">
            <a:off x="952500" y="4724400"/>
            <a:ext cx="49720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2000"/>
              </a:lnSpc>
              <a:buNone/>
              <a:defRPr sz="1575" b="0" i="0">
                <a:solidFill>
                  <a:srgbClr val="D8E0E1"/>
                </a:solidFill>
              </a:defRPr>
            </a:pPr>
            <a:r>
              <a:rPr sz="1575" b="0" i="0">
                <a:solidFill>
                  <a:srgbClr val="D8E0E1"/>
                </a:solidFill>
              </a:rPr>
              <a:t>Gaps, limits, or contradictions remain visible</a:t>
            </a:r>
          </a:p>
        </p:txBody>
      </p:sp>
      <p:sp>
        <p:nvSpPr>
          <p:cNvPr id="14" name="question">
            <a:extLst xmlns:a="http://schemas.openxmlformats.org/drawingml/2006/main">
              <a:ext uri="{FF2B5EF4-FFF2-40B4-BE49-F238E27FC236}">
                <a16:creationId xmlns:a16="http://schemas.microsoft.com/office/drawing/2014/main" id="{36D2ED24-408C-4BDB-970C-2346C808DE7B}"/>
              </a:ext>
            </a:extLst>
          </p:cNvPr>
          <p:cNvSpPr>
            <a:spLocks xmlns:a="http://schemas.openxmlformats.org/drawingml/2006/main" noGrp="1"/>
          </p:cNvSpPr>
          <p:nvPr/>
        </p:nvSpPr>
        <p:spPr>
          <a:xfrm xmlns:a="http://schemas.openxmlformats.org/drawingml/2006/main">
            <a:off x="685800" y="5410200"/>
            <a:ext cx="5238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1500" b="1" i="0">
                <a:solidFill>
                  <a:srgbClr val="C9924A"/>
                </a:solidFill>
              </a:defRPr>
            </a:pPr>
            <a:r>
              <a:rPr sz="1500" b="1" i="0">
                <a:solidFill>
                  <a:srgbClr val="C9924A"/>
                </a:solidFill>
              </a:rPr>
              <a:t>How is this account being made—and where does it fail?</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cd79e643c6a24816"/>
          <a:srcRect xmlns:a="http://schemas.openxmlformats.org/drawingml/2006/main" l="4643" t="0" r="4643" b="0"/>
          <a:stretch xmlns:a="http://schemas.openxmlformats.org/drawingml/2006/main">
            <a:fillRect l="0" t="0" r="0" b="0"/>
          </a:stretch>
        </p:blipFill>
        <p:spPr>
          <a:xfrm xmlns:a="http://schemas.openxmlformats.org/drawingml/2006/main">
            <a:off x="6667500" y="685800"/>
            <a:ext cx="4838700" cy="5334000"/>
          </a:xfrm>
          <a:prstGeom xmlns:a="http://schemas.openxmlformats.org/drawingml/2006/main" prst="rect">
            <a:avLst/>
          </a:prstGeom>
        </p:spPr>
      </p:pic>
      <p:sp>
        <p:nvSpPr>
          <p:cNvPr id="16" name="image-rule">
            <a:extLst xmlns:a="http://schemas.openxmlformats.org/drawingml/2006/main">
              <a:ext uri="{FF2B5EF4-FFF2-40B4-BE49-F238E27FC236}">
                <a16:creationId xmlns:a16="http://schemas.microsoft.com/office/drawing/2014/main" id="{585C20E2-D96B-4BC3-82F2-CD4CF5BDD875}"/>
              </a:ext>
            </a:extLst>
          </p:cNvPr>
          <p:cNvSpPr>
            <a:spLocks xmlns:a="http://schemas.openxmlformats.org/drawingml/2006/main" noGrp="1"/>
          </p:cNvSpPr>
          <p:nvPr/>
        </p:nvSpPr>
        <p:spPr>
          <a:xfrm xmlns:a="http://schemas.openxmlformats.org/drawingml/2006/main">
            <a:off x="6477000" y="685800"/>
            <a:ext cx="76200" cy="5334000"/>
          </a:xfrm>
          <a:prstGeom xmlns:a="http://schemas.openxmlformats.org/drawingml/2006/main" prst="rect">
            <a:avLst/>
          </a:prstGeom>
          <a:solidFill xmlns:a="http://schemas.openxmlformats.org/drawingml/2006/main">
            <a:srgbClr val="2D6675"/>
          </a:solidFill>
          <a:ln xmlns:a="http://schemas.openxmlformats.org/drawingml/2006/main" w="0">
            <a:noFill/>
            <a:prstDash val="solid"/>
          </a:ln>
        </p:spPr>
      </p:sp>
    </p:spTree>
    <p:extLst>
      <p:ext uri="{BB962C8B-B14F-4D97-AF65-F5344CB8AC3E}">
        <p14:creationId xmlns:p14="http://schemas.microsoft.com/office/powerpoint/2010/main" val="870033128"/>
      </p:ext>
    </p:extLst>
  </p:cSld>
</p:sld>
</file>

<file path=ppt/slides/slide12.xml><?xml version="1.0" encoding="utf-8"?>
<p:sld xmlns:p="http://schemas.openxmlformats.org/presentationml/2006/main">
  <p:cSld>
    <p:bg>
      <p:bgPr>
        <a:solidFill xmlns:a="http://schemas.openxmlformats.org/drawingml/2006/main">
          <a:srgbClr val="081116"/>
        </a:solidFill>
      </p:bgPr>
    </p:bg>
    <p:spTree>
      <p:nvGrpSpPr>
        <p:cNvPr id="1" name=""/>
        <p:cNvGrpSpPr/>
        <p:nvPr/>
      </p:nvGrpSpPr>
      <p:grpSpPr>
        <a:xfrm xmlns:a="http://schemas.openxmlformats.org/drawingml/2006/main"/>
      </p:grpSpPr>
      <p:sp>
        <p:nvSpPr>
          <p:cNvPr id="17" name="accent-12">
            <a:extLst xmlns:a="http://schemas.openxmlformats.org/drawingml/2006/main">
              <a:ext uri="{FF2B5EF4-FFF2-40B4-BE49-F238E27FC236}">
                <a16:creationId xmlns:a16="http://schemas.microsoft.com/office/drawing/2014/main" id="{32F51C8D-8B30-40DD-928B-8928E9FE6D2E}"/>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C9924A"/>
          </a:solidFill>
          <a:ln xmlns:a="http://schemas.openxmlformats.org/drawingml/2006/main" w="0">
            <a:noFill/>
            <a:prstDash val="solid"/>
          </a:ln>
        </p:spPr>
      </p:sp>
      <p:sp>
        <p:nvSpPr>
          <p:cNvPr id="2" name="eyebrow-12">
            <a:extLst xmlns:a="http://schemas.openxmlformats.org/drawingml/2006/main">
              <a:ext uri="{FF2B5EF4-FFF2-40B4-BE49-F238E27FC236}">
                <a16:creationId xmlns:a16="http://schemas.microsoft.com/office/drawing/2014/main" id="{AB93C7BE-3679-47F9-9ABB-E4FC0D800766}"/>
              </a:ext>
            </a:extLst>
          </p:cNvPr>
          <p:cNvSpPr>
            <a:spLocks xmlns:a="http://schemas.openxmlformats.org/drawingml/2006/main" noGrp="1"/>
          </p:cNvSpPr>
          <p:nvPr/>
        </p:nvSpPr>
        <p:spPr>
          <a:xfrm xmlns:a="http://schemas.openxmlformats.org/drawingml/2006/main">
            <a:off x="685800" y="36195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1200" b="1" i="0">
                <a:solidFill>
                  <a:srgbClr val="C9924A"/>
                </a:solidFill>
              </a:defRPr>
            </a:pPr>
            <a:r>
              <a:rPr sz="1200" b="1" i="0">
                <a:solidFill>
                  <a:srgbClr val="C9924A"/>
                </a:solidFill>
              </a:rPr>
              <a:t>A WORKING VOCABULARY</a:t>
            </a:r>
          </a:p>
        </p:txBody>
      </p:sp>
      <p:sp>
        <p:nvSpPr>
          <p:cNvPr id="3" name="section-12">
            <a:extLst xmlns:a="http://schemas.openxmlformats.org/drawingml/2006/main">
              <a:ext uri="{FF2B5EF4-FFF2-40B4-BE49-F238E27FC236}">
                <a16:creationId xmlns:a16="http://schemas.microsoft.com/office/drawing/2014/main" id="{0F325A3F-8CFE-4B03-9B06-B99F75C8B156}"/>
              </a:ext>
            </a:extLst>
          </p:cNvPr>
          <p:cNvSpPr>
            <a:spLocks xmlns:a="http://schemas.openxmlformats.org/drawingml/2006/main" noGrp="1"/>
          </p:cNvSpPr>
          <p:nvPr/>
        </p:nvSpPr>
        <p:spPr>
          <a:xfrm xmlns:a="http://schemas.openxmlformats.org/drawingml/2006/main">
            <a:off x="685800" y="6429375"/>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1200" b="0" i="0">
                <a:solidFill>
                  <a:srgbClr val="9FB0B9"/>
                </a:solidFill>
              </a:defRPr>
            </a:pPr>
            <a:r>
              <a:rPr sz="1200" b="0" i="0">
                <a:solidFill>
                  <a:srgbClr val="9FB0B9"/>
                </a:solidFill>
              </a:rPr>
              <a:t>DOCUMENTARY FORMS</a:t>
            </a:r>
          </a:p>
        </p:txBody>
      </p:sp>
      <p:sp>
        <p:nvSpPr>
          <p:cNvPr id="4" name="number-12">
            <a:extLst xmlns:a="http://schemas.openxmlformats.org/drawingml/2006/main">
              <a:ext uri="{FF2B5EF4-FFF2-40B4-BE49-F238E27FC236}">
                <a16:creationId xmlns:a16="http://schemas.microsoft.com/office/drawing/2014/main" id="{A526372F-908A-4947-8596-7EAC60CA8510}"/>
              </a:ext>
            </a:extLst>
          </p:cNvPr>
          <p:cNvSpPr>
            <a:spLocks xmlns:a="http://schemas.openxmlformats.org/drawingml/2006/main" noGrp="1"/>
          </p:cNvSpPr>
          <p:nvPr/>
        </p:nvSpPr>
        <p:spPr>
          <a:xfrm xmlns:a="http://schemas.openxmlformats.org/drawingml/2006/main">
            <a:off x="11049000" y="640080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lnSpc>
                <a:spcPct val="105000"/>
              </a:lnSpc>
              <a:buNone/>
              <a:defRPr sz="1200" b="1" i="0">
                <a:solidFill>
                  <a:srgbClr val="C9924A"/>
                </a:solidFill>
              </a:defRPr>
            </a:pPr>
            <a:r>
              <a:rPr sz="1200" b="1" i="0">
                <a:solidFill>
                  <a:srgbClr val="C9924A"/>
                </a:solidFill>
              </a:rPr>
              <a:t>12</a:t>
            </a:r>
          </a:p>
        </p:txBody>
      </p:sp>
      <p:sp>
        <p:nvSpPr>
          <p:cNvPr id="5" name="slide-title">
            <a:extLst xmlns:a="http://schemas.openxmlformats.org/drawingml/2006/main">
              <a:ext uri="{FF2B5EF4-FFF2-40B4-BE49-F238E27FC236}">
                <a16:creationId xmlns:a16="http://schemas.microsoft.com/office/drawing/2014/main" id="{47F708B4-6B45-4116-8AF2-5BD57EB6ADDF}"/>
              </a:ext>
            </a:extLst>
          </p:cNvPr>
          <p:cNvSpPr>
            <a:spLocks xmlns:a="http://schemas.openxmlformats.org/drawingml/2006/main" noGrp="1"/>
          </p:cNvSpPr>
          <p:nvPr/>
        </p:nvSpPr>
        <p:spPr>
          <a:xfrm xmlns:a="http://schemas.openxmlformats.org/drawingml/2006/main">
            <a:off x="685800" y="838200"/>
            <a:ext cx="61912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94000"/>
              </a:lnSpc>
              <a:buNone/>
              <a:defRPr sz="3900" b="1" i="0">
                <a:solidFill>
                  <a:srgbClr val="F2EFE8"/>
                </a:solidFill>
              </a:defRPr>
            </a:pPr>
            <a:r>
              <a:rPr sz="3900" b="1" i="0">
                <a:solidFill>
                  <a:srgbClr val="F2EFE8"/>
                </a:solidFill>
              </a:rPr>
              <a:t>Poetic</a:t>
            </a:r>
          </a:p>
        </p:txBody>
      </p:sp>
      <p:sp>
        <p:nvSpPr>
          <p:cNvPr id="6" name="essence">
            <a:extLst xmlns:a="http://schemas.openxmlformats.org/drawingml/2006/main">
              <a:ext uri="{FF2B5EF4-FFF2-40B4-BE49-F238E27FC236}">
                <a16:creationId xmlns:a16="http://schemas.microsoft.com/office/drawing/2014/main" id="{DC38A1A8-51FD-4174-BC3E-4EA5616A866A}"/>
              </a:ext>
            </a:extLst>
          </p:cNvPr>
          <p:cNvSpPr>
            <a:spLocks xmlns:a="http://schemas.openxmlformats.org/drawingml/2006/main" noGrp="1"/>
          </p:cNvSpPr>
          <p:nvPr/>
        </p:nvSpPr>
        <p:spPr>
          <a:xfrm xmlns:a="http://schemas.openxmlformats.org/drawingml/2006/main">
            <a:off x="685800" y="2152650"/>
            <a:ext cx="5191125"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2175" b="0" i="1">
                <a:solidFill>
                  <a:srgbClr val="F2EFE8"/>
                </a:solidFill>
              </a:defRPr>
            </a:pPr>
            <a:r>
              <a:rPr sz="2175" b="0" i="1">
                <a:solidFill>
                  <a:srgbClr val="F2EFE8"/>
                </a:solidFill>
              </a:rPr>
              <a:t>Build meaning through rhythm, association, image, and sound.</a:t>
            </a:r>
          </a:p>
        </p:txBody>
      </p:sp>
      <p:sp>
        <p:nvSpPr>
          <p:cNvPr id="7" name="look-for">
            <a:extLst xmlns:a="http://schemas.openxmlformats.org/drawingml/2006/main">
              <a:ext uri="{FF2B5EF4-FFF2-40B4-BE49-F238E27FC236}">
                <a16:creationId xmlns:a16="http://schemas.microsoft.com/office/drawing/2014/main" id="{D7B4D8BF-2C0A-4C8D-8D6E-6FA7A5CC154F}"/>
              </a:ext>
            </a:extLst>
          </p:cNvPr>
          <p:cNvSpPr>
            <a:spLocks xmlns:a="http://schemas.openxmlformats.org/drawingml/2006/main" noGrp="1"/>
          </p:cNvSpPr>
          <p:nvPr/>
        </p:nvSpPr>
        <p:spPr>
          <a:xfrm xmlns:a="http://schemas.openxmlformats.org/drawingml/2006/main">
            <a:off x="685800" y="333375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1200" b="1" i="0">
                <a:solidFill>
                  <a:srgbClr val="C9924A"/>
                </a:solidFill>
              </a:defRPr>
            </a:pPr>
            <a:r>
              <a:rPr sz="1200" b="1" i="0">
                <a:solidFill>
                  <a:srgbClr val="C9924A"/>
                </a:solidFill>
              </a:rPr>
              <a:t>LOOK FOR</a:t>
            </a:r>
          </a:p>
        </p:txBody>
      </p:sp>
      <p:sp>
        <p:nvSpPr>
          <p:cNvPr id="8" name="bullet-0">
            <a:extLst xmlns:a="http://schemas.openxmlformats.org/drawingml/2006/main">
              <a:ext uri="{FF2B5EF4-FFF2-40B4-BE49-F238E27FC236}">
                <a16:creationId xmlns:a16="http://schemas.microsoft.com/office/drawing/2014/main" id="{317A57E1-567E-4B53-B810-4E7FD5AE1D58}"/>
              </a:ext>
            </a:extLst>
          </p:cNvPr>
          <p:cNvSpPr>
            <a:spLocks xmlns:a="http://schemas.openxmlformats.org/drawingml/2006/main" noGrp="1"/>
          </p:cNvSpPr>
          <p:nvPr/>
        </p:nvSpPr>
        <p:spPr>
          <a:xfrm xmlns:a="http://schemas.openxmlformats.org/drawingml/2006/main">
            <a:off x="685800" y="3790950"/>
            <a:ext cx="95250" cy="95250"/>
          </a:xfrm>
          <a:prstGeom xmlns:a="http://schemas.openxmlformats.org/drawingml/2006/main" prst="rect">
            <a:avLst/>
          </a:prstGeom>
          <a:solidFill xmlns:a="http://schemas.openxmlformats.org/drawingml/2006/main">
            <a:srgbClr val="C9924A"/>
          </a:solidFill>
          <a:ln xmlns:a="http://schemas.openxmlformats.org/drawingml/2006/main" w="0">
            <a:noFill/>
            <a:prstDash val="solid"/>
          </a:ln>
        </p:spPr>
      </p:sp>
      <p:sp>
        <p:nvSpPr>
          <p:cNvPr id="9" name="bullet-text-0">
            <a:extLst xmlns:a="http://schemas.openxmlformats.org/drawingml/2006/main">
              <a:ext uri="{FF2B5EF4-FFF2-40B4-BE49-F238E27FC236}">
                <a16:creationId xmlns:a16="http://schemas.microsoft.com/office/drawing/2014/main" id="{DCA884E1-17BC-45A9-BED8-55732F61AD0B}"/>
              </a:ext>
            </a:extLst>
          </p:cNvPr>
          <p:cNvSpPr>
            <a:spLocks xmlns:a="http://schemas.openxmlformats.org/drawingml/2006/main" noGrp="1"/>
          </p:cNvSpPr>
          <p:nvPr/>
        </p:nvSpPr>
        <p:spPr>
          <a:xfrm xmlns:a="http://schemas.openxmlformats.org/drawingml/2006/main">
            <a:off x="952500" y="3695700"/>
            <a:ext cx="49720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2000"/>
              </a:lnSpc>
              <a:buNone/>
              <a:defRPr sz="1575" b="0" i="0">
                <a:solidFill>
                  <a:srgbClr val="D8E0E1"/>
                </a:solidFill>
              </a:defRPr>
            </a:pPr>
            <a:r>
              <a:rPr sz="1575" b="0" i="0">
                <a:solidFill>
                  <a:srgbClr val="D8E0E1"/>
                </a:solidFill>
              </a:rPr>
              <a:t>Mood, texture, pattern, and metaphor</a:t>
            </a:r>
          </a:p>
        </p:txBody>
      </p:sp>
      <p:sp>
        <p:nvSpPr>
          <p:cNvPr id="10" name="bullet-1">
            <a:extLst xmlns:a="http://schemas.openxmlformats.org/drawingml/2006/main">
              <a:ext uri="{FF2B5EF4-FFF2-40B4-BE49-F238E27FC236}">
                <a16:creationId xmlns:a16="http://schemas.microsoft.com/office/drawing/2014/main" id="{46BF377A-A840-4262-A150-38D188A675F3}"/>
              </a:ext>
            </a:extLst>
          </p:cNvPr>
          <p:cNvSpPr>
            <a:spLocks xmlns:a="http://schemas.openxmlformats.org/drawingml/2006/main" noGrp="1"/>
          </p:cNvSpPr>
          <p:nvPr/>
        </p:nvSpPr>
        <p:spPr>
          <a:xfrm xmlns:a="http://schemas.openxmlformats.org/drawingml/2006/main">
            <a:off x="685800" y="4305300"/>
            <a:ext cx="95250" cy="95250"/>
          </a:xfrm>
          <a:prstGeom xmlns:a="http://schemas.openxmlformats.org/drawingml/2006/main" prst="rect">
            <a:avLst/>
          </a:prstGeom>
          <a:solidFill xmlns:a="http://schemas.openxmlformats.org/drawingml/2006/main">
            <a:srgbClr val="C9924A"/>
          </a:solidFill>
          <a:ln xmlns:a="http://schemas.openxmlformats.org/drawingml/2006/main" w="0">
            <a:noFill/>
            <a:prstDash val="solid"/>
          </a:ln>
        </p:spPr>
      </p:sp>
      <p:sp>
        <p:nvSpPr>
          <p:cNvPr id="11" name="bullet-text-1">
            <a:extLst xmlns:a="http://schemas.openxmlformats.org/drawingml/2006/main">
              <a:ext uri="{FF2B5EF4-FFF2-40B4-BE49-F238E27FC236}">
                <a16:creationId xmlns:a16="http://schemas.microsoft.com/office/drawing/2014/main" id="{75F7ED35-B815-493C-B697-53F242A1AB76}"/>
              </a:ext>
            </a:extLst>
          </p:cNvPr>
          <p:cNvSpPr>
            <a:spLocks xmlns:a="http://schemas.openxmlformats.org/drawingml/2006/main" noGrp="1"/>
          </p:cNvSpPr>
          <p:nvPr/>
        </p:nvSpPr>
        <p:spPr>
          <a:xfrm xmlns:a="http://schemas.openxmlformats.org/drawingml/2006/main">
            <a:off x="952500" y="4210050"/>
            <a:ext cx="49720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2000"/>
              </a:lnSpc>
              <a:buNone/>
              <a:defRPr sz="1575" b="0" i="0">
                <a:solidFill>
                  <a:srgbClr val="D8E0E1"/>
                </a:solidFill>
              </a:defRPr>
            </a:pPr>
            <a:r>
              <a:rPr sz="1575" b="0" i="0">
                <a:solidFill>
                  <a:srgbClr val="D8E0E1"/>
                </a:solidFill>
              </a:rPr>
              <a:t>Nonlinear or associative structure</a:t>
            </a:r>
          </a:p>
        </p:txBody>
      </p:sp>
      <p:sp>
        <p:nvSpPr>
          <p:cNvPr id="12" name="bullet-2">
            <a:extLst xmlns:a="http://schemas.openxmlformats.org/drawingml/2006/main">
              <a:ext uri="{FF2B5EF4-FFF2-40B4-BE49-F238E27FC236}">
                <a16:creationId xmlns:a16="http://schemas.microsoft.com/office/drawing/2014/main" id="{7CCE3FD0-24EC-4CCE-8BB9-9D41E6E0A605}"/>
              </a:ext>
            </a:extLst>
          </p:cNvPr>
          <p:cNvSpPr>
            <a:spLocks xmlns:a="http://schemas.openxmlformats.org/drawingml/2006/main" noGrp="1"/>
          </p:cNvSpPr>
          <p:nvPr/>
        </p:nvSpPr>
        <p:spPr>
          <a:xfrm xmlns:a="http://schemas.openxmlformats.org/drawingml/2006/main">
            <a:off x="685800" y="4819650"/>
            <a:ext cx="95250" cy="95250"/>
          </a:xfrm>
          <a:prstGeom xmlns:a="http://schemas.openxmlformats.org/drawingml/2006/main" prst="rect">
            <a:avLst/>
          </a:prstGeom>
          <a:solidFill xmlns:a="http://schemas.openxmlformats.org/drawingml/2006/main">
            <a:srgbClr val="C9924A"/>
          </a:solidFill>
          <a:ln xmlns:a="http://schemas.openxmlformats.org/drawingml/2006/main" w="0">
            <a:noFill/>
            <a:prstDash val="solid"/>
          </a:ln>
        </p:spPr>
      </p:sp>
      <p:sp>
        <p:nvSpPr>
          <p:cNvPr id="13" name="bullet-text-2">
            <a:extLst xmlns:a="http://schemas.openxmlformats.org/drawingml/2006/main">
              <a:ext uri="{FF2B5EF4-FFF2-40B4-BE49-F238E27FC236}">
                <a16:creationId xmlns:a16="http://schemas.microsoft.com/office/drawing/2014/main" id="{9A5BA632-7EDB-4D44-835F-04F600DB6A8E}"/>
              </a:ext>
            </a:extLst>
          </p:cNvPr>
          <p:cNvSpPr>
            <a:spLocks xmlns:a="http://schemas.openxmlformats.org/drawingml/2006/main" noGrp="1"/>
          </p:cNvSpPr>
          <p:nvPr/>
        </p:nvSpPr>
        <p:spPr>
          <a:xfrm xmlns:a="http://schemas.openxmlformats.org/drawingml/2006/main">
            <a:off x="952500" y="4724400"/>
            <a:ext cx="49720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2000"/>
              </a:lnSpc>
              <a:buNone/>
              <a:defRPr sz="1575" b="0" i="0">
                <a:solidFill>
                  <a:srgbClr val="D8E0E1"/>
                </a:solidFill>
              </a:defRPr>
            </a:pPr>
            <a:r>
              <a:rPr sz="1575" b="0" i="0">
                <a:solidFill>
                  <a:srgbClr val="D8E0E1"/>
                </a:solidFill>
              </a:rPr>
              <a:t>Sound and image carry ideas beyond explanation</a:t>
            </a:r>
          </a:p>
        </p:txBody>
      </p:sp>
      <p:sp>
        <p:nvSpPr>
          <p:cNvPr id="14" name="question">
            <a:extLst xmlns:a="http://schemas.openxmlformats.org/drawingml/2006/main">
              <a:ext uri="{FF2B5EF4-FFF2-40B4-BE49-F238E27FC236}">
                <a16:creationId xmlns:a16="http://schemas.microsoft.com/office/drawing/2014/main" id="{BDBB49D0-59AC-4569-8422-D86A7909BE75}"/>
              </a:ext>
            </a:extLst>
          </p:cNvPr>
          <p:cNvSpPr>
            <a:spLocks xmlns:a="http://schemas.openxmlformats.org/drawingml/2006/main" noGrp="1"/>
          </p:cNvSpPr>
          <p:nvPr/>
        </p:nvSpPr>
        <p:spPr>
          <a:xfrm xmlns:a="http://schemas.openxmlformats.org/drawingml/2006/main">
            <a:off x="685800" y="5410200"/>
            <a:ext cx="5238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1500" b="1" i="0">
                <a:solidFill>
                  <a:srgbClr val="C9924A"/>
                </a:solidFill>
              </a:defRPr>
            </a:pPr>
            <a:r>
              <a:rPr sz="1500" b="1" i="0">
                <a:solidFill>
                  <a:srgbClr val="C9924A"/>
                </a:solidFill>
              </a:rPr>
              <a:t>What can be felt before it is explained?</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201d8951f95349f9"/>
          <a:srcRect xmlns:a="http://schemas.openxmlformats.org/drawingml/2006/main" l="4643" t="0" r="4643" b="0"/>
          <a:stretch xmlns:a="http://schemas.openxmlformats.org/drawingml/2006/main">
            <a:fillRect l="0" t="0" r="0" b="0"/>
          </a:stretch>
        </p:blipFill>
        <p:spPr>
          <a:xfrm xmlns:a="http://schemas.openxmlformats.org/drawingml/2006/main">
            <a:off x="6667500" y="685800"/>
            <a:ext cx="4838700" cy="5334000"/>
          </a:xfrm>
          <a:prstGeom xmlns:a="http://schemas.openxmlformats.org/drawingml/2006/main" prst="rect">
            <a:avLst/>
          </a:prstGeom>
        </p:spPr>
      </p:pic>
      <p:sp>
        <p:nvSpPr>
          <p:cNvPr id="16" name="image-rule">
            <a:extLst xmlns:a="http://schemas.openxmlformats.org/drawingml/2006/main">
              <a:ext uri="{FF2B5EF4-FFF2-40B4-BE49-F238E27FC236}">
                <a16:creationId xmlns:a16="http://schemas.microsoft.com/office/drawing/2014/main" id="{46252481-E0B9-4F52-ADFB-BF8F8652CBF1}"/>
              </a:ext>
            </a:extLst>
          </p:cNvPr>
          <p:cNvSpPr>
            <a:spLocks xmlns:a="http://schemas.openxmlformats.org/drawingml/2006/main" noGrp="1"/>
          </p:cNvSpPr>
          <p:nvPr/>
        </p:nvSpPr>
        <p:spPr>
          <a:xfrm xmlns:a="http://schemas.openxmlformats.org/drawingml/2006/main">
            <a:off x="6477000" y="685800"/>
            <a:ext cx="76200" cy="5334000"/>
          </a:xfrm>
          <a:prstGeom xmlns:a="http://schemas.openxmlformats.org/drawingml/2006/main" prst="rect">
            <a:avLst/>
          </a:prstGeom>
          <a:solidFill xmlns:a="http://schemas.openxmlformats.org/drawingml/2006/main">
            <a:srgbClr val="2D6675"/>
          </a:solidFill>
          <a:ln xmlns:a="http://schemas.openxmlformats.org/drawingml/2006/main" w="0">
            <a:noFill/>
            <a:prstDash val="solid"/>
          </a:ln>
        </p:spPr>
      </p:sp>
    </p:spTree>
    <p:extLst>
      <p:ext uri="{BB962C8B-B14F-4D97-AF65-F5344CB8AC3E}">
        <p14:creationId xmlns:p14="http://schemas.microsoft.com/office/powerpoint/2010/main" val="1364854691"/>
      </p:ext>
    </p:extLst>
  </p:cSld>
</p:sld>
</file>

<file path=ppt/slides/slide13.xml><?xml version="1.0" encoding="utf-8"?>
<p:sld xmlns:p="http://schemas.openxmlformats.org/presentationml/2006/main">
  <p:cSld>
    <p:bg>
      <p:bgPr>
        <a:solidFill xmlns:a="http://schemas.openxmlformats.org/drawingml/2006/main">
          <a:srgbClr val="081116"/>
        </a:solidFill>
      </p:bgPr>
    </p:bg>
    <p:spTree>
      <p:nvGrpSpPr>
        <p:cNvPr id="1" name=""/>
        <p:cNvGrpSpPr/>
        <p:nvPr/>
      </p:nvGrpSpPr>
      <p:grpSpPr>
        <a:xfrm xmlns:a="http://schemas.openxmlformats.org/drawingml/2006/main"/>
      </p:grpSpPr>
      <p:sp>
        <p:nvSpPr>
          <p:cNvPr id="17" name="accent-13">
            <a:extLst xmlns:a="http://schemas.openxmlformats.org/drawingml/2006/main">
              <a:ext uri="{FF2B5EF4-FFF2-40B4-BE49-F238E27FC236}">
                <a16:creationId xmlns:a16="http://schemas.microsoft.com/office/drawing/2014/main" id="{23B44508-4A32-41F8-869D-A69CC170F43D}"/>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C9924A"/>
          </a:solidFill>
          <a:ln xmlns:a="http://schemas.openxmlformats.org/drawingml/2006/main" w="0">
            <a:noFill/>
            <a:prstDash val="solid"/>
          </a:ln>
        </p:spPr>
      </p:sp>
      <p:sp>
        <p:nvSpPr>
          <p:cNvPr id="2" name="eyebrow-13">
            <a:extLst xmlns:a="http://schemas.openxmlformats.org/drawingml/2006/main">
              <a:ext uri="{FF2B5EF4-FFF2-40B4-BE49-F238E27FC236}">
                <a16:creationId xmlns:a16="http://schemas.microsoft.com/office/drawing/2014/main" id="{F76C3119-77F6-451F-8F0B-B31C44F6F349}"/>
              </a:ext>
            </a:extLst>
          </p:cNvPr>
          <p:cNvSpPr>
            <a:spLocks xmlns:a="http://schemas.openxmlformats.org/drawingml/2006/main" noGrp="1"/>
          </p:cNvSpPr>
          <p:nvPr/>
        </p:nvSpPr>
        <p:spPr>
          <a:xfrm xmlns:a="http://schemas.openxmlformats.org/drawingml/2006/main">
            <a:off x="685800" y="36195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1200" b="1" i="0">
                <a:solidFill>
                  <a:srgbClr val="C9924A"/>
                </a:solidFill>
              </a:defRPr>
            </a:pPr>
            <a:r>
              <a:rPr sz="1200" b="1" i="0">
                <a:solidFill>
                  <a:srgbClr val="C9924A"/>
                </a:solidFill>
              </a:rPr>
              <a:t>A WORKING VOCABULARY</a:t>
            </a:r>
          </a:p>
        </p:txBody>
      </p:sp>
      <p:sp>
        <p:nvSpPr>
          <p:cNvPr id="3" name="section-13">
            <a:extLst xmlns:a="http://schemas.openxmlformats.org/drawingml/2006/main">
              <a:ext uri="{FF2B5EF4-FFF2-40B4-BE49-F238E27FC236}">
                <a16:creationId xmlns:a16="http://schemas.microsoft.com/office/drawing/2014/main" id="{16152222-746B-4C9E-9BFD-4B0E111AA196}"/>
              </a:ext>
            </a:extLst>
          </p:cNvPr>
          <p:cNvSpPr>
            <a:spLocks xmlns:a="http://schemas.openxmlformats.org/drawingml/2006/main" noGrp="1"/>
          </p:cNvSpPr>
          <p:nvPr/>
        </p:nvSpPr>
        <p:spPr>
          <a:xfrm xmlns:a="http://schemas.openxmlformats.org/drawingml/2006/main">
            <a:off x="685800" y="6429375"/>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1200" b="0" i="0">
                <a:solidFill>
                  <a:srgbClr val="9FB0B9"/>
                </a:solidFill>
              </a:defRPr>
            </a:pPr>
            <a:r>
              <a:rPr sz="1200" b="0" i="0">
                <a:solidFill>
                  <a:srgbClr val="9FB0B9"/>
                </a:solidFill>
              </a:rPr>
              <a:t>DOCUMENTARY FORMS</a:t>
            </a:r>
          </a:p>
        </p:txBody>
      </p:sp>
      <p:sp>
        <p:nvSpPr>
          <p:cNvPr id="4" name="number-13">
            <a:extLst xmlns:a="http://schemas.openxmlformats.org/drawingml/2006/main">
              <a:ext uri="{FF2B5EF4-FFF2-40B4-BE49-F238E27FC236}">
                <a16:creationId xmlns:a16="http://schemas.microsoft.com/office/drawing/2014/main" id="{3496607E-DACB-4501-8B40-18DD171DE628}"/>
              </a:ext>
            </a:extLst>
          </p:cNvPr>
          <p:cNvSpPr>
            <a:spLocks xmlns:a="http://schemas.openxmlformats.org/drawingml/2006/main" noGrp="1"/>
          </p:cNvSpPr>
          <p:nvPr/>
        </p:nvSpPr>
        <p:spPr>
          <a:xfrm xmlns:a="http://schemas.openxmlformats.org/drawingml/2006/main">
            <a:off x="11049000" y="640080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lnSpc>
                <a:spcPct val="105000"/>
              </a:lnSpc>
              <a:buNone/>
              <a:defRPr sz="1200" b="1" i="0">
                <a:solidFill>
                  <a:srgbClr val="C9924A"/>
                </a:solidFill>
              </a:defRPr>
            </a:pPr>
            <a:r>
              <a:rPr sz="1200" b="1" i="0">
                <a:solidFill>
                  <a:srgbClr val="C9924A"/>
                </a:solidFill>
              </a:rPr>
              <a:t>13</a:t>
            </a:r>
          </a:p>
        </p:txBody>
      </p:sp>
      <p:sp>
        <p:nvSpPr>
          <p:cNvPr id="5" name="slide-title">
            <a:extLst xmlns:a="http://schemas.openxmlformats.org/drawingml/2006/main">
              <a:ext uri="{FF2B5EF4-FFF2-40B4-BE49-F238E27FC236}">
                <a16:creationId xmlns:a16="http://schemas.microsoft.com/office/drawing/2014/main" id="{068F4EEE-693A-4785-A4F2-BD6AEF630D8F}"/>
              </a:ext>
            </a:extLst>
          </p:cNvPr>
          <p:cNvSpPr>
            <a:spLocks xmlns:a="http://schemas.openxmlformats.org/drawingml/2006/main" noGrp="1"/>
          </p:cNvSpPr>
          <p:nvPr/>
        </p:nvSpPr>
        <p:spPr>
          <a:xfrm xmlns:a="http://schemas.openxmlformats.org/drawingml/2006/main">
            <a:off x="685800" y="838200"/>
            <a:ext cx="61912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94000"/>
              </a:lnSpc>
              <a:buNone/>
              <a:defRPr sz="3900" b="1" i="0">
                <a:solidFill>
                  <a:srgbClr val="F2EFE8"/>
                </a:solidFill>
              </a:defRPr>
            </a:pPr>
            <a:r>
              <a:rPr sz="3900" b="1" i="0">
                <a:solidFill>
                  <a:srgbClr val="F2EFE8"/>
                </a:solidFill>
              </a:rPr>
              <a:t>Performative / personal</a:t>
            </a:r>
          </a:p>
        </p:txBody>
      </p:sp>
      <p:sp>
        <p:nvSpPr>
          <p:cNvPr id="6" name="essence">
            <a:extLst xmlns:a="http://schemas.openxmlformats.org/drawingml/2006/main">
              <a:ext uri="{FF2B5EF4-FFF2-40B4-BE49-F238E27FC236}">
                <a16:creationId xmlns:a16="http://schemas.microsoft.com/office/drawing/2014/main" id="{A85D5DB9-AD83-4EEC-A188-BD0AB90F1AF4}"/>
              </a:ext>
            </a:extLst>
          </p:cNvPr>
          <p:cNvSpPr>
            <a:spLocks xmlns:a="http://schemas.openxmlformats.org/drawingml/2006/main" noGrp="1"/>
          </p:cNvSpPr>
          <p:nvPr/>
        </p:nvSpPr>
        <p:spPr>
          <a:xfrm xmlns:a="http://schemas.openxmlformats.org/drawingml/2006/main">
            <a:off x="685800" y="2152650"/>
            <a:ext cx="5191125"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2175" b="0" i="1">
                <a:solidFill>
                  <a:srgbClr val="F2EFE8"/>
                </a:solidFill>
              </a:defRPr>
            </a:pPr>
            <a:r>
              <a:rPr sz="2175" b="0" i="1">
                <a:solidFill>
                  <a:srgbClr val="F2EFE8"/>
                </a:solidFill>
              </a:rPr>
              <a:t>Use lived experience and embodied point of view as a way of knowing.</a:t>
            </a:r>
          </a:p>
        </p:txBody>
      </p:sp>
      <p:sp>
        <p:nvSpPr>
          <p:cNvPr id="7" name="look-for">
            <a:extLst xmlns:a="http://schemas.openxmlformats.org/drawingml/2006/main">
              <a:ext uri="{FF2B5EF4-FFF2-40B4-BE49-F238E27FC236}">
                <a16:creationId xmlns:a16="http://schemas.microsoft.com/office/drawing/2014/main" id="{166FC874-AD49-40EB-9FBF-43C806700945}"/>
              </a:ext>
            </a:extLst>
          </p:cNvPr>
          <p:cNvSpPr>
            <a:spLocks xmlns:a="http://schemas.openxmlformats.org/drawingml/2006/main" noGrp="1"/>
          </p:cNvSpPr>
          <p:nvPr/>
        </p:nvSpPr>
        <p:spPr>
          <a:xfrm xmlns:a="http://schemas.openxmlformats.org/drawingml/2006/main">
            <a:off x="685800" y="333375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1200" b="1" i="0">
                <a:solidFill>
                  <a:srgbClr val="C9924A"/>
                </a:solidFill>
              </a:defRPr>
            </a:pPr>
            <a:r>
              <a:rPr sz="1200" b="1" i="0">
                <a:solidFill>
                  <a:srgbClr val="C9924A"/>
                </a:solidFill>
              </a:rPr>
              <a:t>LOOK FOR</a:t>
            </a:r>
          </a:p>
        </p:txBody>
      </p:sp>
      <p:sp>
        <p:nvSpPr>
          <p:cNvPr id="8" name="bullet-0">
            <a:extLst xmlns:a="http://schemas.openxmlformats.org/drawingml/2006/main">
              <a:ext uri="{FF2B5EF4-FFF2-40B4-BE49-F238E27FC236}">
                <a16:creationId xmlns:a16="http://schemas.microsoft.com/office/drawing/2014/main" id="{68DBEB6E-2821-40CE-A5F5-A7ACB3D5B020}"/>
              </a:ext>
            </a:extLst>
          </p:cNvPr>
          <p:cNvSpPr>
            <a:spLocks xmlns:a="http://schemas.openxmlformats.org/drawingml/2006/main" noGrp="1"/>
          </p:cNvSpPr>
          <p:nvPr/>
        </p:nvSpPr>
        <p:spPr>
          <a:xfrm xmlns:a="http://schemas.openxmlformats.org/drawingml/2006/main">
            <a:off x="685800" y="3790950"/>
            <a:ext cx="95250" cy="95250"/>
          </a:xfrm>
          <a:prstGeom xmlns:a="http://schemas.openxmlformats.org/drawingml/2006/main" prst="rect">
            <a:avLst/>
          </a:prstGeom>
          <a:solidFill xmlns:a="http://schemas.openxmlformats.org/drawingml/2006/main">
            <a:srgbClr val="C9924A"/>
          </a:solidFill>
          <a:ln xmlns:a="http://schemas.openxmlformats.org/drawingml/2006/main" w="0">
            <a:noFill/>
            <a:prstDash val="solid"/>
          </a:ln>
        </p:spPr>
      </p:sp>
      <p:sp>
        <p:nvSpPr>
          <p:cNvPr id="9" name="bullet-text-0">
            <a:extLst xmlns:a="http://schemas.openxmlformats.org/drawingml/2006/main">
              <a:ext uri="{FF2B5EF4-FFF2-40B4-BE49-F238E27FC236}">
                <a16:creationId xmlns:a16="http://schemas.microsoft.com/office/drawing/2014/main" id="{2888FE0F-C159-44D1-8CED-D6CCAC339F91}"/>
              </a:ext>
            </a:extLst>
          </p:cNvPr>
          <p:cNvSpPr>
            <a:spLocks xmlns:a="http://schemas.openxmlformats.org/drawingml/2006/main" noGrp="1"/>
          </p:cNvSpPr>
          <p:nvPr/>
        </p:nvSpPr>
        <p:spPr>
          <a:xfrm xmlns:a="http://schemas.openxmlformats.org/drawingml/2006/main">
            <a:off x="952500" y="3695700"/>
            <a:ext cx="49720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2000"/>
              </a:lnSpc>
              <a:buNone/>
              <a:defRPr sz="1575" b="0" i="0">
                <a:solidFill>
                  <a:srgbClr val="D8E0E1"/>
                </a:solidFill>
              </a:defRPr>
            </a:pPr>
            <a:r>
              <a:rPr sz="1575" b="0" i="0">
                <a:solidFill>
                  <a:srgbClr val="D8E0E1"/>
                </a:solidFill>
              </a:rPr>
              <a:t>First-person or situated perspective</a:t>
            </a:r>
          </a:p>
        </p:txBody>
      </p:sp>
      <p:sp>
        <p:nvSpPr>
          <p:cNvPr id="10" name="bullet-1">
            <a:extLst xmlns:a="http://schemas.openxmlformats.org/drawingml/2006/main">
              <a:ext uri="{FF2B5EF4-FFF2-40B4-BE49-F238E27FC236}">
                <a16:creationId xmlns:a16="http://schemas.microsoft.com/office/drawing/2014/main" id="{FB3EFB1F-9B99-4A9C-BBD9-3C82D2101066}"/>
              </a:ext>
            </a:extLst>
          </p:cNvPr>
          <p:cNvSpPr>
            <a:spLocks xmlns:a="http://schemas.openxmlformats.org/drawingml/2006/main" noGrp="1"/>
          </p:cNvSpPr>
          <p:nvPr/>
        </p:nvSpPr>
        <p:spPr>
          <a:xfrm xmlns:a="http://schemas.openxmlformats.org/drawingml/2006/main">
            <a:off x="685800" y="4305300"/>
            <a:ext cx="95250" cy="95250"/>
          </a:xfrm>
          <a:prstGeom xmlns:a="http://schemas.openxmlformats.org/drawingml/2006/main" prst="rect">
            <a:avLst/>
          </a:prstGeom>
          <a:solidFill xmlns:a="http://schemas.openxmlformats.org/drawingml/2006/main">
            <a:srgbClr val="C9924A"/>
          </a:solidFill>
          <a:ln xmlns:a="http://schemas.openxmlformats.org/drawingml/2006/main" w="0">
            <a:noFill/>
            <a:prstDash val="solid"/>
          </a:ln>
        </p:spPr>
      </p:sp>
      <p:sp>
        <p:nvSpPr>
          <p:cNvPr id="11" name="bullet-text-1">
            <a:extLst xmlns:a="http://schemas.openxmlformats.org/drawingml/2006/main">
              <a:ext uri="{FF2B5EF4-FFF2-40B4-BE49-F238E27FC236}">
                <a16:creationId xmlns:a16="http://schemas.microsoft.com/office/drawing/2014/main" id="{AB9E5AFA-71A0-4E4B-9264-355A20684773}"/>
              </a:ext>
            </a:extLst>
          </p:cNvPr>
          <p:cNvSpPr>
            <a:spLocks xmlns:a="http://schemas.openxmlformats.org/drawingml/2006/main" noGrp="1"/>
          </p:cNvSpPr>
          <p:nvPr/>
        </p:nvSpPr>
        <p:spPr>
          <a:xfrm xmlns:a="http://schemas.openxmlformats.org/drawingml/2006/main">
            <a:off x="952500" y="4210050"/>
            <a:ext cx="49720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2000"/>
              </a:lnSpc>
              <a:buNone/>
              <a:defRPr sz="1575" b="0" i="0">
                <a:solidFill>
                  <a:srgbClr val="D8E0E1"/>
                </a:solidFill>
              </a:defRPr>
            </a:pPr>
            <a:r>
              <a:rPr sz="1575" b="0" i="0">
                <a:solidFill>
                  <a:srgbClr val="D8E0E1"/>
                </a:solidFill>
              </a:rPr>
              <a:t>Memory, identity, emotion, or embodiment</a:t>
            </a:r>
          </a:p>
        </p:txBody>
      </p:sp>
      <p:sp>
        <p:nvSpPr>
          <p:cNvPr id="12" name="bullet-2">
            <a:extLst xmlns:a="http://schemas.openxmlformats.org/drawingml/2006/main">
              <a:ext uri="{FF2B5EF4-FFF2-40B4-BE49-F238E27FC236}">
                <a16:creationId xmlns:a16="http://schemas.microsoft.com/office/drawing/2014/main" id="{00F5FA9C-EA9F-49A0-AB09-BBDADA2E396A}"/>
              </a:ext>
            </a:extLst>
          </p:cNvPr>
          <p:cNvSpPr>
            <a:spLocks xmlns:a="http://schemas.openxmlformats.org/drawingml/2006/main" noGrp="1"/>
          </p:cNvSpPr>
          <p:nvPr/>
        </p:nvSpPr>
        <p:spPr>
          <a:xfrm xmlns:a="http://schemas.openxmlformats.org/drawingml/2006/main">
            <a:off x="685800" y="4819650"/>
            <a:ext cx="95250" cy="95250"/>
          </a:xfrm>
          <a:prstGeom xmlns:a="http://schemas.openxmlformats.org/drawingml/2006/main" prst="rect">
            <a:avLst/>
          </a:prstGeom>
          <a:solidFill xmlns:a="http://schemas.openxmlformats.org/drawingml/2006/main">
            <a:srgbClr val="C9924A"/>
          </a:solidFill>
          <a:ln xmlns:a="http://schemas.openxmlformats.org/drawingml/2006/main" w="0">
            <a:noFill/>
            <a:prstDash val="solid"/>
          </a:ln>
        </p:spPr>
      </p:sp>
      <p:sp>
        <p:nvSpPr>
          <p:cNvPr id="13" name="bullet-text-2">
            <a:extLst xmlns:a="http://schemas.openxmlformats.org/drawingml/2006/main">
              <a:ext uri="{FF2B5EF4-FFF2-40B4-BE49-F238E27FC236}">
                <a16:creationId xmlns:a16="http://schemas.microsoft.com/office/drawing/2014/main" id="{34478088-ECD4-4255-B40B-6788C3E58D85}"/>
              </a:ext>
            </a:extLst>
          </p:cNvPr>
          <p:cNvSpPr>
            <a:spLocks xmlns:a="http://schemas.openxmlformats.org/drawingml/2006/main" noGrp="1"/>
          </p:cNvSpPr>
          <p:nvPr/>
        </p:nvSpPr>
        <p:spPr>
          <a:xfrm xmlns:a="http://schemas.openxmlformats.org/drawingml/2006/main">
            <a:off x="952500" y="4724400"/>
            <a:ext cx="49720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2000"/>
              </a:lnSpc>
              <a:buNone/>
              <a:defRPr sz="1575" b="0" i="0">
                <a:solidFill>
                  <a:srgbClr val="D8E0E1"/>
                </a:solidFill>
              </a:defRPr>
            </a:pPr>
            <a:r>
              <a:rPr sz="1575" b="0" i="0">
                <a:solidFill>
                  <a:srgbClr val="D8E0E1"/>
                </a:solidFill>
              </a:rPr>
              <a:t>The maker’s experience shapes the inquiry</a:t>
            </a:r>
          </a:p>
        </p:txBody>
      </p:sp>
      <p:sp>
        <p:nvSpPr>
          <p:cNvPr id="14" name="question">
            <a:extLst xmlns:a="http://schemas.openxmlformats.org/drawingml/2006/main">
              <a:ext uri="{FF2B5EF4-FFF2-40B4-BE49-F238E27FC236}">
                <a16:creationId xmlns:a16="http://schemas.microsoft.com/office/drawing/2014/main" id="{4B5FE3BD-8C6A-41DD-9CC1-2A4F738FC293}"/>
              </a:ext>
            </a:extLst>
          </p:cNvPr>
          <p:cNvSpPr>
            <a:spLocks xmlns:a="http://schemas.openxmlformats.org/drawingml/2006/main" noGrp="1"/>
          </p:cNvSpPr>
          <p:nvPr/>
        </p:nvSpPr>
        <p:spPr>
          <a:xfrm xmlns:a="http://schemas.openxmlformats.org/drawingml/2006/main">
            <a:off x="685800" y="5410200"/>
            <a:ext cx="5238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1500" b="1" i="0">
                <a:solidFill>
                  <a:srgbClr val="C9924A"/>
                </a:solidFill>
              </a:defRPr>
            </a:pPr>
            <a:r>
              <a:rPr sz="1500" b="1" i="0">
                <a:solidFill>
                  <a:srgbClr val="C9924A"/>
                </a:solidFill>
              </a:rPr>
              <a:t>Why is this story being told from here, by this person?</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3b66e85f3b4e47d0"/>
          <a:srcRect xmlns:a="http://schemas.openxmlformats.org/drawingml/2006/main" l="4643" t="0" r="4643" b="0"/>
          <a:stretch xmlns:a="http://schemas.openxmlformats.org/drawingml/2006/main">
            <a:fillRect l="0" t="0" r="0" b="0"/>
          </a:stretch>
        </p:blipFill>
        <p:spPr>
          <a:xfrm xmlns:a="http://schemas.openxmlformats.org/drawingml/2006/main">
            <a:off x="6667500" y="685800"/>
            <a:ext cx="4838700" cy="5334000"/>
          </a:xfrm>
          <a:prstGeom xmlns:a="http://schemas.openxmlformats.org/drawingml/2006/main" prst="rect">
            <a:avLst/>
          </a:prstGeom>
        </p:spPr>
      </p:pic>
      <p:sp>
        <p:nvSpPr>
          <p:cNvPr id="16" name="image-rule">
            <a:extLst xmlns:a="http://schemas.openxmlformats.org/drawingml/2006/main">
              <a:ext uri="{FF2B5EF4-FFF2-40B4-BE49-F238E27FC236}">
                <a16:creationId xmlns:a16="http://schemas.microsoft.com/office/drawing/2014/main" id="{EF7742D5-AFFE-4F71-9793-D0934F317342}"/>
              </a:ext>
            </a:extLst>
          </p:cNvPr>
          <p:cNvSpPr>
            <a:spLocks xmlns:a="http://schemas.openxmlformats.org/drawingml/2006/main" noGrp="1"/>
          </p:cNvSpPr>
          <p:nvPr/>
        </p:nvSpPr>
        <p:spPr>
          <a:xfrm xmlns:a="http://schemas.openxmlformats.org/drawingml/2006/main">
            <a:off x="6477000" y="685800"/>
            <a:ext cx="76200" cy="5334000"/>
          </a:xfrm>
          <a:prstGeom xmlns:a="http://schemas.openxmlformats.org/drawingml/2006/main" prst="rect">
            <a:avLst/>
          </a:prstGeom>
          <a:solidFill xmlns:a="http://schemas.openxmlformats.org/drawingml/2006/main">
            <a:srgbClr val="2D6675"/>
          </a:solidFill>
          <a:ln xmlns:a="http://schemas.openxmlformats.org/drawingml/2006/main" w="0">
            <a:noFill/>
            <a:prstDash val="solid"/>
          </a:ln>
        </p:spPr>
      </p:sp>
    </p:spTree>
    <p:extLst>
      <p:ext uri="{BB962C8B-B14F-4D97-AF65-F5344CB8AC3E}">
        <p14:creationId xmlns:p14="http://schemas.microsoft.com/office/powerpoint/2010/main" val="1030030783"/>
      </p:ext>
    </p:extLst>
  </p:cSld>
</p:sld>
</file>

<file path=ppt/slides/slide14.xml><?xml version="1.0" encoding="utf-8"?>
<p:sld xmlns:p="http://schemas.openxmlformats.org/presentationml/2006/main">
  <p:cSld>
    <p:bg>
      <p:bgPr>
        <a:solidFill xmlns:a="http://schemas.openxmlformats.org/drawingml/2006/main">
          <a:srgbClr val="081116"/>
        </a:solidFill>
      </p:bgPr>
    </p:bg>
    <p:spTree>
      <p:nvGrpSpPr>
        <p:cNvPr id="1" name=""/>
        <p:cNvGrpSpPr/>
        <p:nvPr/>
      </p:nvGrpSpPr>
      <p:grpSpPr>
        <a:xfrm xmlns:a="http://schemas.openxmlformats.org/drawingml/2006/main"/>
      </p:grpSpPr>
      <p:sp>
        <p:nvSpPr>
          <p:cNvPr id="8" name="accent-14">
            <a:extLst xmlns:a="http://schemas.openxmlformats.org/drawingml/2006/main">
              <a:ext uri="{FF2B5EF4-FFF2-40B4-BE49-F238E27FC236}">
                <a16:creationId xmlns:a16="http://schemas.microsoft.com/office/drawing/2014/main" id="{01C78E51-9AD0-48D8-BB90-5B5166939E18}"/>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C9924A"/>
          </a:solidFill>
          <a:ln xmlns:a="http://schemas.openxmlformats.org/drawingml/2006/main" w="0">
            <a:noFill/>
            <a:prstDash val="solid"/>
          </a:ln>
        </p:spPr>
      </p:sp>
      <p:sp>
        <p:nvSpPr>
          <p:cNvPr id="2" name="eyebrow-14">
            <a:extLst xmlns:a="http://schemas.openxmlformats.org/drawingml/2006/main">
              <a:ext uri="{FF2B5EF4-FFF2-40B4-BE49-F238E27FC236}">
                <a16:creationId xmlns:a16="http://schemas.microsoft.com/office/drawing/2014/main" id="{74FA7B8D-821A-405C-AED1-31CE4FBF9987}"/>
              </a:ext>
            </a:extLst>
          </p:cNvPr>
          <p:cNvSpPr>
            <a:spLocks xmlns:a="http://schemas.openxmlformats.org/drawingml/2006/main" noGrp="1"/>
          </p:cNvSpPr>
          <p:nvPr/>
        </p:nvSpPr>
        <p:spPr>
          <a:xfrm xmlns:a="http://schemas.openxmlformats.org/drawingml/2006/main">
            <a:off x="685800" y="36195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1200" b="1" i="0">
                <a:solidFill>
                  <a:srgbClr val="C9924A"/>
                </a:solidFill>
              </a:defRPr>
            </a:pPr>
            <a:r>
              <a:rPr sz="1200" b="1" i="0">
                <a:solidFill>
                  <a:srgbClr val="C9924A"/>
                </a:solidFill>
              </a:rPr>
              <a:t>THE USEFUL LABEL</a:t>
            </a:r>
          </a:p>
        </p:txBody>
      </p:sp>
      <p:sp>
        <p:nvSpPr>
          <p:cNvPr id="3" name="section-14">
            <a:extLst xmlns:a="http://schemas.openxmlformats.org/drawingml/2006/main">
              <a:ext uri="{FF2B5EF4-FFF2-40B4-BE49-F238E27FC236}">
                <a16:creationId xmlns:a16="http://schemas.microsoft.com/office/drawing/2014/main" id="{06CC44E2-2F1C-4FC4-9F51-32579FAC8315}"/>
              </a:ext>
            </a:extLst>
          </p:cNvPr>
          <p:cNvSpPr>
            <a:spLocks xmlns:a="http://schemas.openxmlformats.org/drawingml/2006/main" noGrp="1"/>
          </p:cNvSpPr>
          <p:nvPr/>
        </p:nvSpPr>
        <p:spPr>
          <a:xfrm xmlns:a="http://schemas.openxmlformats.org/drawingml/2006/main">
            <a:off x="685800" y="6429375"/>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1200" b="0" i="0">
                <a:solidFill>
                  <a:srgbClr val="9FB0B9"/>
                </a:solidFill>
              </a:defRPr>
            </a:pPr>
            <a:r>
              <a:rPr sz="1200" b="0" i="0">
                <a:solidFill>
                  <a:srgbClr val="9FB0B9"/>
                </a:solidFill>
              </a:rPr>
              <a:t>DOCUMENTARY FORMS</a:t>
            </a:r>
          </a:p>
        </p:txBody>
      </p:sp>
      <p:sp>
        <p:nvSpPr>
          <p:cNvPr id="4" name="number-14">
            <a:extLst xmlns:a="http://schemas.openxmlformats.org/drawingml/2006/main">
              <a:ext uri="{FF2B5EF4-FFF2-40B4-BE49-F238E27FC236}">
                <a16:creationId xmlns:a16="http://schemas.microsoft.com/office/drawing/2014/main" id="{7FF315E9-0A32-4671-9053-AF6A10459E44}"/>
              </a:ext>
            </a:extLst>
          </p:cNvPr>
          <p:cNvSpPr>
            <a:spLocks xmlns:a="http://schemas.openxmlformats.org/drawingml/2006/main" noGrp="1"/>
          </p:cNvSpPr>
          <p:nvPr/>
        </p:nvSpPr>
        <p:spPr>
          <a:xfrm xmlns:a="http://schemas.openxmlformats.org/drawingml/2006/main">
            <a:off x="11049000" y="640080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lnSpc>
                <a:spcPct val="105000"/>
              </a:lnSpc>
              <a:buNone/>
              <a:defRPr sz="1200" b="1" i="0">
                <a:solidFill>
                  <a:srgbClr val="C9924A"/>
                </a:solidFill>
              </a:defRPr>
            </a:pPr>
            <a:r>
              <a:rPr sz="1200" b="1" i="0">
                <a:solidFill>
                  <a:srgbClr val="C9924A"/>
                </a:solidFill>
              </a:rPr>
              <a:t>14</a:t>
            </a:r>
          </a:p>
        </p:txBody>
      </p:sp>
      <p:sp>
        <p:nvSpPr>
          <p:cNvPr id="5" name="quote-rule">
            <a:extLst xmlns:a="http://schemas.openxmlformats.org/drawingml/2006/main">
              <a:ext uri="{FF2B5EF4-FFF2-40B4-BE49-F238E27FC236}">
                <a16:creationId xmlns:a16="http://schemas.microsoft.com/office/drawing/2014/main" id="{D5C9AA8F-B83A-4A6E-B98C-BE8C29018257}"/>
              </a:ext>
            </a:extLst>
          </p:cNvPr>
          <p:cNvSpPr>
            <a:spLocks xmlns:a="http://schemas.openxmlformats.org/drawingml/2006/main" noGrp="1"/>
          </p:cNvSpPr>
          <p:nvPr/>
        </p:nvSpPr>
        <p:spPr>
          <a:xfrm xmlns:a="http://schemas.openxmlformats.org/drawingml/2006/main">
            <a:off x="819150" y="1352550"/>
            <a:ext cx="876300" cy="76200"/>
          </a:xfrm>
          <a:prstGeom xmlns:a="http://schemas.openxmlformats.org/drawingml/2006/main" prst="rect">
            <a:avLst/>
          </a:prstGeom>
          <a:solidFill xmlns:a="http://schemas.openxmlformats.org/drawingml/2006/main">
            <a:srgbClr val="C9924A"/>
          </a:solidFill>
          <a:ln xmlns:a="http://schemas.openxmlformats.org/drawingml/2006/main" w="0">
            <a:noFill/>
            <a:prstDash val="solid"/>
          </a:ln>
        </p:spPr>
      </p:sp>
      <p:sp>
        <p:nvSpPr>
          <p:cNvPr id="6" name="statement">
            <a:extLst xmlns:a="http://schemas.openxmlformats.org/drawingml/2006/main">
              <a:ext uri="{FF2B5EF4-FFF2-40B4-BE49-F238E27FC236}">
                <a16:creationId xmlns:a16="http://schemas.microsoft.com/office/drawing/2014/main" id="{673A4438-FB61-4F29-B47F-D82739966D0B}"/>
              </a:ext>
            </a:extLst>
          </p:cNvPr>
          <p:cNvSpPr>
            <a:spLocks xmlns:a="http://schemas.openxmlformats.org/drawingml/2006/main" noGrp="1"/>
          </p:cNvSpPr>
          <p:nvPr/>
        </p:nvSpPr>
        <p:spPr>
          <a:xfrm xmlns:a="http://schemas.openxmlformats.org/drawingml/2006/main">
            <a:off x="819150" y="1733550"/>
            <a:ext cx="990600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98000"/>
              </a:lnSpc>
              <a:buNone/>
              <a:defRPr sz="3600" b="1" i="0">
                <a:solidFill>
                  <a:srgbClr val="F2EFE8"/>
                </a:solidFill>
              </a:defRPr>
            </a:pPr>
            <a:r>
              <a:rPr sz="3600" b="1" i="0">
                <a:solidFill>
                  <a:srgbClr val="F2EFE8"/>
                </a:solidFill>
              </a:rPr>
              <a:t>Hybrid is not an escape hatch. It is a pattern of deliberate borrowing.</a:t>
            </a:r>
          </a:p>
        </p:txBody>
      </p:sp>
      <p:sp>
        <p:nvSpPr>
          <p:cNvPr id="7" name="prompt">
            <a:extLst xmlns:a="http://schemas.openxmlformats.org/drawingml/2006/main">
              <a:ext uri="{FF2B5EF4-FFF2-40B4-BE49-F238E27FC236}">
                <a16:creationId xmlns:a16="http://schemas.microsoft.com/office/drawing/2014/main" id="{E0008DC2-A255-4F12-922D-1177BBBF3044}"/>
              </a:ext>
            </a:extLst>
          </p:cNvPr>
          <p:cNvSpPr>
            <a:spLocks xmlns:a="http://schemas.openxmlformats.org/drawingml/2006/main" noGrp="1"/>
          </p:cNvSpPr>
          <p:nvPr/>
        </p:nvSpPr>
        <p:spPr>
          <a:xfrm xmlns:a="http://schemas.openxmlformats.org/drawingml/2006/main">
            <a:off x="819150" y="4762500"/>
            <a:ext cx="9239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1725" b="0" i="1">
                <a:solidFill>
                  <a:srgbClr val="9FB0B9"/>
                </a:solidFill>
              </a:defRPr>
            </a:pPr>
            <a:r>
              <a:rPr sz="1725" b="0" i="1">
                <a:solidFill>
                  <a:srgbClr val="9FB0B9"/>
                </a:solidFill>
              </a:rPr>
              <a:t>What is the film’s dominant logic—and what does each borrowed form add?</a:t>
            </a:r>
          </a:p>
        </p:txBody>
      </p:sp>
    </p:spTree>
    <p:extLst>
      <p:ext uri="{BB962C8B-B14F-4D97-AF65-F5344CB8AC3E}">
        <p14:creationId xmlns:p14="http://schemas.microsoft.com/office/powerpoint/2010/main" val="1175687251"/>
      </p:ext>
    </p:extLst>
  </p:cSld>
</p:sld>
</file>

<file path=ppt/slides/slide15.xml><?xml version="1.0" encoding="utf-8"?>
<p:sld xmlns:p="http://schemas.openxmlformats.org/presentationml/2006/main">
  <p:cSld>
    <p:bg>
      <p:bgPr>
        <a:solidFill xmlns:a="http://schemas.openxmlformats.org/drawingml/2006/main">
          <a:srgbClr val="081116"/>
        </a:solidFill>
      </p:bgPr>
    </p:bg>
    <p:spTree>
      <p:nvGrpSpPr>
        <p:cNvPr id="1" name=""/>
        <p:cNvGrpSpPr/>
        <p:nvPr/>
      </p:nvGrpSpPr>
      <p:grpSpPr>
        <a:xfrm xmlns:a="http://schemas.openxmlformats.org/drawingml/2006/main"/>
      </p:grpSpPr>
      <p:sp>
        <p:nvSpPr>
          <p:cNvPr id="12" name="accent-15">
            <a:extLst xmlns:a="http://schemas.openxmlformats.org/drawingml/2006/main">
              <a:ext uri="{FF2B5EF4-FFF2-40B4-BE49-F238E27FC236}">
                <a16:creationId xmlns:a16="http://schemas.microsoft.com/office/drawing/2014/main" id="{84FB6CCF-B071-4AE6-8D65-3CD12F530B33}"/>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C9924A"/>
          </a:solidFill>
          <a:ln xmlns:a="http://schemas.openxmlformats.org/drawingml/2006/main" w="0">
            <a:noFill/>
            <a:prstDash val="solid"/>
          </a:ln>
        </p:spPr>
      </p:sp>
      <p:sp>
        <p:nvSpPr>
          <p:cNvPr id="2" name="eyebrow-15">
            <a:extLst xmlns:a="http://schemas.openxmlformats.org/drawingml/2006/main">
              <a:ext uri="{FF2B5EF4-FFF2-40B4-BE49-F238E27FC236}">
                <a16:creationId xmlns:a16="http://schemas.microsoft.com/office/drawing/2014/main" id="{0ABBDF1C-1417-455F-8786-D9F306C7D6BE}"/>
              </a:ext>
            </a:extLst>
          </p:cNvPr>
          <p:cNvSpPr>
            <a:spLocks xmlns:a="http://schemas.openxmlformats.org/drawingml/2006/main" noGrp="1"/>
          </p:cNvSpPr>
          <p:nvPr/>
        </p:nvSpPr>
        <p:spPr>
          <a:xfrm xmlns:a="http://schemas.openxmlformats.org/drawingml/2006/main">
            <a:off x="685800" y="36195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1200" b="1" i="0">
                <a:solidFill>
                  <a:srgbClr val="C9924A"/>
                </a:solidFill>
              </a:defRPr>
            </a:pPr>
            <a:r>
              <a:rPr sz="1200" b="1" i="0">
                <a:solidFill>
                  <a:srgbClr val="C9924A"/>
                </a:solidFill>
              </a:rPr>
              <a:t>A SHARED STORY WORLD</a:t>
            </a:r>
          </a:p>
        </p:txBody>
      </p:sp>
      <p:sp>
        <p:nvSpPr>
          <p:cNvPr id="3" name="section-15">
            <a:extLst xmlns:a="http://schemas.openxmlformats.org/drawingml/2006/main">
              <a:ext uri="{FF2B5EF4-FFF2-40B4-BE49-F238E27FC236}">
                <a16:creationId xmlns:a16="http://schemas.microsoft.com/office/drawing/2014/main" id="{F854B35F-1E9D-4820-A959-B8D0B80208A4}"/>
              </a:ext>
            </a:extLst>
          </p:cNvPr>
          <p:cNvSpPr>
            <a:spLocks xmlns:a="http://schemas.openxmlformats.org/drawingml/2006/main" noGrp="1"/>
          </p:cNvSpPr>
          <p:nvPr/>
        </p:nvSpPr>
        <p:spPr>
          <a:xfrm xmlns:a="http://schemas.openxmlformats.org/drawingml/2006/main">
            <a:off x="685800" y="6429375"/>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1200" b="0" i="0">
                <a:solidFill>
                  <a:srgbClr val="9FB0B9"/>
                </a:solidFill>
              </a:defRPr>
            </a:pPr>
            <a:r>
              <a:rPr sz="1200" b="0" i="0">
                <a:solidFill>
                  <a:srgbClr val="9FB0B9"/>
                </a:solidFill>
              </a:rPr>
              <a:t>FORM IN PRACTICE</a:t>
            </a:r>
          </a:p>
        </p:txBody>
      </p:sp>
      <p:sp>
        <p:nvSpPr>
          <p:cNvPr id="4" name="number-15">
            <a:extLst xmlns:a="http://schemas.openxmlformats.org/drawingml/2006/main">
              <a:ext uri="{FF2B5EF4-FFF2-40B4-BE49-F238E27FC236}">
                <a16:creationId xmlns:a16="http://schemas.microsoft.com/office/drawing/2014/main" id="{E9F44706-89CB-4781-B78A-9C598EC27C69}"/>
              </a:ext>
            </a:extLst>
          </p:cNvPr>
          <p:cNvSpPr>
            <a:spLocks xmlns:a="http://schemas.openxmlformats.org/drawingml/2006/main" noGrp="1"/>
          </p:cNvSpPr>
          <p:nvPr/>
        </p:nvSpPr>
        <p:spPr>
          <a:xfrm xmlns:a="http://schemas.openxmlformats.org/drawingml/2006/main">
            <a:off x="11049000" y="640080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lnSpc>
                <a:spcPct val="105000"/>
              </a:lnSpc>
              <a:buNone/>
              <a:defRPr sz="1200" b="1" i="0">
                <a:solidFill>
                  <a:srgbClr val="C9924A"/>
                </a:solidFill>
              </a:defRPr>
            </a:pPr>
            <a:r>
              <a:rPr sz="1200" b="1" i="0">
                <a:solidFill>
                  <a:srgbClr val="C9924A"/>
                </a:solidFill>
              </a:rPr>
              <a:t>15</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bcfbfe3da73941b1"/>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6" name="story-overlay">
            <a:extLst xmlns:a="http://schemas.openxmlformats.org/drawingml/2006/main">
              <a:ext uri="{FF2B5EF4-FFF2-40B4-BE49-F238E27FC236}">
                <a16:creationId xmlns:a16="http://schemas.microsoft.com/office/drawing/2014/main" id="{843CAC6F-A9A1-43CC-91AF-487FDBB164BB}"/>
              </a:ext>
            </a:extLst>
          </p:cNvPr>
          <p:cNvSpPr>
            <a:spLocks xmlns:a="http://schemas.openxmlformats.org/drawingml/2006/main" noGrp="1"/>
          </p:cNvSpPr>
          <p:nvPr/>
        </p:nvSpPr>
        <p:spPr>
          <a:xfrm xmlns:a="http://schemas.openxmlformats.org/drawingml/2006/main">
            <a:off x="0" y="0"/>
            <a:ext cx="6858000" cy="6858000"/>
          </a:xfrm>
          <a:prstGeom xmlns:a="http://schemas.openxmlformats.org/drawingml/2006/main" prst="rect">
            <a:avLst/>
          </a:prstGeom>
          <a:solidFill xmlns:a="http://schemas.openxmlformats.org/drawingml/2006/main">
            <a:srgbClr val="081116">
              <a:alpha val="86667"/>
            </a:srgbClr>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D901BFA5-58CA-473C-BB3D-64C9981C3921}"/>
              </a:ext>
            </a:extLst>
          </p:cNvPr>
          <p:cNvSpPr>
            <a:spLocks xmlns:a="http://schemas.openxmlformats.org/drawingml/2006/main" noGrp="1"/>
          </p:cNvSpPr>
          <p:nvPr/>
        </p:nvSpPr>
        <p:spPr>
          <a:xfrm xmlns:a="http://schemas.openxmlformats.org/drawingml/2006/main">
            <a:off x="685800" y="57150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1275" b="1" i="0">
                <a:solidFill>
                  <a:srgbClr val="C9924A"/>
                </a:solidFill>
              </a:defRPr>
            </a:pPr>
            <a:r>
              <a:rPr sz="1275" b="1" i="0">
                <a:solidFill>
                  <a:srgbClr val="C9924A"/>
                </a:solidFill>
              </a:rPr>
              <a:t>ONE STORY</a:t>
            </a:r>
          </a:p>
        </p:txBody>
      </p:sp>
      <p:sp>
        <p:nvSpPr>
          <p:cNvPr id="8" name="">
            <a:extLst xmlns:a="http://schemas.openxmlformats.org/drawingml/2006/main">
              <a:ext uri="{FF2B5EF4-FFF2-40B4-BE49-F238E27FC236}">
                <a16:creationId xmlns:a16="http://schemas.microsoft.com/office/drawing/2014/main" id="{9EE534CF-25FA-4A8A-B233-09428D16ACFF}"/>
              </a:ext>
            </a:extLst>
          </p:cNvPr>
          <p:cNvSpPr>
            <a:spLocks xmlns:a="http://schemas.openxmlformats.org/drawingml/2006/main" noGrp="1"/>
          </p:cNvSpPr>
          <p:nvPr/>
        </p:nvSpPr>
        <p:spPr>
          <a:xfrm xmlns:a="http://schemas.openxmlformats.org/drawingml/2006/main">
            <a:off x="685800" y="1581150"/>
            <a:ext cx="5191125"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95000"/>
              </a:lnSpc>
              <a:buNone/>
              <a:defRPr sz="3900" b="1" i="0">
                <a:solidFill>
                  <a:srgbClr val="F2EFE8"/>
                </a:solidFill>
              </a:defRPr>
            </a:pPr>
            <a:r>
              <a:rPr sz="3900" b="1" i="0">
                <a:solidFill>
                  <a:srgbClr val="F2EFE8"/>
                </a:solidFill>
              </a:rPr>
              <a:t>The community garden may close.</a:t>
            </a:r>
          </a:p>
        </p:txBody>
      </p:sp>
      <p:sp>
        <p:nvSpPr>
          <p:cNvPr id="9" name="">
            <a:extLst xmlns:a="http://schemas.openxmlformats.org/drawingml/2006/main">
              <a:ext uri="{FF2B5EF4-FFF2-40B4-BE49-F238E27FC236}">
                <a16:creationId xmlns:a16="http://schemas.microsoft.com/office/drawing/2014/main" id="{BCD53B65-937E-47F1-91CE-AEA4185D846B}"/>
              </a:ext>
            </a:extLst>
          </p:cNvPr>
          <p:cNvSpPr>
            <a:spLocks xmlns:a="http://schemas.openxmlformats.org/drawingml/2006/main" noGrp="1"/>
          </p:cNvSpPr>
          <p:nvPr/>
        </p:nvSpPr>
        <p:spPr>
          <a:xfrm xmlns:a="http://schemas.openxmlformats.org/drawingml/2006/main">
            <a:off x="685800" y="3638550"/>
            <a:ext cx="4953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1800" b="0" i="0">
                <a:solidFill>
                  <a:srgbClr val="D8E0E1"/>
                </a:solidFill>
              </a:defRPr>
            </a:pPr>
            <a:r>
              <a:rPr sz="1800" b="0" i="0">
                <a:solidFill>
                  <a:srgbClr val="D8E0E1"/>
                </a:solidFill>
              </a:rPr>
              <a:t>People · place · labor · records · uncertainty · time</a:t>
            </a:r>
          </a:p>
        </p:txBody>
      </p:sp>
      <p:sp>
        <p:nvSpPr>
          <p:cNvPr id="10" name="">
            <a:extLst xmlns:a="http://schemas.openxmlformats.org/drawingml/2006/main">
              <a:ext uri="{FF2B5EF4-FFF2-40B4-BE49-F238E27FC236}">
                <a16:creationId xmlns:a16="http://schemas.microsoft.com/office/drawing/2014/main" id="{43F265C0-3D3E-4EBC-80BF-CC9633231383}"/>
              </a:ext>
            </a:extLst>
          </p:cNvPr>
          <p:cNvSpPr>
            <a:spLocks xmlns:a="http://schemas.openxmlformats.org/drawingml/2006/main" noGrp="1"/>
          </p:cNvSpPr>
          <p:nvPr/>
        </p:nvSpPr>
        <p:spPr>
          <a:xfrm xmlns:a="http://schemas.openxmlformats.org/drawingml/2006/main">
            <a:off x="685800" y="5219700"/>
            <a:ext cx="4572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1950" b="1" i="0">
                <a:solidFill>
                  <a:srgbClr val="C9924A"/>
                </a:solidFill>
              </a:defRPr>
            </a:pPr>
            <a:r>
              <a:rPr sz="1950" b="1" i="0">
                <a:solidFill>
                  <a:srgbClr val="C9924A"/>
                </a:solidFill>
              </a:rPr>
              <a:t>Now change the form.</a:t>
            </a:r>
          </a:p>
        </p:txBody>
      </p:sp>
      <p:sp>
        <p:nvSpPr>
          <p:cNvPr id="11" name="">
            <a:extLst xmlns:a="http://schemas.openxmlformats.org/drawingml/2006/main">
              <a:ext uri="{FF2B5EF4-FFF2-40B4-BE49-F238E27FC236}">
                <a16:creationId xmlns:a16="http://schemas.microsoft.com/office/drawing/2014/main" id="{13A9599A-F61C-4743-B0B0-1B79F2797DDC}"/>
              </a:ext>
            </a:extLst>
          </p:cNvPr>
          <p:cNvSpPr>
            <a:spLocks xmlns:a="http://schemas.openxmlformats.org/drawingml/2006/main" noGrp="1"/>
          </p:cNvSpPr>
          <p:nvPr/>
        </p:nvSpPr>
        <p:spPr>
          <a:xfrm xmlns:a="http://schemas.openxmlformats.org/drawingml/2006/main">
            <a:off x="11049000" y="640080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lnSpc>
                <a:spcPct val="105000"/>
              </a:lnSpc>
              <a:buNone/>
              <a:defRPr sz="1200" b="1" i="0">
                <a:solidFill>
                  <a:srgbClr val="C9924A"/>
                </a:solidFill>
              </a:defRPr>
            </a:pPr>
            <a:r>
              <a:rPr sz="1200" b="1" i="0">
                <a:solidFill>
                  <a:srgbClr val="C9924A"/>
                </a:solidFill>
              </a:rPr>
              <a:t>15</a:t>
            </a:r>
          </a:p>
        </p:txBody>
      </p:sp>
    </p:spTree>
    <p:extLst>
      <p:ext uri="{BB962C8B-B14F-4D97-AF65-F5344CB8AC3E}">
        <p14:creationId xmlns:p14="http://schemas.microsoft.com/office/powerpoint/2010/main" val="183294947"/>
      </p:ext>
    </p:extLst>
  </p:cSld>
</p:sld>
</file>

<file path=ppt/slides/slide16.xml><?xml version="1.0" encoding="utf-8"?>
<p:sld xmlns:p="http://schemas.openxmlformats.org/presentationml/2006/main">
  <p:cSld>
    <p:bg>
      <p:bgPr>
        <a:solidFill xmlns:a="http://schemas.openxmlformats.org/drawingml/2006/main">
          <a:srgbClr val="081116"/>
        </a:solidFill>
      </p:bgPr>
    </p:bg>
    <p:spTree>
      <p:nvGrpSpPr>
        <p:cNvPr id="1" name=""/>
        <p:cNvGrpSpPr/>
        <p:nvPr/>
      </p:nvGrpSpPr>
      <p:grpSpPr>
        <a:xfrm xmlns:a="http://schemas.openxmlformats.org/drawingml/2006/main"/>
      </p:grpSpPr>
      <p:sp>
        <p:nvSpPr>
          <p:cNvPr id="12" name="accent-16">
            <a:extLst xmlns:a="http://schemas.openxmlformats.org/drawingml/2006/main">
              <a:ext uri="{FF2B5EF4-FFF2-40B4-BE49-F238E27FC236}">
                <a16:creationId xmlns:a16="http://schemas.microsoft.com/office/drawing/2014/main" id="{7F9A68F8-54D7-41EA-92B5-6366F8CEF6AE}"/>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C9924A"/>
          </a:solidFill>
          <a:ln xmlns:a="http://schemas.openxmlformats.org/drawingml/2006/main" w="0">
            <a:noFill/>
            <a:prstDash val="solid"/>
          </a:ln>
        </p:spPr>
      </p:sp>
      <p:sp>
        <p:nvSpPr>
          <p:cNvPr id="2" name="eyebrow-16">
            <a:extLst xmlns:a="http://schemas.openxmlformats.org/drawingml/2006/main">
              <a:ext uri="{FF2B5EF4-FFF2-40B4-BE49-F238E27FC236}">
                <a16:creationId xmlns:a16="http://schemas.microsoft.com/office/drawing/2014/main" id="{085A02BB-B298-44EA-B881-0FD95B19030B}"/>
              </a:ext>
            </a:extLst>
          </p:cNvPr>
          <p:cNvSpPr>
            <a:spLocks xmlns:a="http://schemas.openxmlformats.org/drawingml/2006/main" noGrp="1"/>
          </p:cNvSpPr>
          <p:nvPr/>
        </p:nvSpPr>
        <p:spPr>
          <a:xfrm xmlns:a="http://schemas.openxmlformats.org/drawingml/2006/main">
            <a:off x="685800" y="36195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1200" b="1" i="0">
                <a:solidFill>
                  <a:srgbClr val="C9924A"/>
                </a:solidFill>
              </a:defRPr>
            </a:pPr>
            <a:r>
              <a:rPr sz="1200" b="1" i="0">
                <a:solidFill>
                  <a:srgbClr val="C9924A"/>
                </a:solidFill>
              </a:rPr>
              <a:t>ONE STORY, SIX POSSIBLE FILMS</a:t>
            </a:r>
          </a:p>
        </p:txBody>
      </p:sp>
      <p:sp>
        <p:nvSpPr>
          <p:cNvPr id="3" name="section-16">
            <a:extLst xmlns:a="http://schemas.openxmlformats.org/drawingml/2006/main">
              <a:ext uri="{FF2B5EF4-FFF2-40B4-BE49-F238E27FC236}">
                <a16:creationId xmlns:a16="http://schemas.microsoft.com/office/drawing/2014/main" id="{E1081D7B-18FA-45B3-93C8-1DFE53ADAFE3}"/>
              </a:ext>
            </a:extLst>
          </p:cNvPr>
          <p:cNvSpPr>
            <a:spLocks xmlns:a="http://schemas.openxmlformats.org/drawingml/2006/main" noGrp="1"/>
          </p:cNvSpPr>
          <p:nvPr/>
        </p:nvSpPr>
        <p:spPr>
          <a:xfrm xmlns:a="http://schemas.openxmlformats.org/drawingml/2006/main">
            <a:off x="685800" y="6429375"/>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1200" b="0" i="0">
                <a:solidFill>
                  <a:srgbClr val="9FB0B9"/>
                </a:solidFill>
              </a:defRPr>
            </a:pPr>
            <a:r>
              <a:rPr sz="1200" b="0" i="0">
                <a:solidFill>
                  <a:srgbClr val="9FB0B9"/>
                </a:solidFill>
              </a:rPr>
              <a:t>FORM IN PRACTICE</a:t>
            </a:r>
          </a:p>
        </p:txBody>
      </p:sp>
      <p:sp>
        <p:nvSpPr>
          <p:cNvPr id="4" name="number-16">
            <a:extLst xmlns:a="http://schemas.openxmlformats.org/drawingml/2006/main">
              <a:ext uri="{FF2B5EF4-FFF2-40B4-BE49-F238E27FC236}">
                <a16:creationId xmlns:a16="http://schemas.microsoft.com/office/drawing/2014/main" id="{942CB60E-5095-408C-BAA9-ABAC93520E7A}"/>
              </a:ext>
            </a:extLst>
          </p:cNvPr>
          <p:cNvSpPr>
            <a:spLocks xmlns:a="http://schemas.openxmlformats.org/drawingml/2006/main" noGrp="1"/>
          </p:cNvSpPr>
          <p:nvPr/>
        </p:nvSpPr>
        <p:spPr>
          <a:xfrm xmlns:a="http://schemas.openxmlformats.org/drawingml/2006/main">
            <a:off x="11049000" y="640080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lnSpc>
                <a:spcPct val="105000"/>
              </a:lnSpc>
              <a:buNone/>
              <a:defRPr sz="1200" b="1" i="0">
                <a:solidFill>
                  <a:srgbClr val="C9924A"/>
                </a:solidFill>
              </a:defRPr>
            </a:pPr>
            <a:r>
              <a:rPr sz="1200" b="1" i="0">
                <a:solidFill>
                  <a:srgbClr val="C9924A"/>
                </a:solidFill>
              </a:rPr>
              <a:t>16</a:t>
            </a:r>
          </a:p>
        </p:txBody>
      </p:sp>
      <p:sp>
        <p:nvSpPr>
          <p:cNvPr id="5" name="slide-title">
            <a:extLst xmlns:a="http://schemas.openxmlformats.org/drawingml/2006/main">
              <a:ext uri="{FF2B5EF4-FFF2-40B4-BE49-F238E27FC236}">
                <a16:creationId xmlns:a16="http://schemas.microsoft.com/office/drawing/2014/main" id="{5F2D7AA5-5398-44B1-97A8-A595980078A0}"/>
              </a:ext>
            </a:extLst>
          </p:cNvPr>
          <p:cNvSpPr>
            <a:spLocks xmlns:a="http://schemas.openxmlformats.org/drawingml/2006/main" noGrp="1"/>
          </p:cNvSpPr>
          <p:nvPr/>
        </p:nvSpPr>
        <p:spPr>
          <a:xfrm xmlns:a="http://schemas.openxmlformats.org/drawingml/2006/main">
            <a:off x="685800" y="838200"/>
            <a:ext cx="61912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94000"/>
              </a:lnSpc>
              <a:buNone/>
              <a:defRPr sz="3600" b="1" i="0">
                <a:solidFill>
                  <a:srgbClr val="F2EFE8"/>
                </a:solidFill>
              </a:defRPr>
            </a:pPr>
            <a:r>
              <a:rPr sz="3600" b="1" i="0">
                <a:solidFill>
                  <a:srgbClr val="F2EFE8"/>
                </a:solidFill>
              </a:rPr>
              <a:t>Observational version</a:t>
            </a:r>
          </a:p>
        </p:txBody>
      </p:sp>
      <p:sp>
        <p:nvSpPr>
          <p:cNvPr id="6" name="pitch">
            <a:extLst xmlns:a="http://schemas.openxmlformats.org/drawingml/2006/main">
              <a:ext uri="{FF2B5EF4-FFF2-40B4-BE49-F238E27FC236}">
                <a16:creationId xmlns:a16="http://schemas.microsoft.com/office/drawing/2014/main" id="{E540E6C5-8D32-46A9-A6DD-0902D6E20C24}"/>
              </a:ext>
            </a:extLst>
          </p:cNvPr>
          <p:cNvSpPr>
            <a:spLocks xmlns:a="http://schemas.openxmlformats.org/drawingml/2006/main" noGrp="1"/>
          </p:cNvSpPr>
          <p:nvPr/>
        </p:nvSpPr>
        <p:spPr>
          <a:xfrm xmlns:a="http://schemas.openxmlformats.org/drawingml/2006/main">
            <a:off x="685800" y="2019300"/>
            <a:ext cx="5286375"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0000"/>
              </a:lnSpc>
              <a:buNone/>
              <a:defRPr sz="2175" b="0" i="1">
                <a:solidFill>
                  <a:srgbClr val="F2EFE8"/>
                </a:solidFill>
              </a:defRPr>
            </a:pPr>
            <a:r>
              <a:rPr sz="2175" b="0" i="1">
                <a:solidFill>
                  <a:srgbClr val="F2EFE8"/>
                </a:solidFill>
              </a:rPr>
              <a:t>Spend the final open weekend with the gardeners as they work, wait, disagree, and prepare to leave.</a:t>
            </a:r>
          </a:p>
        </p:txBody>
      </p:sp>
      <p:sp>
        <p:nvSpPr>
          <p:cNvPr id="7" name="">
            <a:extLst xmlns:a="http://schemas.openxmlformats.org/drawingml/2006/main">
              <a:ext uri="{FF2B5EF4-FFF2-40B4-BE49-F238E27FC236}">
                <a16:creationId xmlns:a16="http://schemas.microsoft.com/office/drawing/2014/main" id="{2F1C43AE-B72D-4DEE-AE9A-85773A5726A2}"/>
              </a:ext>
            </a:extLst>
          </p:cNvPr>
          <p:cNvSpPr>
            <a:spLocks xmlns:a="http://schemas.openxmlformats.org/drawingml/2006/main" noGrp="1"/>
          </p:cNvSpPr>
          <p:nvPr/>
        </p:nvSpPr>
        <p:spPr>
          <a:xfrm xmlns:a="http://schemas.openxmlformats.org/drawingml/2006/main">
            <a:off x="685800" y="3857625"/>
            <a:ext cx="1428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1200" b="1" i="0">
                <a:solidFill>
                  <a:srgbClr val="C9924A"/>
                </a:solidFill>
              </a:defRPr>
            </a:pPr>
            <a:r>
              <a:rPr sz="1200" b="1" i="0">
                <a:solidFill>
                  <a:srgbClr val="C9924A"/>
                </a:solidFill>
              </a:rPr>
              <a:t>CAMERA</a:t>
            </a:r>
          </a:p>
        </p:txBody>
      </p:sp>
      <p:sp>
        <p:nvSpPr>
          <p:cNvPr id="8" name="">
            <a:extLst xmlns:a="http://schemas.openxmlformats.org/drawingml/2006/main">
              <a:ext uri="{FF2B5EF4-FFF2-40B4-BE49-F238E27FC236}">
                <a16:creationId xmlns:a16="http://schemas.microsoft.com/office/drawing/2014/main" id="{0CFD4C6B-07A2-4F3A-B7E7-FF6D64A9639F}"/>
              </a:ext>
            </a:extLst>
          </p:cNvPr>
          <p:cNvSpPr>
            <a:spLocks xmlns:a="http://schemas.openxmlformats.org/drawingml/2006/main" noGrp="1"/>
          </p:cNvSpPr>
          <p:nvPr/>
        </p:nvSpPr>
        <p:spPr>
          <a:xfrm xmlns:a="http://schemas.openxmlformats.org/drawingml/2006/main">
            <a:off x="685800" y="4171950"/>
            <a:ext cx="52863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1575" b="0" i="0">
                <a:solidFill>
                  <a:srgbClr val="D8E0E1"/>
                </a:solidFill>
              </a:defRPr>
            </a:pPr>
            <a:r>
              <a:rPr sz="1575" b="0" i="0">
                <a:solidFill>
                  <a:srgbClr val="D8E0E1"/>
                </a:solidFill>
              </a:rPr>
              <a:t>Present for sustained action; little explanation in the moment.</a:t>
            </a:r>
          </a:p>
        </p:txBody>
      </p:sp>
      <p:sp>
        <p:nvSpPr>
          <p:cNvPr id="9" name="">
            <a:extLst xmlns:a="http://schemas.openxmlformats.org/drawingml/2006/main">
              <a:ext uri="{FF2B5EF4-FFF2-40B4-BE49-F238E27FC236}">
                <a16:creationId xmlns:a16="http://schemas.microsoft.com/office/drawing/2014/main" id="{4CF67DCE-A8D0-4146-8BCE-87FA96A66227}"/>
              </a:ext>
            </a:extLst>
          </p:cNvPr>
          <p:cNvSpPr>
            <a:spLocks xmlns:a="http://schemas.openxmlformats.org/drawingml/2006/main" noGrp="1"/>
          </p:cNvSpPr>
          <p:nvPr/>
        </p:nvSpPr>
        <p:spPr>
          <a:xfrm xmlns:a="http://schemas.openxmlformats.org/drawingml/2006/main">
            <a:off x="685800" y="4905375"/>
            <a:ext cx="2000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1200" b="1" i="0">
                <a:solidFill>
                  <a:srgbClr val="C9924A"/>
                </a:solidFill>
              </a:defRPr>
            </a:pPr>
            <a:r>
              <a:rPr sz="1200" b="1" i="0">
                <a:solidFill>
                  <a:srgbClr val="C9924A"/>
                </a:solidFill>
              </a:rPr>
              <a:t>STORY PRESSURE</a:t>
            </a:r>
          </a:p>
        </p:txBody>
      </p:sp>
      <p:sp>
        <p:nvSpPr>
          <p:cNvPr id="10" name="">
            <a:extLst xmlns:a="http://schemas.openxmlformats.org/drawingml/2006/main">
              <a:ext uri="{FF2B5EF4-FFF2-40B4-BE49-F238E27FC236}">
                <a16:creationId xmlns:a16="http://schemas.microsoft.com/office/drawing/2014/main" id="{27514469-884D-4B16-8A34-4D70738D814A}"/>
              </a:ext>
            </a:extLst>
          </p:cNvPr>
          <p:cNvSpPr>
            <a:spLocks xmlns:a="http://schemas.openxmlformats.org/drawingml/2006/main" noGrp="1"/>
          </p:cNvSpPr>
          <p:nvPr/>
        </p:nvSpPr>
        <p:spPr>
          <a:xfrm xmlns:a="http://schemas.openxmlformats.org/drawingml/2006/main">
            <a:off x="685800" y="5219700"/>
            <a:ext cx="52863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1575" b="0" i="0">
                <a:solidFill>
                  <a:srgbClr val="D8E0E1"/>
                </a:solidFill>
              </a:defRPr>
            </a:pPr>
            <a:r>
              <a:rPr sz="1575" b="0" i="0">
                <a:solidFill>
                  <a:srgbClr val="D8E0E1"/>
                </a:solidFill>
              </a:rPr>
              <a:t>The approaching closure reorganizes ordinary behavior.</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36adaaaa6d2c434b"/>
          <a:srcRect xmlns:a="http://schemas.openxmlformats.org/drawingml/2006/main" l="4643" t="0" r="4643" b="0"/>
          <a:stretch xmlns:a="http://schemas.openxmlformats.org/drawingml/2006/main">
            <a:fillRect l="0" t="0" r="0" b="0"/>
          </a:stretch>
        </p:blipFill>
        <p:spPr>
          <a:xfrm xmlns:a="http://schemas.openxmlformats.org/drawingml/2006/main">
            <a:off x="6667500" y="685800"/>
            <a:ext cx="4838700" cy="5334000"/>
          </a:xfrm>
          <a:prstGeom xmlns:a="http://schemas.openxmlformats.org/drawingml/2006/main" prst="rect">
            <a:avLst/>
          </a:prstGeom>
        </p:spPr>
      </p:pic>
    </p:spTree>
    <p:extLst>
      <p:ext uri="{BB962C8B-B14F-4D97-AF65-F5344CB8AC3E}">
        <p14:creationId xmlns:p14="http://schemas.microsoft.com/office/powerpoint/2010/main" val="1193772121"/>
      </p:ext>
    </p:extLst>
  </p:cSld>
</p:sld>
</file>

<file path=ppt/slides/slide17.xml><?xml version="1.0" encoding="utf-8"?>
<p:sld xmlns:p="http://schemas.openxmlformats.org/presentationml/2006/main">
  <p:cSld>
    <p:bg>
      <p:bgPr>
        <a:solidFill xmlns:a="http://schemas.openxmlformats.org/drawingml/2006/main">
          <a:srgbClr val="081116"/>
        </a:solidFill>
      </p:bgPr>
    </p:bg>
    <p:spTree>
      <p:nvGrpSpPr>
        <p:cNvPr id="1" name=""/>
        <p:cNvGrpSpPr/>
        <p:nvPr/>
      </p:nvGrpSpPr>
      <p:grpSpPr>
        <a:xfrm xmlns:a="http://schemas.openxmlformats.org/drawingml/2006/main"/>
      </p:grpSpPr>
      <p:sp>
        <p:nvSpPr>
          <p:cNvPr id="12" name="accent-17">
            <a:extLst xmlns:a="http://schemas.openxmlformats.org/drawingml/2006/main">
              <a:ext uri="{FF2B5EF4-FFF2-40B4-BE49-F238E27FC236}">
                <a16:creationId xmlns:a16="http://schemas.microsoft.com/office/drawing/2014/main" id="{49DF72D4-7464-4CEC-AA54-D09F32607E6D}"/>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C9924A"/>
          </a:solidFill>
          <a:ln xmlns:a="http://schemas.openxmlformats.org/drawingml/2006/main" w="0">
            <a:noFill/>
            <a:prstDash val="solid"/>
          </a:ln>
        </p:spPr>
      </p:sp>
      <p:sp>
        <p:nvSpPr>
          <p:cNvPr id="2" name="eyebrow-17">
            <a:extLst xmlns:a="http://schemas.openxmlformats.org/drawingml/2006/main">
              <a:ext uri="{FF2B5EF4-FFF2-40B4-BE49-F238E27FC236}">
                <a16:creationId xmlns:a16="http://schemas.microsoft.com/office/drawing/2014/main" id="{497FB3DB-179B-4438-A302-5B3A5BE0DC2B}"/>
              </a:ext>
            </a:extLst>
          </p:cNvPr>
          <p:cNvSpPr>
            <a:spLocks xmlns:a="http://schemas.openxmlformats.org/drawingml/2006/main" noGrp="1"/>
          </p:cNvSpPr>
          <p:nvPr/>
        </p:nvSpPr>
        <p:spPr>
          <a:xfrm xmlns:a="http://schemas.openxmlformats.org/drawingml/2006/main">
            <a:off x="685800" y="36195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1200" b="1" i="0">
                <a:solidFill>
                  <a:srgbClr val="C9924A"/>
                </a:solidFill>
              </a:defRPr>
            </a:pPr>
            <a:r>
              <a:rPr sz="1200" b="1" i="0">
                <a:solidFill>
                  <a:srgbClr val="C9924A"/>
                </a:solidFill>
              </a:rPr>
              <a:t>ONE STORY, SIX POSSIBLE FILMS</a:t>
            </a:r>
          </a:p>
        </p:txBody>
      </p:sp>
      <p:sp>
        <p:nvSpPr>
          <p:cNvPr id="3" name="section-17">
            <a:extLst xmlns:a="http://schemas.openxmlformats.org/drawingml/2006/main">
              <a:ext uri="{FF2B5EF4-FFF2-40B4-BE49-F238E27FC236}">
                <a16:creationId xmlns:a16="http://schemas.microsoft.com/office/drawing/2014/main" id="{63FD4B1C-1DA1-4C93-BFBB-98CD54D58D75}"/>
              </a:ext>
            </a:extLst>
          </p:cNvPr>
          <p:cNvSpPr>
            <a:spLocks xmlns:a="http://schemas.openxmlformats.org/drawingml/2006/main" noGrp="1"/>
          </p:cNvSpPr>
          <p:nvPr/>
        </p:nvSpPr>
        <p:spPr>
          <a:xfrm xmlns:a="http://schemas.openxmlformats.org/drawingml/2006/main">
            <a:off x="685800" y="6429375"/>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1200" b="0" i="0">
                <a:solidFill>
                  <a:srgbClr val="9FB0B9"/>
                </a:solidFill>
              </a:defRPr>
            </a:pPr>
            <a:r>
              <a:rPr sz="1200" b="0" i="0">
                <a:solidFill>
                  <a:srgbClr val="9FB0B9"/>
                </a:solidFill>
              </a:rPr>
              <a:t>FORM IN PRACTICE</a:t>
            </a:r>
          </a:p>
        </p:txBody>
      </p:sp>
      <p:sp>
        <p:nvSpPr>
          <p:cNvPr id="4" name="number-17">
            <a:extLst xmlns:a="http://schemas.openxmlformats.org/drawingml/2006/main">
              <a:ext uri="{FF2B5EF4-FFF2-40B4-BE49-F238E27FC236}">
                <a16:creationId xmlns:a16="http://schemas.microsoft.com/office/drawing/2014/main" id="{79A1BEAE-299E-42EC-B5D6-71C728206191}"/>
              </a:ext>
            </a:extLst>
          </p:cNvPr>
          <p:cNvSpPr>
            <a:spLocks xmlns:a="http://schemas.openxmlformats.org/drawingml/2006/main" noGrp="1"/>
          </p:cNvSpPr>
          <p:nvPr/>
        </p:nvSpPr>
        <p:spPr>
          <a:xfrm xmlns:a="http://schemas.openxmlformats.org/drawingml/2006/main">
            <a:off x="11049000" y="640080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lnSpc>
                <a:spcPct val="105000"/>
              </a:lnSpc>
              <a:buNone/>
              <a:defRPr sz="1200" b="1" i="0">
                <a:solidFill>
                  <a:srgbClr val="C9924A"/>
                </a:solidFill>
              </a:defRPr>
            </a:pPr>
            <a:r>
              <a:rPr sz="1200" b="1" i="0">
                <a:solidFill>
                  <a:srgbClr val="C9924A"/>
                </a:solidFill>
              </a:rPr>
              <a:t>17</a:t>
            </a:r>
          </a:p>
        </p:txBody>
      </p:sp>
      <p:sp>
        <p:nvSpPr>
          <p:cNvPr id="5" name="slide-title">
            <a:extLst xmlns:a="http://schemas.openxmlformats.org/drawingml/2006/main">
              <a:ext uri="{FF2B5EF4-FFF2-40B4-BE49-F238E27FC236}">
                <a16:creationId xmlns:a16="http://schemas.microsoft.com/office/drawing/2014/main" id="{B32AC122-D9C9-4E72-B193-41220548D414}"/>
              </a:ext>
            </a:extLst>
          </p:cNvPr>
          <p:cNvSpPr>
            <a:spLocks xmlns:a="http://schemas.openxmlformats.org/drawingml/2006/main" noGrp="1"/>
          </p:cNvSpPr>
          <p:nvPr/>
        </p:nvSpPr>
        <p:spPr>
          <a:xfrm xmlns:a="http://schemas.openxmlformats.org/drawingml/2006/main">
            <a:off x="685800" y="838200"/>
            <a:ext cx="61912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94000"/>
              </a:lnSpc>
              <a:buNone/>
              <a:defRPr sz="3600" b="1" i="0">
                <a:solidFill>
                  <a:srgbClr val="F2EFE8"/>
                </a:solidFill>
              </a:defRPr>
            </a:pPr>
            <a:r>
              <a:rPr sz="3600" b="1" i="0">
                <a:solidFill>
                  <a:srgbClr val="F2EFE8"/>
                </a:solidFill>
              </a:rPr>
              <a:t>Issue-led version</a:t>
            </a:r>
          </a:p>
        </p:txBody>
      </p:sp>
      <p:sp>
        <p:nvSpPr>
          <p:cNvPr id="6" name="pitch">
            <a:extLst xmlns:a="http://schemas.openxmlformats.org/drawingml/2006/main">
              <a:ext uri="{FF2B5EF4-FFF2-40B4-BE49-F238E27FC236}">
                <a16:creationId xmlns:a16="http://schemas.microsoft.com/office/drawing/2014/main" id="{373B96B7-4D4A-4D7D-A6EA-AFA0931F78D5}"/>
              </a:ext>
            </a:extLst>
          </p:cNvPr>
          <p:cNvSpPr>
            <a:spLocks xmlns:a="http://schemas.openxmlformats.org/drawingml/2006/main" noGrp="1"/>
          </p:cNvSpPr>
          <p:nvPr/>
        </p:nvSpPr>
        <p:spPr>
          <a:xfrm xmlns:a="http://schemas.openxmlformats.org/drawingml/2006/main">
            <a:off x="685800" y="2019300"/>
            <a:ext cx="5286375"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0000"/>
              </a:lnSpc>
              <a:buNone/>
              <a:defRPr sz="2175" b="0" i="1">
                <a:solidFill>
                  <a:srgbClr val="F2EFE8"/>
                </a:solidFill>
              </a:defRPr>
            </a:pPr>
            <a:r>
              <a:rPr sz="2175" b="0" i="1">
                <a:solidFill>
                  <a:srgbClr val="F2EFE8"/>
                </a:solidFill>
              </a:rPr>
              <a:t>Use the garden’s possible closure to investigate who controls neighborhood land—and who benefits.</a:t>
            </a:r>
          </a:p>
        </p:txBody>
      </p:sp>
      <p:sp>
        <p:nvSpPr>
          <p:cNvPr id="7" name="">
            <a:extLst xmlns:a="http://schemas.openxmlformats.org/drawingml/2006/main">
              <a:ext uri="{FF2B5EF4-FFF2-40B4-BE49-F238E27FC236}">
                <a16:creationId xmlns:a16="http://schemas.microsoft.com/office/drawing/2014/main" id="{20A974FB-8D7B-4FAB-B293-DCB24CA4E25E}"/>
              </a:ext>
            </a:extLst>
          </p:cNvPr>
          <p:cNvSpPr>
            <a:spLocks xmlns:a="http://schemas.openxmlformats.org/drawingml/2006/main" noGrp="1"/>
          </p:cNvSpPr>
          <p:nvPr/>
        </p:nvSpPr>
        <p:spPr>
          <a:xfrm xmlns:a="http://schemas.openxmlformats.org/drawingml/2006/main">
            <a:off x="685800" y="3857625"/>
            <a:ext cx="1428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1200" b="1" i="0">
                <a:solidFill>
                  <a:srgbClr val="C9924A"/>
                </a:solidFill>
              </a:defRPr>
            </a:pPr>
            <a:r>
              <a:rPr sz="1200" b="1" i="0">
                <a:solidFill>
                  <a:srgbClr val="C9924A"/>
                </a:solidFill>
              </a:rPr>
              <a:t>CAMERA</a:t>
            </a:r>
          </a:p>
        </p:txBody>
      </p:sp>
      <p:sp>
        <p:nvSpPr>
          <p:cNvPr id="8" name="">
            <a:extLst xmlns:a="http://schemas.openxmlformats.org/drawingml/2006/main">
              <a:ext uri="{FF2B5EF4-FFF2-40B4-BE49-F238E27FC236}">
                <a16:creationId xmlns:a16="http://schemas.microsoft.com/office/drawing/2014/main" id="{26779A81-DF88-4B17-ADD2-F4788A3A352E}"/>
              </a:ext>
            </a:extLst>
          </p:cNvPr>
          <p:cNvSpPr>
            <a:spLocks xmlns:a="http://schemas.openxmlformats.org/drawingml/2006/main" noGrp="1"/>
          </p:cNvSpPr>
          <p:nvPr/>
        </p:nvSpPr>
        <p:spPr>
          <a:xfrm xmlns:a="http://schemas.openxmlformats.org/drawingml/2006/main">
            <a:off x="685800" y="4171950"/>
            <a:ext cx="52863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1575" b="0" i="0">
                <a:solidFill>
                  <a:srgbClr val="D8E0E1"/>
                </a:solidFill>
              </a:defRPr>
            </a:pPr>
            <a:r>
              <a:rPr sz="1575" b="0" i="0">
                <a:solidFill>
                  <a:srgbClr val="D8E0E1"/>
                </a:solidFill>
              </a:rPr>
              <a:t>Gather interviews, public records, meetings, maps, and observable consequences.</a:t>
            </a:r>
          </a:p>
        </p:txBody>
      </p:sp>
      <p:sp>
        <p:nvSpPr>
          <p:cNvPr id="9" name="">
            <a:extLst xmlns:a="http://schemas.openxmlformats.org/drawingml/2006/main">
              <a:ext uri="{FF2B5EF4-FFF2-40B4-BE49-F238E27FC236}">
                <a16:creationId xmlns:a16="http://schemas.microsoft.com/office/drawing/2014/main" id="{B2903495-7AFB-4C8A-8ACF-5420A79CB7D7}"/>
              </a:ext>
            </a:extLst>
          </p:cNvPr>
          <p:cNvSpPr>
            <a:spLocks xmlns:a="http://schemas.openxmlformats.org/drawingml/2006/main" noGrp="1"/>
          </p:cNvSpPr>
          <p:nvPr/>
        </p:nvSpPr>
        <p:spPr>
          <a:xfrm xmlns:a="http://schemas.openxmlformats.org/drawingml/2006/main">
            <a:off x="685800" y="4905375"/>
            <a:ext cx="2000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1200" b="1" i="0">
                <a:solidFill>
                  <a:srgbClr val="C9924A"/>
                </a:solidFill>
              </a:defRPr>
            </a:pPr>
            <a:r>
              <a:rPr sz="1200" b="1" i="0">
                <a:solidFill>
                  <a:srgbClr val="C9924A"/>
                </a:solidFill>
              </a:rPr>
              <a:t>STORY PRESSURE</a:t>
            </a:r>
          </a:p>
        </p:txBody>
      </p:sp>
      <p:sp>
        <p:nvSpPr>
          <p:cNvPr id="10" name="">
            <a:extLst xmlns:a="http://schemas.openxmlformats.org/drawingml/2006/main">
              <a:ext uri="{FF2B5EF4-FFF2-40B4-BE49-F238E27FC236}">
                <a16:creationId xmlns:a16="http://schemas.microsoft.com/office/drawing/2014/main" id="{C583DF80-9373-467C-8604-6D507E84543C}"/>
              </a:ext>
            </a:extLst>
          </p:cNvPr>
          <p:cNvSpPr>
            <a:spLocks xmlns:a="http://schemas.openxmlformats.org/drawingml/2006/main" noGrp="1"/>
          </p:cNvSpPr>
          <p:nvPr/>
        </p:nvSpPr>
        <p:spPr>
          <a:xfrm xmlns:a="http://schemas.openxmlformats.org/drawingml/2006/main">
            <a:off x="685800" y="5219700"/>
            <a:ext cx="52863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1575" b="0" i="0">
                <a:solidFill>
                  <a:srgbClr val="D8E0E1"/>
                </a:solidFill>
              </a:defRPr>
            </a:pPr>
            <a:r>
              <a:rPr sz="1575" b="0" i="0">
                <a:solidFill>
                  <a:srgbClr val="D8E0E1"/>
                </a:solidFill>
              </a:rPr>
              <a:t>Competing claims about value, ownership, and public good.</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cf4334c846364f11"/>
          <a:srcRect xmlns:a="http://schemas.openxmlformats.org/drawingml/2006/main" l="4643" t="0" r="4643" b="0"/>
          <a:stretch xmlns:a="http://schemas.openxmlformats.org/drawingml/2006/main">
            <a:fillRect l="0" t="0" r="0" b="0"/>
          </a:stretch>
        </p:blipFill>
        <p:spPr>
          <a:xfrm xmlns:a="http://schemas.openxmlformats.org/drawingml/2006/main">
            <a:off x="6667500" y="685800"/>
            <a:ext cx="4838700" cy="5334000"/>
          </a:xfrm>
          <a:prstGeom xmlns:a="http://schemas.openxmlformats.org/drawingml/2006/main" prst="rect">
            <a:avLst/>
          </a:prstGeom>
        </p:spPr>
      </p:pic>
    </p:spTree>
    <p:extLst>
      <p:ext uri="{BB962C8B-B14F-4D97-AF65-F5344CB8AC3E}">
        <p14:creationId xmlns:p14="http://schemas.microsoft.com/office/powerpoint/2010/main" val="258315254"/>
      </p:ext>
    </p:extLst>
  </p:cSld>
</p:sld>
</file>

<file path=ppt/slides/slide18.xml><?xml version="1.0" encoding="utf-8"?>
<p:sld xmlns:p="http://schemas.openxmlformats.org/presentationml/2006/main">
  <p:cSld>
    <p:bg>
      <p:bgPr>
        <a:solidFill xmlns:a="http://schemas.openxmlformats.org/drawingml/2006/main">
          <a:srgbClr val="081116"/>
        </a:solidFill>
      </p:bgPr>
    </p:bg>
    <p:spTree>
      <p:nvGrpSpPr>
        <p:cNvPr id="1" name=""/>
        <p:cNvGrpSpPr/>
        <p:nvPr/>
      </p:nvGrpSpPr>
      <p:grpSpPr>
        <a:xfrm xmlns:a="http://schemas.openxmlformats.org/drawingml/2006/main"/>
      </p:grpSpPr>
      <p:sp>
        <p:nvSpPr>
          <p:cNvPr id="12" name="accent-18">
            <a:extLst xmlns:a="http://schemas.openxmlformats.org/drawingml/2006/main">
              <a:ext uri="{FF2B5EF4-FFF2-40B4-BE49-F238E27FC236}">
                <a16:creationId xmlns:a16="http://schemas.microsoft.com/office/drawing/2014/main" id="{95D9CA4B-7628-4A53-8E3D-5888DC46C572}"/>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C9924A"/>
          </a:solidFill>
          <a:ln xmlns:a="http://schemas.openxmlformats.org/drawingml/2006/main" w="0">
            <a:noFill/>
            <a:prstDash val="solid"/>
          </a:ln>
        </p:spPr>
      </p:sp>
      <p:sp>
        <p:nvSpPr>
          <p:cNvPr id="2" name="eyebrow-18">
            <a:extLst xmlns:a="http://schemas.openxmlformats.org/drawingml/2006/main">
              <a:ext uri="{FF2B5EF4-FFF2-40B4-BE49-F238E27FC236}">
                <a16:creationId xmlns:a16="http://schemas.microsoft.com/office/drawing/2014/main" id="{751D9FB6-9ED2-48AC-807F-34D8C19C5D90}"/>
              </a:ext>
            </a:extLst>
          </p:cNvPr>
          <p:cNvSpPr>
            <a:spLocks xmlns:a="http://schemas.openxmlformats.org/drawingml/2006/main" noGrp="1"/>
          </p:cNvSpPr>
          <p:nvPr/>
        </p:nvSpPr>
        <p:spPr>
          <a:xfrm xmlns:a="http://schemas.openxmlformats.org/drawingml/2006/main">
            <a:off x="685800" y="36195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1200" b="1" i="0">
                <a:solidFill>
                  <a:srgbClr val="C9924A"/>
                </a:solidFill>
              </a:defRPr>
            </a:pPr>
            <a:r>
              <a:rPr sz="1200" b="1" i="0">
                <a:solidFill>
                  <a:srgbClr val="C9924A"/>
                </a:solidFill>
              </a:rPr>
              <a:t>ONE STORY, SIX POSSIBLE FILMS</a:t>
            </a:r>
          </a:p>
        </p:txBody>
      </p:sp>
      <p:sp>
        <p:nvSpPr>
          <p:cNvPr id="3" name="section-18">
            <a:extLst xmlns:a="http://schemas.openxmlformats.org/drawingml/2006/main">
              <a:ext uri="{FF2B5EF4-FFF2-40B4-BE49-F238E27FC236}">
                <a16:creationId xmlns:a16="http://schemas.microsoft.com/office/drawing/2014/main" id="{704270D4-EED3-46F3-9FF4-FE773FD127FA}"/>
              </a:ext>
            </a:extLst>
          </p:cNvPr>
          <p:cNvSpPr>
            <a:spLocks xmlns:a="http://schemas.openxmlformats.org/drawingml/2006/main" noGrp="1"/>
          </p:cNvSpPr>
          <p:nvPr/>
        </p:nvSpPr>
        <p:spPr>
          <a:xfrm xmlns:a="http://schemas.openxmlformats.org/drawingml/2006/main">
            <a:off x="685800" y="6429375"/>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1200" b="0" i="0">
                <a:solidFill>
                  <a:srgbClr val="9FB0B9"/>
                </a:solidFill>
              </a:defRPr>
            </a:pPr>
            <a:r>
              <a:rPr sz="1200" b="0" i="0">
                <a:solidFill>
                  <a:srgbClr val="9FB0B9"/>
                </a:solidFill>
              </a:rPr>
              <a:t>FORM IN PRACTICE</a:t>
            </a:r>
          </a:p>
        </p:txBody>
      </p:sp>
      <p:sp>
        <p:nvSpPr>
          <p:cNvPr id="4" name="number-18">
            <a:extLst xmlns:a="http://schemas.openxmlformats.org/drawingml/2006/main">
              <a:ext uri="{FF2B5EF4-FFF2-40B4-BE49-F238E27FC236}">
                <a16:creationId xmlns:a16="http://schemas.microsoft.com/office/drawing/2014/main" id="{A98C8097-E901-4122-820B-830E457BEE49}"/>
              </a:ext>
            </a:extLst>
          </p:cNvPr>
          <p:cNvSpPr>
            <a:spLocks xmlns:a="http://schemas.openxmlformats.org/drawingml/2006/main" noGrp="1"/>
          </p:cNvSpPr>
          <p:nvPr/>
        </p:nvSpPr>
        <p:spPr>
          <a:xfrm xmlns:a="http://schemas.openxmlformats.org/drawingml/2006/main">
            <a:off x="11049000" y="640080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lnSpc>
                <a:spcPct val="105000"/>
              </a:lnSpc>
              <a:buNone/>
              <a:defRPr sz="1200" b="1" i="0">
                <a:solidFill>
                  <a:srgbClr val="C9924A"/>
                </a:solidFill>
              </a:defRPr>
            </a:pPr>
            <a:r>
              <a:rPr sz="1200" b="1" i="0">
                <a:solidFill>
                  <a:srgbClr val="C9924A"/>
                </a:solidFill>
              </a:rPr>
              <a:t>18</a:t>
            </a:r>
          </a:p>
        </p:txBody>
      </p:sp>
      <p:sp>
        <p:nvSpPr>
          <p:cNvPr id="5" name="slide-title">
            <a:extLst xmlns:a="http://schemas.openxmlformats.org/drawingml/2006/main">
              <a:ext uri="{FF2B5EF4-FFF2-40B4-BE49-F238E27FC236}">
                <a16:creationId xmlns:a16="http://schemas.microsoft.com/office/drawing/2014/main" id="{8987CF11-F074-4724-8438-D9A9779FD234}"/>
              </a:ext>
            </a:extLst>
          </p:cNvPr>
          <p:cNvSpPr>
            <a:spLocks xmlns:a="http://schemas.openxmlformats.org/drawingml/2006/main" noGrp="1"/>
          </p:cNvSpPr>
          <p:nvPr/>
        </p:nvSpPr>
        <p:spPr>
          <a:xfrm xmlns:a="http://schemas.openxmlformats.org/drawingml/2006/main">
            <a:off x="685800" y="838200"/>
            <a:ext cx="61912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94000"/>
              </a:lnSpc>
              <a:buNone/>
              <a:defRPr sz="3600" b="1" i="0">
                <a:solidFill>
                  <a:srgbClr val="F2EFE8"/>
                </a:solidFill>
              </a:defRPr>
            </a:pPr>
            <a:r>
              <a:rPr sz="3600" b="1" i="0">
                <a:solidFill>
                  <a:srgbClr val="F2EFE8"/>
                </a:solidFill>
              </a:rPr>
              <a:t>Participatory version</a:t>
            </a:r>
          </a:p>
        </p:txBody>
      </p:sp>
      <p:sp>
        <p:nvSpPr>
          <p:cNvPr id="6" name="pitch">
            <a:extLst xmlns:a="http://schemas.openxmlformats.org/drawingml/2006/main">
              <a:ext uri="{FF2B5EF4-FFF2-40B4-BE49-F238E27FC236}">
                <a16:creationId xmlns:a16="http://schemas.microsoft.com/office/drawing/2014/main" id="{1257F464-60FB-4807-BEC9-16A2FBC7EA33}"/>
              </a:ext>
            </a:extLst>
          </p:cNvPr>
          <p:cNvSpPr>
            <a:spLocks xmlns:a="http://schemas.openxmlformats.org/drawingml/2006/main" noGrp="1"/>
          </p:cNvSpPr>
          <p:nvPr/>
        </p:nvSpPr>
        <p:spPr>
          <a:xfrm xmlns:a="http://schemas.openxmlformats.org/drawingml/2006/main">
            <a:off x="685800" y="2019300"/>
            <a:ext cx="5286375"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0000"/>
              </a:lnSpc>
              <a:buNone/>
              <a:defRPr sz="2175" b="0" i="1">
                <a:solidFill>
                  <a:srgbClr val="F2EFE8"/>
                </a:solidFill>
              </a:defRPr>
            </a:pPr>
            <a:r>
              <a:rPr sz="2175" b="0" i="1">
                <a:solidFill>
                  <a:srgbClr val="F2EFE8"/>
                </a:solidFill>
              </a:rPr>
              <a:t>The filmmaker joins the effort to save the garden and records how participation changes access and understanding.</a:t>
            </a:r>
          </a:p>
        </p:txBody>
      </p:sp>
      <p:sp>
        <p:nvSpPr>
          <p:cNvPr id="7" name="">
            <a:extLst xmlns:a="http://schemas.openxmlformats.org/drawingml/2006/main">
              <a:ext uri="{FF2B5EF4-FFF2-40B4-BE49-F238E27FC236}">
                <a16:creationId xmlns:a16="http://schemas.microsoft.com/office/drawing/2014/main" id="{CFD97A08-9C04-4640-AE0C-8B8DF40B077A}"/>
              </a:ext>
            </a:extLst>
          </p:cNvPr>
          <p:cNvSpPr>
            <a:spLocks xmlns:a="http://schemas.openxmlformats.org/drawingml/2006/main" noGrp="1"/>
          </p:cNvSpPr>
          <p:nvPr/>
        </p:nvSpPr>
        <p:spPr>
          <a:xfrm xmlns:a="http://schemas.openxmlformats.org/drawingml/2006/main">
            <a:off x="685800" y="3857625"/>
            <a:ext cx="1428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1200" b="1" i="0">
                <a:solidFill>
                  <a:srgbClr val="C9924A"/>
                </a:solidFill>
              </a:defRPr>
            </a:pPr>
            <a:r>
              <a:rPr sz="1200" b="1" i="0">
                <a:solidFill>
                  <a:srgbClr val="C9924A"/>
                </a:solidFill>
              </a:rPr>
              <a:t>CAMERA</a:t>
            </a:r>
          </a:p>
        </p:txBody>
      </p:sp>
      <p:sp>
        <p:nvSpPr>
          <p:cNvPr id="8" name="">
            <a:extLst xmlns:a="http://schemas.openxmlformats.org/drawingml/2006/main">
              <a:ext uri="{FF2B5EF4-FFF2-40B4-BE49-F238E27FC236}">
                <a16:creationId xmlns:a16="http://schemas.microsoft.com/office/drawing/2014/main" id="{A2DEAF66-6009-4AFF-8BFB-14D07BF8C8F9}"/>
              </a:ext>
            </a:extLst>
          </p:cNvPr>
          <p:cNvSpPr>
            <a:spLocks xmlns:a="http://schemas.openxmlformats.org/drawingml/2006/main" noGrp="1"/>
          </p:cNvSpPr>
          <p:nvPr/>
        </p:nvSpPr>
        <p:spPr>
          <a:xfrm xmlns:a="http://schemas.openxmlformats.org/drawingml/2006/main">
            <a:off x="685800" y="4171950"/>
            <a:ext cx="52863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1575" b="0" i="0">
                <a:solidFill>
                  <a:srgbClr val="D8E0E1"/>
                </a:solidFill>
              </a:defRPr>
            </a:pPr>
            <a:r>
              <a:rPr sz="1575" b="0" i="0">
                <a:solidFill>
                  <a:srgbClr val="D8E0E1"/>
                </a:solidFill>
              </a:rPr>
              <a:t>Questions, collaboration, and the filmmaker’s decisions remain audible or visible.</a:t>
            </a:r>
          </a:p>
        </p:txBody>
      </p:sp>
      <p:sp>
        <p:nvSpPr>
          <p:cNvPr id="9" name="">
            <a:extLst xmlns:a="http://schemas.openxmlformats.org/drawingml/2006/main">
              <a:ext uri="{FF2B5EF4-FFF2-40B4-BE49-F238E27FC236}">
                <a16:creationId xmlns:a16="http://schemas.microsoft.com/office/drawing/2014/main" id="{378A323D-65AD-4C27-9B8C-39EA9A82D264}"/>
              </a:ext>
            </a:extLst>
          </p:cNvPr>
          <p:cNvSpPr>
            <a:spLocks xmlns:a="http://schemas.openxmlformats.org/drawingml/2006/main" noGrp="1"/>
          </p:cNvSpPr>
          <p:nvPr/>
        </p:nvSpPr>
        <p:spPr>
          <a:xfrm xmlns:a="http://schemas.openxmlformats.org/drawingml/2006/main">
            <a:off x="685800" y="4905375"/>
            <a:ext cx="2000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1200" b="1" i="0">
                <a:solidFill>
                  <a:srgbClr val="C9924A"/>
                </a:solidFill>
              </a:defRPr>
            </a:pPr>
            <a:r>
              <a:rPr sz="1200" b="1" i="0">
                <a:solidFill>
                  <a:srgbClr val="C9924A"/>
                </a:solidFill>
              </a:rPr>
              <a:t>STORY PRESSURE</a:t>
            </a:r>
          </a:p>
        </p:txBody>
      </p:sp>
      <p:sp>
        <p:nvSpPr>
          <p:cNvPr id="10" name="">
            <a:extLst xmlns:a="http://schemas.openxmlformats.org/drawingml/2006/main">
              <a:ext uri="{FF2B5EF4-FFF2-40B4-BE49-F238E27FC236}">
                <a16:creationId xmlns:a16="http://schemas.microsoft.com/office/drawing/2014/main" id="{CCF5351E-F318-4B59-B0AB-D2D4D73DF3A8}"/>
              </a:ext>
            </a:extLst>
          </p:cNvPr>
          <p:cNvSpPr>
            <a:spLocks xmlns:a="http://schemas.openxmlformats.org/drawingml/2006/main" noGrp="1"/>
          </p:cNvSpPr>
          <p:nvPr/>
        </p:nvSpPr>
        <p:spPr>
          <a:xfrm xmlns:a="http://schemas.openxmlformats.org/drawingml/2006/main">
            <a:off x="685800" y="5219700"/>
            <a:ext cx="52863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1575" b="0" i="0">
                <a:solidFill>
                  <a:srgbClr val="D8E0E1"/>
                </a:solidFill>
              </a:defRPr>
            </a:pPr>
            <a:r>
              <a:rPr sz="1575" b="0" i="0">
                <a:solidFill>
                  <a:srgbClr val="D8E0E1"/>
                </a:solidFill>
              </a:rPr>
              <a:t>Can the filmmaker participate without disguising influence or making false promises?</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4fbee70c9cab4716"/>
          <a:srcRect xmlns:a="http://schemas.openxmlformats.org/drawingml/2006/main" l="4643" t="0" r="4643" b="0"/>
          <a:stretch xmlns:a="http://schemas.openxmlformats.org/drawingml/2006/main">
            <a:fillRect l="0" t="0" r="0" b="0"/>
          </a:stretch>
        </p:blipFill>
        <p:spPr>
          <a:xfrm xmlns:a="http://schemas.openxmlformats.org/drawingml/2006/main">
            <a:off x="6667500" y="685800"/>
            <a:ext cx="4838700" cy="5334000"/>
          </a:xfrm>
          <a:prstGeom xmlns:a="http://schemas.openxmlformats.org/drawingml/2006/main" prst="rect">
            <a:avLst/>
          </a:prstGeom>
        </p:spPr>
      </p:pic>
    </p:spTree>
    <p:extLst>
      <p:ext uri="{BB962C8B-B14F-4D97-AF65-F5344CB8AC3E}">
        <p14:creationId xmlns:p14="http://schemas.microsoft.com/office/powerpoint/2010/main" val="1358864432"/>
      </p:ext>
    </p:extLst>
  </p:cSld>
</p:sld>
</file>

<file path=ppt/slides/slide19.xml><?xml version="1.0" encoding="utf-8"?>
<p:sld xmlns:p="http://schemas.openxmlformats.org/presentationml/2006/main">
  <p:cSld>
    <p:bg>
      <p:bgPr>
        <a:solidFill xmlns:a="http://schemas.openxmlformats.org/drawingml/2006/main">
          <a:srgbClr val="081116"/>
        </a:solidFill>
      </p:bgPr>
    </p:bg>
    <p:spTree>
      <p:nvGrpSpPr>
        <p:cNvPr id="1" name=""/>
        <p:cNvGrpSpPr/>
        <p:nvPr/>
      </p:nvGrpSpPr>
      <p:grpSpPr>
        <a:xfrm xmlns:a="http://schemas.openxmlformats.org/drawingml/2006/main"/>
      </p:grpSpPr>
      <p:sp>
        <p:nvSpPr>
          <p:cNvPr id="12" name="accent-19">
            <a:extLst xmlns:a="http://schemas.openxmlformats.org/drawingml/2006/main">
              <a:ext uri="{FF2B5EF4-FFF2-40B4-BE49-F238E27FC236}">
                <a16:creationId xmlns:a16="http://schemas.microsoft.com/office/drawing/2014/main" id="{CDE1C0B7-797A-4E6B-9CE4-CE58A2063443}"/>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C9924A"/>
          </a:solidFill>
          <a:ln xmlns:a="http://schemas.openxmlformats.org/drawingml/2006/main" w="0">
            <a:noFill/>
            <a:prstDash val="solid"/>
          </a:ln>
        </p:spPr>
      </p:sp>
      <p:sp>
        <p:nvSpPr>
          <p:cNvPr id="2" name="eyebrow-19">
            <a:extLst xmlns:a="http://schemas.openxmlformats.org/drawingml/2006/main">
              <a:ext uri="{FF2B5EF4-FFF2-40B4-BE49-F238E27FC236}">
                <a16:creationId xmlns:a16="http://schemas.microsoft.com/office/drawing/2014/main" id="{68C0246D-4649-4900-934A-BD5E5D41E110}"/>
              </a:ext>
            </a:extLst>
          </p:cNvPr>
          <p:cNvSpPr>
            <a:spLocks xmlns:a="http://schemas.openxmlformats.org/drawingml/2006/main" noGrp="1"/>
          </p:cNvSpPr>
          <p:nvPr/>
        </p:nvSpPr>
        <p:spPr>
          <a:xfrm xmlns:a="http://schemas.openxmlformats.org/drawingml/2006/main">
            <a:off x="685800" y="36195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1200" b="1" i="0">
                <a:solidFill>
                  <a:srgbClr val="C9924A"/>
                </a:solidFill>
              </a:defRPr>
            </a:pPr>
            <a:r>
              <a:rPr sz="1200" b="1" i="0">
                <a:solidFill>
                  <a:srgbClr val="C9924A"/>
                </a:solidFill>
              </a:rPr>
              <a:t>ONE STORY, SIX POSSIBLE FILMS</a:t>
            </a:r>
          </a:p>
        </p:txBody>
      </p:sp>
      <p:sp>
        <p:nvSpPr>
          <p:cNvPr id="3" name="section-19">
            <a:extLst xmlns:a="http://schemas.openxmlformats.org/drawingml/2006/main">
              <a:ext uri="{FF2B5EF4-FFF2-40B4-BE49-F238E27FC236}">
                <a16:creationId xmlns:a16="http://schemas.microsoft.com/office/drawing/2014/main" id="{FB93FC44-55AA-4792-8F78-F56477BC2A83}"/>
              </a:ext>
            </a:extLst>
          </p:cNvPr>
          <p:cNvSpPr>
            <a:spLocks xmlns:a="http://schemas.openxmlformats.org/drawingml/2006/main" noGrp="1"/>
          </p:cNvSpPr>
          <p:nvPr/>
        </p:nvSpPr>
        <p:spPr>
          <a:xfrm xmlns:a="http://schemas.openxmlformats.org/drawingml/2006/main">
            <a:off x="685800" y="6429375"/>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1200" b="0" i="0">
                <a:solidFill>
                  <a:srgbClr val="9FB0B9"/>
                </a:solidFill>
              </a:defRPr>
            </a:pPr>
            <a:r>
              <a:rPr sz="1200" b="0" i="0">
                <a:solidFill>
                  <a:srgbClr val="9FB0B9"/>
                </a:solidFill>
              </a:rPr>
              <a:t>FORM IN PRACTICE</a:t>
            </a:r>
          </a:p>
        </p:txBody>
      </p:sp>
      <p:sp>
        <p:nvSpPr>
          <p:cNvPr id="4" name="number-19">
            <a:extLst xmlns:a="http://schemas.openxmlformats.org/drawingml/2006/main">
              <a:ext uri="{FF2B5EF4-FFF2-40B4-BE49-F238E27FC236}">
                <a16:creationId xmlns:a16="http://schemas.microsoft.com/office/drawing/2014/main" id="{9CBEA963-2D14-45C8-807E-10F7EDE2828A}"/>
              </a:ext>
            </a:extLst>
          </p:cNvPr>
          <p:cNvSpPr>
            <a:spLocks xmlns:a="http://schemas.openxmlformats.org/drawingml/2006/main" noGrp="1"/>
          </p:cNvSpPr>
          <p:nvPr/>
        </p:nvSpPr>
        <p:spPr>
          <a:xfrm xmlns:a="http://schemas.openxmlformats.org/drawingml/2006/main">
            <a:off x="11049000" y="640080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lnSpc>
                <a:spcPct val="105000"/>
              </a:lnSpc>
              <a:buNone/>
              <a:defRPr sz="1200" b="1" i="0">
                <a:solidFill>
                  <a:srgbClr val="C9924A"/>
                </a:solidFill>
              </a:defRPr>
            </a:pPr>
            <a:r>
              <a:rPr sz="1200" b="1" i="0">
                <a:solidFill>
                  <a:srgbClr val="C9924A"/>
                </a:solidFill>
              </a:rPr>
              <a:t>19</a:t>
            </a:r>
          </a:p>
        </p:txBody>
      </p:sp>
      <p:sp>
        <p:nvSpPr>
          <p:cNvPr id="5" name="slide-title">
            <a:extLst xmlns:a="http://schemas.openxmlformats.org/drawingml/2006/main">
              <a:ext uri="{FF2B5EF4-FFF2-40B4-BE49-F238E27FC236}">
                <a16:creationId xmlns:a16="http://schemas.microsoft.com/office/drawing/2014/main" id="{B7454C87-8B1C-4B58-9C03-83294696BD26}"/>
              </a:ext>
            </a:extLst>
          </p:cNvPr>
          <p:cNvSpPr>
            <a:spLocks xmlns:a="http://schemas.openxmlformats.org/drawingml/2006/main" noGrp="1"/>
          </p:cNvSpPr>
          <p:nvPr/>
        </p:nvSpPr>
        <p:spPr>
          <a:xfrm xmlns:a="http://schemas.openxmlformats.org/drawingml/2006/main">
            <a:off x="685800" y="838200"/>
            <a:ext cx="61912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94000"/>
              </a:lnSpc>
              <a:buNone/>
              <a:defRPr sz="3600" b="1" i="0">
                <a:solidFill>
                  <a:srgbClr val="F2EFE8"/>
                </a:solidFill>
              </a:defRPr>
            </a:pPr>
            <a:r>
              <a:rPr sz="3600" b="1" i="0">
                <a:solidFill>
                  <a:srgbClr val="F2EFE8"/>
                </a:solidFill>
              </a:rPr>
              <a:t>Reflexive version</a:t>
            </a:r>
          </a:p>
        </p:txBody>
      </p:sp>
      <p:sp>
        <p:nvSpPr>
          <p:cNvPr id="6" name="pitch">
            <a:extLst xmlns:a="http://schemas.openxmlformats.org/drawingml/2006/main">
              <a:ext uri="{FF2B5EF4-FFF2-40B4-BE49-F238E27FC236}">
                <a16:creationId xmlns:a16="http://schemas.microsoft.com/office/drawing/2014/main" id="{B8174639-A9CB-4E15-A914-748AA108C490}"/>
              </a:ext>
            </a:extLst>
          </p:cNvPr>
          <p:cNvSpPr>
            <a:spLocks xmlns:a="http://schemas.openxmlformats.org/drawingml/2006/main" noGrp="1"/>
          </p:cNvSpPr>
          <p:nvPr/>
        </p:nvSpPr>
        <p:spPr>
          <a:xfrm xmlns:a="http://schemas.openxmlformats.org/drawingml/2006/main">
            <a:off x="685800" y="2019300"/>
            <a:ext cx="5286375"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0000"/>
              </a:lnSpc>
              <a:buNone/>
              <a:defRPr sz="2175" b="0" i="1">
                <a:solidFill>
                  <a:srgbClr val="F2EFE8"/>
                </a:solidFill>
              </a:defRPr>
            </a:pPr>
            <a:r>
              <a:rPr sz="2175" b="0" i="1">
                <a:solidFill>
                  <a:srgbClr val="F2EFE8"/>
                </a:solidFill>
              </a:rPr>
              <a:t>Build the film around contradictory accounts—and the missing documents needed to know why the garden may close.</a:t>
            </a:r>
          </a:p>
        </p:txBody>
      </p:sp>
      <p:sp>
        <p:nvSpPr>
          <p:cNvPr id="7" name="">
            <a:extLst xmlns:a="http://schemas.openxmlformats.org/drawingml/2006/main">
              <a:ext uri="{FF2B5EF4-FFF2-40B4-BE49-F238E27FC236}">
                <a16:creationId xmlns:a16="http://schemas.microsoft.com/office/drawing/2014/main" id="{5E462D79-E2F6-4EEB-9871-B3707C5913D7}"/>
              </a:ext>
            </a:extLst>
          </p:cNvPr>
          <p:cNvSpPr>
            <a:spLocks xmlns:a="http://schemas.openxmlformats.org/drawingml/2006/main" noGrp="1"/>
          </p:cNvSpPr>
          <p:nvPr/>
        </p:nvSpPr>
        <p:spPr>
          <a:xfrm xmlns:a="http://schemas.openxmlformats.org/drawingml/2006/main">
            <a:off x="685800" y="3857625"/>
            <a:ext cx="1428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1200" b="1" i="0">
                <a:solidFill>
                  <a:srgbClr val="C9924A"/>
                </a:solidFill>
              </a:defRPr>
            </a:pPr>
            <a:r>
              <a:rPr sz="1200" b="1" i="0">
                <a:solidFill>
                  <a:srgbClr val="C9924A"/>
                </a:solidFill>
              </a:rPr>
              <a:t>CAMERA</a:t>
            </a:r>
          </a:p>
        </p:txBody>
      </p:sp>
      <p:sp>
        <p:nvSpPr>
          <p:cNvPr id="8" name="">
            <a:extLst xmlns:a="http://schemas.openxmlformats.org/drawingml/2006/main">
              <a:ext uri="{FF2B5EF4-FFF2-40B4-BE49-F238E27FC236}">
                <a16:creationId xmlns:a16="http://schemas.microsoft.com/office/drawing/2014/main" id="{36D417DD-0A54-4E00-B929-E85FBBAD15D0}"/>
              </a:ext>
            </a:extLst>
          </p:cNvPr>
          <p:cNvSpPr>
            <a:spLocks xmlns:a="http://schemas.openxmlformats.org/drawingml/2006/main" noGrp="1"/>
          </p:cNvSpPr>
          <p:nvPr/>
        </p:nvSpPr>
        <p:spPr>
          <a:xfrm xmlns:a="http://schemas.openxmlformats.org/drawingml/2006/main">
            <a:off x="685800" y="4171950"/>
            <a:ext cx="52863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1575" b="0" i="0">
                <a:solidFill>
                  <a:srgbClr val="D8E0E1"/>
                </a:solidFill>
              </a:defRPr>
            </a:pPr>
            <a:r>
              <a:rPr sz="1575" b="0" i="0">
                <a:solidFill>
                  <a:srgbClr val="D8E0E1"/>
                </a:solidFill>
              </a:rPr>
              <a:t>Show searches, refusals, gaps, edits, and the limits of what can be verified.</a:t>
            </a:r>
          </a:p>
        </p:txBody>
      </p:sp>
      <p:sp>
        <p:nvSpPr>
          <p:cNvPr id="9" name="">
            <a:extLst xmlns:a="http://schemas.openxmlformats.org/drawingml/2006/main">
              <a:ext uri="{FF2B5EF4-FFF2-40B4-BE49-F238E27FC236}">
                <a16:creationId xmlns:a16="http://schemas.microsoft.com/office/drawing/2014/main" id="{821A055C-B2D0-4CD2-BC13-4A1AF6B77F60}"/>
              </a:ext>
            </a:extLst>
          </p:cNvPr>
          <p:cNvSpPr>
            <a:spLocks xmlns:a="http://schemas.openxmlformats.org/drawingml/2006/main" noGrp="1"/>
          </p:cNvSpPr>
          <p:nvPr/>
        </p:nvSpPr>
        <p:spPr>
          <a:xfrm xmlns:a="http://schemas.openxmlformats.org/drawingml/2006/main">
            <a:off x="685800" y="4905375"/>
            <a:ext cx="2000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1200" b="1" i="0">
                <a:solidFill>
                  <a:srgbClr val="C9924A"/>
                </a:solidFill>
              </a:defRPr>
            </a:pPr>
            <a:r>
              <a:rPr sz="1200" b="1" i="0">
                <a:solidFill>
                  <a:srgbClr val="C9924A"/>
                </a:solidFill>
              </a:rPr>
              <a:t>STORY PRESSURE</a:t>
            </a:r>
          </a:p>
        </p:txBody>
      </p:sp>
      <p:sp>
        <p:nvSpPr>
          <p:cNvPr id="10" name="">
            <a:extLst xmlns:a="http://schemas.openxmlformats.org/drawingml/2006/main">
              <a:ext uri="{FF2B5EF4-FFF2-40B4-BE49-F238E27FC236}">
                <a16:creationId xmlns:a16="http://schemas.microsoft.com/office/drawing/2014/main" id="{064CF2DB-8130-4908-AFE4-C7246062CF53}"/>
              </a:ext>
            </a:extLst>
          </p:cNvPr>
          <p:cNvSpPr>
            <a:spLocks xmlns:a="http://schemas.openxmlformats.org/drawingml/2006/main" noGrp="1"/>
          </p:cNvSpPr>
          <p:nvPr/>
        </p:nvSpPr>
        <p:spPr>
          <a:xfrm xmlns:a="http://schemas.openxmlformats.org/drawingml/2006/main">
            <a:off x="685800" y="5219700"/>
            <a:ext cx="52863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1575" b="0" i="0">
                <a:solidFill>
                  <a:srgbClr val="D8E0E1"/>
                </a:solidFill>
              </a:defRPr>
            </a:pPr>
            <a:r>
              <a:rPr sz="1575" b="0" i="0">
                <a:solidFill>
                  <a:srgbClr val="D8E0E1"/>
                </a:solidFill>
              </a:rPr>
              <a:t>The attempt to tell the story becomes evidence about power and knowledge.</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8076da6a8c7e4f28"/>
          <a:srcRect xmlns:a="http://schemas.openxmlformats.org/drawingml/2006/main" l="4643" t="0" r="4643" b="0"/>
          <a:stretch xmlns:a="http://schemas.openxmlformats.org/drawingml/2006/main">
            <a:fillRect l="0" t="0" r="0" b="0"/>
          </a:stretch>
        </p:blipFill>
        <p:spPr>
          <a:xfrm xmlns:a="http://schemas.openxmlformats.org/drawingml/2006/main">
            <a:off x="6667500" y="685800"/>
            <a:ext cx="4838700" cy="5334000"/>
          </a:xfrm>
          <a:prstGeom xmlns:a="http://schemas.openxmlformats.org/drawingml/2006/main" prst="rect">
            <a:avLst/>
          </a:prstGeom>
        </p:spPr>
      </p:pic>
    </p:spTree>
    <p:extLst>
      <p:ext uri="{BB962C8B-B14F-4D97-AF65-F5344CB8AC3E}">
        <p14:creationId xmlns:p14="http://schemas.microsoft.com/office/powerpoint/2010/main" val="1651830139"/>
      </p:ext>
    </p:extLst>
  </p:cSld>
</p:sld>
</file>

<file path=ppt/slides/slide20.xml><?xml version="1.0" encoding="utf-8"?>
<p:sld xmlns:p="http://schemas.openxmlformats.org/presentationml/2006/main">
  <p:cSld>
    <p:bg>
      <p:bgPr>
        <a:solidFill xmlns:a="http://schemas.openxmlformats.org/drawingml/2006/main">
          <a:srgbClr val="081116"/>
        </a:solidFill>
      </p:bgPr>
    </p:bg>
    <p:spTree>
      <p:nvGrpSpPr>
        <p:cNvPr id="1" name=""/>
        <p:cNvGrpSpPr/>
        <p:nvPr/>
      </p:nvGrpSpPr>
      <p:grpSpPr>
        <a:xfrm xmlns:a="http://schemas.openxmlformats.org/drawingml/2006/main"/>
      </p:grpSpPr>
      <p:sp>
        <p:nvSpPr>
          <p:cNvPr id="12" name="accent-20">
            <a:extLst xmlns:a="http://schemas.openxmlformats.org/drawingml/2006/main">
              <a:ext uri="{FF2B5EF4-FFF2-40B4-BE49-F238E27FC236}">
                <a16:creationId xmlns:a16="http://schemas.microsoft.com/office/drawing/2014/main" id="{29FE4826-7C33-46CB-9654-200096DA9847}"/>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C9924A"/>
          </a:solidFill>
          <a:ln xmlns:a="http://schemas.openxmlformats.org/drawingml/2006/main" w="0">
            <a:noFill/>
            <a:prstDash val="solid"/>
          </a:ln>
        </p:spPr>
      </p:sp>
      <p:sp>
        <p:nvSpPr>
          <p:cNvPr id="2" name="eyebrow-20">
            <a:extLst xmlns:a="http://schemas.openxmlformats.org/drawingml/2006/main">
              <a:ext uri="{FF2B5EF4-FFF2-40B4-BE49-F238E27FC236}">
                <a16:creationId xmlns:a16="http://schemas.microsoft.com/office/drawing/2014/main" id="{819DA8EE-A477-4083-8BC3-403EAF5EC542}"/>
              </a:ext>
            </a:extLst>
          </p:cNvPr>
          <p:cNvSpPr>
            <a:spLocks xmlns:a="http://schemas.openxmlformats.org/drawingml/2006/main" noGrp="1"/>
          </p:cNvSpPr>
          <p:nvPr/>
        </p:nvSpPr>
        <p:spPr>
          <a:xfrm xmlns:a="http://schemas.openxmlformats.org/drawingml/2006/main">
            <a:off x="685800" y="36195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1200" b="1" i="0">
                <a:solidFill>
                  <a:srgbClr val="C9924A"/>
                </a:solidFill>
              </a:defRPr>
            </a:pPr>
            <a:r>
              <a:rPr sz="1200" b="1" i="0">
                <a:solidFill>
                  <a:srgbClr val="C9924A"/>
                </a:solidFill>
              </a:rPr>
              <a:t>ONE STORY, SIX POSSIBLE FILMS</a:t>
            </a:r>
          </a:p>
        </p:txBody>
      </p:sp>
      <p:sp>
        <p:nvSpPr>
          <p:cNvPr id="3" name="section-20">
            <a:extLst xmlns:a="http://schemas.openxmlformats.org/drawingml/2006/main">
              <a:ext uri="{FF2B5EF4-FFF2-40B4-BE49-F238E27FC236}">
                <a16:creationId xmlns:a16="http://schemas.microsoft.com/office/drawing/2014/main" id="{6AAB3357-D99A-4C2C-86E9-2C514AF00C01}"/>
              </a:ext>
            </a:extLst>
          </p:cNvPr>
          <p:cNvSpPr>
            <a:spLocks xmlns:a="http://schemas.openxmlformats.org/drawingml/2006/main" noGrp="1"/>
          </p:cNvSpPr>
          <p:nvPr/>
        </p:nvSpPr>
        <p:spPr>
          <a:xfrm xmlns:a="http://schemas.openxmlformats.org/drawingml/2006/main">
            <a:off x="685800" y="6429375"/>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1200" b="0" i="0">
                <a:solidFill>
                  <a:srgbClr val="9FB0B9"/>
                </a:solidFill>
              </a:defRPr>
            </a:pPr>
            <a:r>
              <a:rPr sz="1200" b="0" i="0">
                <a:solidFill>
                  <a:srgbClr val="9FB0B9"/>
                </a:solidFill>
              </a:rPr>
              <a:t>FORM IN PRACTICE</a:t>
            </a:r>
          </a:p>
        </p:txBody>
      </p:sp>
      <p:sp>
        <p:nvSpPr>
          <p:cNvPr id="4" name="number-20">
            <a:extLst xmlns:a="http://schemas.openxmlformats.org/drawingml/2006/main">
              <a:ext uri="{FF2B5EF4-FFF2-40B4-BE49-F238E27FC236}">
                <a16:creationId xmlns:a16="http://schemas.microsoft.com/office/drawing/2014/main" id="{F3E5FC36-3A60-4782-900A-D1ABC68F5BB3}"/>
              </a:ext>
            </a:extLst>
          </p:cNvPr>
          <p:cNvSpPr>
            <a:spLocks xmlns:a="http://schemas.openxmlformats.org/drawingml/2006/main" noGrp="1"/>
          </p:cNvSpPr>
          <p:nvPr/>
        </p:nvSpPr>
        <p:spPr>
          <a:xfrm xmlns:a="http://schemas.openxmlformats.org/drawingml/2006/main">
            <a:off x="11049000" y="640080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lnSpc>
                <a:spcPct val="105000"/>
              </a:lnSpc>
              <a:buNone/>
              <a:defRPr sz="1200" b="1" i="0">
                <a:solidFill>
                  <a:srgbClr val="C9924A"/>
                </a:solidFill>
              </a:defRPr>
            </a:pPr>
            <a:r>
              <a:rPr sz="1200" b="1" i="0">
                <a:solidFill>
                  <a:srgbClr val="C9924A"/>
                </a:solidFill>
              </a:rPr>
              <a:t>20</a:t>
            </a:r>
          </a:p>
        </p:txBody>
      </p:sp>
      <p:sp>
        <p:nvSpPr>
          <p:cNvPr id="5" name="slide-title">
            <a:extLst xmlns:a="http://schemas.openxmlformats.org/drawingml/2006/main">
              <a:ext uri="{FF2B5EF4-FFF2-40B4-BE49-F238E27FC236}">
                <a16:creationId xmlns:a16="http://schemas.microsoft.com/office/drawing/2014/main" id="{B8367404-A81E-4F7F-9850-DDB5B8D20CD0}"/>
              </a:ext>
            </a:extLst>
          </p:cNvPr>
          <p:cNvSpPr>
            <a:spLocks xmlns:a="http://schemas.openxmlformats.org/drawingml/2006/main" noGrp="1"/>
          </p:cNvSpPr>
          <p:nvPr/>
        </p:nvSpPr>
        <p:spPr>
          <a:xfrm xmlns:a="http://schemas.openxmlformats.org/drawingml/2006/main">
            <a:off x="685800" y="838200"/>
            <a:ext cx="61912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94000"/>
              </a:lnSpc>
              <a:buNone/>
              <a:defRPr sz="3600" b="1" i="0">
                <a:solidFill>
                  <a:srgbClr val="F2EFE8"/>
                </a:solidFill>
              </a:defRPr>
            </a:pPr>
            <a:r>
              <a:rPr sz="3600" b="1" i="0">
                <a:solidFill>
                  <a:srgbClr val="F2EFE8"/>
                </a:solidFill>
              </a:rPr>
              <a:t>Poetic version</a:t>
            </a:r>
          </a:p>
        </p:txBody>
      </p:sp>
      <p:sp>
        <p:nvSpPr>
          <p:cNvPr id="6" name="pitch">
            <a:extLst xmlns:a="http://schemas.openxmlformats.org/drawingml/2006/main">
              <a:ext uri="{FF2B5EF4-FFF2-40B4-BE49-F238E27FC236}">
                <a16:creationId xmlns:a16="http://schemas.microsoft.com/office/drawing/2014/main" id="{816C74C1-3EDB-4161-92A2-601265205001}"/>
              </a:ext>
            </a:extLst>
          </p:cNvPr>
          <p:cNvSpPr>
            <a:spLocks xmlns:a="http://schemas.openxmlformats.org/drawingml/2006/main" noGrp="1"/>
          </p:cNvSpPr>
          <p:nvPr/>
        </p:nvSpPr>
        <p:spPr>
          <a:xfrm xmlns:a="http://schemas.openxmlformats.org/drawingml/2006/main">
            <a:off x="685800" y="2019300"/>
            <a:ext cx="5286375"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0000"/>
              </a:lnSpc>
              <a:buNone/>
              <a:defRPr sz="2175" b="0" i="1">
                <a:solidFill>
                  <a:srgbClr val="F2EFE8"/>
                </a:solidFill>
              </a:defRPr>
            </a:pPr>
            <a:r>
              <a:rPr sz="2175" b="0" i="1">
                <a:solidFill>
                  <a:srgbClr val="F2EFE8"/>
                </a:solidFill>
              </a:rPr>
              <a:t>Compose a sensory elegy from soil, hands, voices, seasons, empty beds, and the sounds of surrounding construction.</a:t>
            </a:r>
          </a:p>
        </p:txBody>
      </p:sp>
      <p:sp>
        <p:nvSpPr>
          <p:cNvPr id="7" name="">
            <a:extLst xmlns:a="http://schemas.openxmlformats.org/drawingml/2006/main">
              <a:ext uri="{FF2B5EF4-FFF2-40B4-BE49-F238E27FC236}">
                <a16:creationId xmlns:a16="http://schemas.microsoft.com/office/drawing/2014/main" id="{78D461BE-557F-45C9-8ADC-81E2FE1B6E98}"/>
              </a:ext>
            </a:extLst>
          </p:cNvPr>
          <p:cNvSpPr>
            <a:spLocks xmlns:a="http://schemas.openxmlformats.org/drawingml/2006/main" noGrp="1"/>
          </p:cNvSpPr>
          <p:nvPr/>
        </p:nvSpPr>
        <p:spPr>
          <a:xfrm xmlns:a="http://schemas.openxmlformats.org/drawingml/2006/main">
            <a:off x="685800" y="3857625"/>
            <a:ext cx="1428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1200" b="1" i="0">
                <a:solidFill>
                  <a:srgbClr val="C9924A"/>
                </a:solidFill>
              </a:defRPr>
            </a:pPr>
            <a:r>
              <a:rPr sz="1200" b="1" i="0">
                <a:solidFill>
                  <a:srgbClr val="C9924A"/>
                </a:solidFill>
              </a:rPr>
              <a:t>CAMERA</a:t>
            </a:r>
          </a:p>
        </p:txBody>
      </p:sp>
      <p:sp>
        <p:nvSpPr>
          <p:cNvPr id="8" name="">
            <a:extLst xmlns:a="http://schemas.openxmlformats.org/drawingml/2006/main">
              <a:ext uri="{FF2B5EF4-FFF2-40B4-BE49-F238E27FC236}">
                <a16:creationId xmlns:a16="http://schemas.microsoft.com/office/drawing/2014/main" id="{5661F31A-EBC9-4A7C-93D9-3E1CE5F940DA}"/>
              </a:ext>
            </a:extLst>
          </p:cNvPr>
          <p:cNvSpPr>
            <a:spLocks xmlns:a="http://schemas.openxmlformats.org/drawingml/2006/main" noGrp="1"/>
          </p:cNvSpPr>
          <p:nvPr/>
        </p:nvSpPr>
        <p:spPr>
          <a:xfrm xmlns:a="http://schemas.openxmlformats.org/drawingml/2006/main">
            <a:off x="685800" y="4171950"/>
            <a:ext cx="52863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1575" b="0" i="0">
                <a:solidFill>
                  <a:srgbClr val="D8E0E1"/>
                </a:solidFill>
              </a:defRPr>
            </a:pPr>
            <a:r>
              <a:rPr sz="1575" b="0" i="0">
                <a:solidFill>
                  <a:srgbClr val="D8E0E1"/>
                </a:solidFill>
              </a:rPr>
              <a:t>Collect image and sound motifs; build rhythm, association, and contrast.</a:t>
            </a:r>
          </a:p>
        </p:txBody>
      </p:sp>
      <p:sp>
        <p:nvSpPr>
          <p:cNvPr id="9" name="">
            <a:extLst xmlns:a="http://schemas.openxmlformats.org/drawingml/2006/main">
              <a:ext uri="{FF2B5EF4-FFF2-40B4-BE49-F238E27FC236}">
                <a16:creationId xmlns:a16="http://schemas.microsoft.com/office/drawing/2014/main" id="{6B40AC6E-B722-405E-B70E-46392C23EC8C}"/>
              </a:ext>
            </a:extLst>
          </p:cNvPr>
          <p:cNvSpPr>
            <a:spLocks xmlns:a="http://schemas.openxmlformats.org/drawingml/2006/main" noGrp="1"/>
          </p:cNvSpPr>
          <p:nvPr/>
        </p:nvSpPr>
        <p:spPr>
          <a:xfrm xmlns:a="http://schemas.openxmlformats.org/drawingml/2006/main">
            <a:off x="685800" y="4905375"/>
            <a:ext cx="2000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1200" b="1" i="0">
                <a:solidFill>
                  <a:srgbClr val="C9924A"/>
                </a:solidFill>
              </a:defRPr>
            </a:pPr>
            <a:r>
              <a:rPr sz="1200" b="1" i="0">
                <a:solidFill>
                  <a:srgbClr val="C9924A"/>
                </a:solidFill>
              </a:rPr>
              <a:t>STORY PRESSURE</a:t>
            </a:r>
          </a:p>
        </p:txBody>
      </p:sp>
      <p:sp>
        <p:nvSpPr>
          <p:cNvPr id="10" name="">
            <a:extLst xmlns:a="http://schemas.openxmlformats.org/drawingml/2006/main">
              <a:ext uri="{FF2B5EF4-FFF2-40B4-BE49-F238E27FC236}">
                <a16:creationId xmlns:a16="http://schemas.microsoft.com/office/drawing/2014/main" id="{41B69A86-A767-43FB-A7BB-780D31B0511B}"/>
              </a:ext>
            </a:extLst>
          </p:cNvPr>
          <p:cNvSpPr>
            <a:spLocks xmlns:a="http://schemas.openxmlformats.org/drawingml/2006/main" noGrp="1"/>
          </p:cNvSpPr>
          <p:nvPr/>
        </p:nvSpPr>
        <p:spPr>
          <a:xfrm xmlns:a="http://schemas.openxmlformats.org/drawingml/2006/main">
            <a:off x="685800" y="5219700"/>
            <a:ext cx="52863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1575" b="0" i="0">
                <a:solidFill>
                  <a:srgbClr val="D8E0E1"/>
                </a:solidFill>
              </a:defRPr>
            </a:pPr>
            <a:r>
              <a:rPr sz="1575" b="0" i="0">
                <a:solidFill>
                  <a:srgbClr val="D8E0E1"/>
                </a:solidFill>
              </a:rPr>
              <a:t>Loss is felt through what changes in the place and its soundscape.</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c09ad9b8532b41f6"/>
          <a:srcRect xmlns:a="http://schemas.openxmlformats.org/drawingml/2006/main" l="4643" t="0" r="4643" b="0"/>
          <a:stretch xmlns:a="http://schemas.openxmlformats.org/drawingml/2006/main">
            <a:fillRect l="0" t="0" r="0" b="0"/>
          </a:stretch>
        </p:blipFill>
        <p:spPr>
          <a:xfrm xmlns:a="http://schemas.openxmlformats.org/drawingml/2006/main">
            <a:off x="6667500" y="685800"/>
            <a:ext cx="4838700" cy="5334000"/>
          </a:xfrm>
          <a:prstGeom xmlns:a="http://schemas.openxmlformats.org/drawingml/2006/main" prst="rect">
            <a:avLst/>
          </a:prstGeom>
        </p:spPr>
      </p:pic>
    </p:spTree>
    <p:extLst>
      <p:ext uri="{BB962C8B-B14F-4D97-AF65-F5344CB8AC3E}">
        <p14:creationId xmlns:p14="http://schemas.microsoft.com/office/powerpoint/2010/main" val="1640672933"/>
      </p:ext>
    </p:extLst>
  </p:cSld>
</p:sld>
</file>

<file path=ppt/slides/slide21.xml><?xml version="1.0" encoding="utf-8"?>
<p:sld xmlns:p="http://schemas.openxmlformats.org/presentationml/2006/main">
  <p:cSld>
    <p:bg>
      <p:bgPr>
        <a:solidFill xmlns:a="http://schemas.openxmlformats.org/drawingml/2006/main">
          <a:srgbClr val="081116"/>
        </a:solidFill>
      </p:bgPr>
    </p:bg>
    <p:spTree>
      <p:nvGrpSpPr>
        <p:cNvPr id="1" name=""/>
        <p:cNvGrpSpPr/>
        <p:nvPr/>
      </p:nvGrpSpPr>
      <p:grpSpPr>
        <a:xfrm xmlns:a="http://schemas.openxmlformats.org/drawingml/2006/main"/>
      </p:grpSpPr>
      <p:sp>
        <p:nvSpPr>
          <p:cNvPr id="12" name="accent-21">
            <a:extLst xmlns:a="http://schemas.openxmlformats.org/drawingml/2006/main">
              <a:ext uri="{FF2B5EF4-FFF2-40B4-BE49-F238E27FC236}">
                <a16:creationId xmlns:a16="http://schemas.microsoft.com/office/drawing/2014/main" id="{F64CAE5F-3085-4B76-8BA4-746919B0B7F3}"/>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C9924A"/>
          </a:solidFill>
          <a:ln xmlns:a="http://schemas.openxmlformats.org/drawingml/2006/main" w="0">
            <a:noFill/>
            <a:prstDash val="solid"/>
          </a:ln>
        </p:spPr>
      </p:sp>
      <p:sp>
        <p:nvSpPr>
          <p:cNvPr id="2" name="eyebrow-21">
            <a:extLst xmlns:a="http://schemas.openxmlformats.org/drawingml/2006/main">
              <a:ext uri="{FF2B5EF4-FFF2-40B4-BE49-F238E27FC236}">
                <a16:creationId xmlns:a16="http://schemas.microsoft.com/office/drawing/2014/main" id="{44CD1089-4C58-4327-BC72-E6680F1396D1}"/>
              </a:ext>
            </a:extLst>
          </p:cNvPr>
          <p:cNvSpPr>
            <a:spLocks xmlns:a="http://schemas.openxmlformats.org/drawingml/2006/main" noGrp="1"/>
          </p:cNvSpPr>
          <p:nvPr/>
        </p:nvSpPr>
        <p:spPr>
          <a:xfrm xmlns:a="http://schemas.openxmlformats.org/drawingml/2006/main">
            <a:off x="685800" y="36195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1200" b="1" i="0">
                <a:solidFill>
                  <a:srgbClr val="C9924A"/>
                </a:solidFill>
              </a:defRPr>
            </a:pPr>
            <a:r>
              <a:rPr sz="1200" b="1" i="0">
                <a:solidFill>
                  <a:srgbClr val="C9924A"/>
                </a:solidFill>
              </a:rPr>
              <a:t>ONE STORY, SIX POSSIBLE FILMS</a:t>
            </a:r>
          </a:p>
        </p:txBody>
      </p:sp>
      <p:sp>
        <p:nvSpPr>
          <p:cNvPr id="3" name="section-21">
            <a:extLst xmlns:a="http://schemas.openxmlformats.org/drawingml/2006/main">
              <a:ext uri="{FF2B5EF4-FFF2-40B4-BE49-F238E27FC236}">
                <a16:creationId xmlns:a16="http://schemas.microsoft.com/office/drawing/2014/main" id="{DA042C16-0816-4862-B617-888A7187DCD6}"/>
              </a:ext>
            </a:extLst>
          </p:cNvPr>
          <p:cNvSpPr>
            <a:spLocks xmlns:a="http://schemas.openxmlformats.org/drawingml/2006/main" noGrp="1"/>
          </p:cNvSpPr>
          <p:nvPr/>
        </p:nvSpPr>
        <p:spPr>
          <a:xfrm xmlns:a="http://schemas.openxmlformats.org/drawingml/2006/main">
            <a:off x="685800" y="6429375"/>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1200" b="0" i="0">
                <a:solidFill>
                  <a:srgbClr val="9FB0B9"/>
                </a:solidFill>
              </a:defRPr>
            </a:pPr>
            <a:r>
              <a:rPr sz="1200" b="0" i="0">
                <a:solidFill>
                  <a:srgbClr val="9FB0B9"/>
                </a:solidFill>
              </a:rPr>
              <a:t>FORM IN PRACTICE</a:t>
            </a:r>
          </a:p>
        </p:txBody>
      </p:sp>
      <p:sp>
        <p:nvSpPr>
          <p:cNvPr id="4" name="number-21">
            <a:extLst xmlns:a="http://schemas.openxmlformats.org/drawingml/2006/main">
              <a:ext uri="{FF2B5EF4-FFF2-40B4-BE49-F238E27FC236}">
                <a16:creationId xmlns:a16="http://schemas.microsoft.com/office/drawing/2014/main" id="{E35AE00E-5964-4BF3-86AA-F5BD12B0B0DB}"/>
              </a:ext>
            </a:extLst>
          </p:cNvPr>
          <p:cNvSpPr>
            <a:spLocks xmlns:a="http://schemas.openxmlformats.org/drawingml/2006/main" noGrp="1"/>
          </p:cNvSpPr>
          <p:nvPr/>
        </p:nvSpPr>
        <p:spPr>
          <a:xfrm xmlns:a="http://schemas.openxmlformats.org/drawingml/2006/main">
            <a:off x="11049000" y="640080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lnSpc>
                <a:spcPct val="105000"/>
              </a:lnSpc>
              <a:buNone/>
              <a:defRPr sz="1200" b="1" i="0">
                <a:solidFill>
                  <a:srgbClr val="C9924A"/>
                </a:solidFill>
              </a:defRPr>
            </a:pPr>
            <a:r>
              <a:rPr sz="1200" b="1" i="0">
                <a:solidFill>
                  <a:srgbClr val="C9924A"/>
                </a:solidFill>
              </a:rPr>
              <a:t>21</a:t>
            </a:r>
          </a:p>
        </p:txBody>
      </p:sp>
      <p:sp>
        <p:nvSpPr>
          <p:cNvPr id="5" name="slide-title">
            <a:extLst xmlns:a="http://schemas.openxmlformats.org/drawingml/2006/main">
              <a:ext uri="{FF2B5EF4-FFF2-40B4-BE49-F238E27FC236}">
                <a16:creationId xmlns:a16="http://schemas.microsoft.com/office/drawing/2014/main" id="{51F5E98A-8EA1-4CC2-960B-AB84E7B46692}"/>
              </a:ext>
            </a:extLst>
          </p:cNvPr>
          <p:cNvSpPr>
            <a:spLocks xmlns:a="http://schemas.openxmlformats.org/drawingml/2006/main" noGrp="1"/>
          </p:cNvSpPr>
          <p:nvPr/>
        </p:nvSpPr>
        <p:spPr>
          <a:xfrm xmlns:a="http://schemas.openxmlformats.org/drawingml/2006/main">
            <a:off x="685800" y="838200"/>
            <a:ext cx="61912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94000"/>
              </a:lnSpc>
              <a:buNone/>
              <a:defRPr sz="3600" b="1" i="0">
                <a:solidFill>
                  <a:srgbClr val="F2EFE8"/>
                </a:solidFill>
              </a:defRPr>
            </a:pPr>
            <a:r>
              <a:rPr sz="3600" b="1" i="0">
                <a:solidFill>
                  <a:srgbClr val="F2EFE8"/>
                </a:solidFill>
              </a:rPr>
              <a:t>Performative / personal version</a:t>
            </a:r>
          </a:p>
        </p:txBody>
      </p:sp>
      <p:sp>
        <p:nvSpPr>
          <p:cNvPr id="6" name="pitch">
            <a:extLst xmlns:a="http://schemas.openxmlformats.org/drawingml/2006/main">
              <a:ext uri="{FF2B5EF4-FFF2-40B4-BE49-F238E27FC236}">
                <a16:creationId xmlns:a16="http://schemas.microsoft.com/office/drawing/2014/main" id="{C05AC54B-373F-468A-A4E4-97C55A28EF79}"/>
              </a:ext>
            </a:extLst>
          </p:cNvPr>
          <p:cNvSpPr>
            <a:spLocks xmlns:a="http://schemas.openxmlformats.org/drawingml/2006/main" noGrp="1"/>
          </p:cNvSpPr>
          <p:nvPr/>
        </p:nvSpPr>
        <p:spPr>
          <a:xfrm xmlns:a="http://schemas.openxmlformats.org/drawingml/2006/main">
            <a:off x="685800" y="2019300"/>
            <a:ext cx="5286375"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0000"/>
              </a:lnSpc>
              <a:buNone/>
              <a:defRPr sz="2175" b="0" i="1">
                <a:solidFill>
                  <a:srgbClr val="F2EFE8"/>
                </a:solidFill>
              </a:defRPr>
            </a:pPr>
            <a:r>
              <a:rPr sz="2175" b="0" i="1">
                <a:solidFill>
                  <a:srgbClr val="F2EFE8"/>
                </a:solidFill>
              </a:rPr>
              <a:t>A gardener tells the history of the place through the plants, objects, and memories that shaped her own life.</a:t>
            </a:r>
          </a:p>
        </p:txBody>
      </p:sp>
      <p:sp>
        <p:nvSpPr>
          <p:cNvPr id="7" name="">
            <a:extLst xmlns:a="http://schemas.openxmlformats.org/drawingml/2006/main">
              <a:ext uri="{FF2B5EF4-FFF2-40B4-BE49-F238E27FC236}">
                <a16:creationId xmlns:a16="http://schemas.microsoft.com/office/drawing/2014/main" id="{911DF96B-E65F-4E3D-BA05-7955FAE8CF7D}"/>
              </a:ext>
            </a:extLst>
          </p:cNvPr>
          <p:cNvSpPr>
            <a:spLocks xmlns:a="http://schemas.openxmlformats.org/drawingml/2006/main" noGrp="1"/>
          </p:cNvSpPr>
          <p:nvPr/>
        </p:nvSpPr>
        <p:spPr>
          <a:xfrm xmlns:a="http://schemas.openxmlformats.org/drawingml/2006/main">
            <a:off x="685800" y="3857625"/>
            <a:ext cx="1428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1200" b="1" i="0">
                <a:solidFill>
                  <a:srgbClr val="C9924A"/>
                </a:solidFill>
              </a:defRPr>
            </a:pPr>
            <a:r>
              <a:rPr sz="1200" b="1" i="0">
                <a:solidFill>
                  <a:srgbClr val="C9924A"/>
                </a:solidFill>
              </a:rPr>
              <a:t>CAMERA</a:t>
            </a:r>
          </a:p>
        </p:txBody>
      </p:sp>
      <p:sp>
        <p:nvSpPr>
          <p:cNvPr id="8" name="">
            <a:extLst xmlns:a="http://schemas.openxmlformats.org/drawingml/2006/main">
              <a:ext uri="{FF2B5EF4-FFF2-40B4-BE49-F238E27FC236}">
                <a16:creationId xmlns:a16="http://schemas.microsoft.com/office/drawing/2014/main" id="{2230F5CA-598E-4E9A-8B6C-7024A9EAEEAB}"/>
              </a:ext>
            </a:extLst>
          </p:cNvPr>
          <p:cNvSpPr>
            <a:spLocks xmlns:a="http://schemas.openxmlformats.org/drawingml/2006/main" noGrp="1"/>
          </p:cNvSpPr>
          <p:nvPr/>
        </p:nvSpPr>
        <p:spPr>
          <a:xfrm xmlns:a="http://schemas.openxmlformats.org/drawingml/2006/main">
            <a:off x="685800" y="4171950"/>
            <a:ext cx="52863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1575" b="0" i="0">
                <a:solidFill>
                  <a:srgbClr val="D8E0E1"/>
                </a:solidFill>
              </a:defRPr>
            </a:pPr>
            <a:r>
              <a:rPr sz="1575" b="0" i="0">
                <a:solidFill>
                  <a:srgbClr val="D8E0E1"/>
                </a:solidFill>
              </a:rPr>
              <a:t>First-person narration, embodied action, family archive, and intimate encounter.</a:t>
            </a:r>
          </a:p>
        </p:txBody>
      </p:sp>
      <p:sp>
        <p:nvSpPr>
          <p:cNvPr id="9" name="">
            <a:extLst xmlns:a="http://schemas.openxmlformats.org/drawingml/2006/main">
              <a:ext uri="{FF2B5EF4-FFF2-40B4-BE49-F238E27FC236}">
                <a16:creationId xmlns:a16="http://schemas.microsoft.com/office/drawing/2014/main" id="{99A7FAE7-9B34-4D01-A833-0B6152181F4A}"/>
              </a:ext>
            </a:extLst>
          </p:cNvPr>
          <p:cNvSpPr>
            <a:spLocks xmlns:a="http://schemas.openxmlformats.org/drawingml/2006/main" noGrp="1"/>
          </p:cNvSpPr>
          <p:nvPr/>
        </p:nvSpPr>
        <p:spPr>
          <a:xfrm xmlns:a="http://schemas.openxmlformats.org/drawingml/2006/main">
            <a:off x="685800" y="4905375"/>
            <a:ext cx="2000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1200" b="1" i="0">
                <a:solidFill>
                  <a:srgbClr val="C9924A"/>
                </a:solidFill>
              </a:defRPr>
            </a:pPr>
            <a:r>
              <a:rPr sz="1200" b="1" i="0">
                <a:solidFill>
                  <a:srgbClr val="C9924A"/>
                </a:solidFill>
              </a:rPr>
              <a:t>STORY PRESSURE</a:t>
            </a:r>
          </a:p>
        </p:txBody>
      </p:sp>
      <p:sp>
        <p:nvSpPr>
          <p:cNvPr id="10" name="">
            <a:extLst xmlns:a="http://schemas.openxmlformats.org/drawingml/2006/main">
              <a:ext uri="{FF2B5EF4-FFF2-40B4-BE49-F238E27FC236}">
                <a16:creationId xmlns:a16="http://schemas.microsoft.com/office/drawing/2014/main" id="{3668E5F5-1AC2-4B7C-B4EE-9D9AE11B47DB}"/>
              </a:ext>
            </a:extLst>
          </p:cNvPr>
          <p:cNvSpPr>
            <a:spLocks xmlns:a="http://schemas.openxmlformats.org/drawingml/2006/main" noGrp="1"/>
          </p:cNvSpPr>
          <p:nvPr/>
        </p:nvSpPr>
        <p:spPr>
          <a:xfrm xmlns:a="http://schemas.openxmlformats.org/drawingml/2006/main">
            <a:off x="685800" y="5219700"/>
            <a:ext cx="52863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1575" b="0" i="0">
                <a:solidFill>
                  <a:srgbClr val="D8E0E1"/>
                </a:solidFill>
              </a:defRPr>
            </a:pPr>
            <a:r>
              <a:rPr sz="1575" b="0" i="0">
                <a:solidFill>
                  <a:srgbClr val="D8E0E1"/>
                </a:solidFill>
              </a:rPr>
              <a:t>The possible closure challenges identity, memory, and belonging.</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e6f94552036340a8"/>
          <a:srcRect xmlns:a="http://schemas.openxmlformats.org/drawingml/2006/main" l="4643" t="0" r="4643" b="0"/>
          <a:stretch xmlns:a="http://schemas.openxmlformats.org/drawingml/2006/main">
            <a:fillRect l="0" t="0" r="0" b="0"/>
          </a:stretch>
        </p:blipFill>
        <p:spPr>
          <a:xfrm xmlns:a="http://schemas.openxmlformats.org/drawingml/2006/main">
            <a:off x="6667500" y="685800"/>
            <a:ext cx="4838700" cy="5334000"/>
          </a:xfrm>
          <a:prstGeom xmlns:a="http://schemas.openxmlformats.org/drawingml/2006/main" prst="rect">
            <a:avLst/>
          </a:prstGeom>
        </p:spPr>
      </p:pic>
    </p:spTree>
    <p:extLst>
      <p:ext uri="{BB962C8B-B14F-4D97-AF65-F5344CB8AC3E}">
        <p14:creationId xmlns:p14="http://schemas.microsoft.com/office/powerpoint/2010/main" val="1331944089"/>
      </p:ext>
    </p:extLst>
  </p:cSld>
</p:sld>
</file>

<file path=ppt/slides/slide22.xml><?xml version="1.0" encoding="utf-8"?>
<p:sld xmlns:p="http://schemas.openxmlformats.org/presentationml/2006/main">
  <p:cSld>
    <p:bg>
      <p:bgPr>
        <a:solidFill xmlns:a="http://schemas.openxmlformats.org/drawingml/2006/main">
          <a:srgbClr val="081116"/>
        </a:solidFill>
      </p:bgPr>
    </p:bg>
    <p:spTree>
      <p:nvGrpSpPr>
        <p:cNvPr id="1" name=""/>
        <p:cNvGrpSpPr/>
        <p:nvPr/>
      </p:nvGrpSpPr>
      <p:grpSpPr>
        <a:xfrm xmlns:a="http://schemas.openxmlformats.org/drawingml/2006/main"/>
      </p:grpSpPr>
      <p:sp>
        <p:nvSpPr>
          <p:cNvPr id="23" name="accent-22">
            <a:extLst xmlns:a="http://schemas.openxmlformats.org/drawingml/2006/main">
              <a:ext uri="{FF2B5EF4-FFF2-40B4-BE49-F238E27FC236}">
                <a16:creationId xmlns:a16="http://schemas.microsoft.com/office/drawing/2014/main" id="{1B5DEFFB-4D7B-43DA-9A3A-F37E4025DCDD}"/>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C9924A"/>
          </a:solidFill>
          <a:ln xmlns:a="http://schemas.openxmlformats.org/drawingml/2006/main" w="0">
            <a:noFill/>
            <a:prstDash val="solid"/>
          </a:ln>
        </p:spPr>
      </p:sp>
      <p:sp>
        <p:nvSpPr>
          <p:cNvPr id="2" name="eyebrow-22">
            <a:extLst xmlns:a="http://schemas.openxmlformats.org/drawingml/2006/main">
              <a:ext uri="{FF2B5EF4-FFF2-40B4-BE49-F238E27FC236}">
                <a16:creationId xmlns:a16="http://schemas.microsoft.com/office/drawing/2014/main" id="{577D75F7-3080-410B-99BF-C9E6A4CB255A}"/>
              </a:ext>
            </a:extLst>
          </p:cNvPr>
          <p:cNvSpPr>
            <a:spLocks xmlns:a="http://schemas.openxmlformats.org/drawingml/2006/main" noGrp="1"/>
          </p:cNvSpPr>
          <p:nvPr/>
        </p:nvSpPr>
        <p:spPr>
          <a:xfrm xmlns:a="http://schemas.openxmlformats.org/drawingml/2006/main">
            <a:off x="685800" y="36195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1200" b="1" i="0">
                <a:solidFill>
                  <a:srgbClr val="C9924A"/>
                </a:solidFill>
              </a:defRPr>
            </a:pPr>
            <a:r>
              <a:rPr sz="1200" b="1" i="0">
                <a:solidFill>
                  <a:srgbClr val="C9924A"/>
                </a:solidFill>
              </a:rPr>
              <a:t>COMPARE THE VERSIONS</a:t>
            </a:r>
          </a:p>
        </p:txBody>
      </p:sp>
      <p:sp>
        <p:nvSpPr>
          <p:cNvPr id="3" name="section-22">
            <a:extLst xmlns:a="http://schemas.openxmlformats.org/drawingml/2006/main">
              <a:ext uri="{FF2B5EF4-FFF2-40B4-BE49-F238E27FC236}">
                <a16:creationId xmlns:a16="http://schemas.microsoft.com/office/drawing/2014/main" id="{75D37394-1557-4A34-AD08-CF198536BDD5}"/>
              </a:ext>
            </a:extLst>
          </p:cNvPr>
          <p:cNvSpPr>
            <a:spLocks xmlns:a="http://schemas.openxmlformats.org/drawingml/2006/main" noGrp="1"/>
          </p:cNvSpPr>
          <p:nvPr/>
        </p:nvSpPr>
        <p:spPr>
          <a:xfrm xmlns:a="http://schemas.openxmlformats.org/drawingml/2006/main">
            <a:off x="685800" y="6429375"/>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1200" b="0" i="0">
                <a:solidFill>
                  <a:srgbClr val="9FB0B9"/>
                </a:solidFill>
              </a:defRPr>
            </a:pPr>
            <a:r>
              <a:rPr sz="1200" b="0" i="0">
                <a:solidFill>
                  <a:srgbClr val="9FB0B9"/>
                </a:solidFill>
              </a:rPr>
              <a:t>FORM IN PRACTICE</a:t>
            </a:r>
          </a:p>
        </p:txBody>
      </p:sp>
      <p:sp>
        <p:nvSpPr>
          <p:cNvPr id="4" name="number-22">
            <a:extLst xmlns:a="http://schemas.openxmlformats.org/drawingml/2006/main">
              <a:ext uri="{FF2B5EF4-FFF2-40B4-BE49-F238E27FC236}">
                <a16:creationId xmlns:a16="http://schemas.microsoft.com/office/drawing/2014/main" id="{FE8ADFBF-5A30-406E-931F-2CE65B566180}"/>
              </a:ext>
            </a:extLst>
          </p:cNvPr>
          <p:cNvSpPr>
            <a:spLocks xmlns:a="http://schemas.openxmlformats.org/drawingml/2006/main" noGrp="1"/>
          </p:cNvSpPr>
          <p:nvPr/>
        </p:nvSpPr>
        <p:spPr>
          <a:xfrm xmlns:a="http://schemas.openxmlformats.org/drawingml/2006/main">
            <a:off x="11049000" y="640080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lnSpc>
                <a:spcPct val="105000"/>
              </a:lnSpc>
              <a:buNone/>
              <a:defRPr sz="1200" b="1" i="0">
                <a:solidFill>
                  <a:srgbClr val="C9924A"/>
                </a:solidFill>
              </a:defRPr>
            </a:pPr>
            <a:r>
              <a:rPr sz="1200" b="1" i="0">
                <a:solidFill>
                  <a:srgbClr val="C9924A"/>
                </a:solidFill>
              </a:rPr>
              <a:t>22</a:t>
            </a:r>
          </a:p>
        </p:txBody>
      </p:sp>
      <p:sp>
        <p:nvSpPr>
          <p:cNvPr id="5" name="slide-title">
            <a:extLst xmlns:a="http://schemas.openxmlformats.org/drawingml/2006/main">
              <a:ext uri="{FF2B5EF4-FFF2-40B4-BE49-F238E27FC236}">
                <a16:creationId xmlns:a16="http://schemas.microsoft.com/office/drawing/2014/main" id="{0A53EAF5-A8CF-46C6-A702-D932416D1DDD}"/>
              </a:ext>
            </a:extLst>
          </p:cNvPr>
          <p:cNvSpPr>
            <a:spLocks xmlns:a="http://schemas.openxmlformats.org/drawingml/2006/main" noGrp="1"/>
          </p:cNvSpPr>
          <p:nvPr/>
        </p:nvSpPr>
        <p:spPr>
          <a:xfrm xmlns:a="http://schemas.openxmlformats.org/drawingml/2006/main">
            <a:off x="685800" y="857250"/>
            <a:ext cx="90487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94000"/>
              </a:lnSpc>
              <a:buNone/>
              <a:defRPr sz="3750" b="1" i="0">
                <a:solidFill>
                  <a:srgbClr val="F2EFE8"/>
                </a:solidFill>
              </a:defRPr>
            </a:pPr>
            <a:r>
              <a:rPr sz="3750" b="1" i="0">
                <a:solidFill>
                  <a:srgbClr val="F2EFE8"/>
                </a:solidFill>
              </a:rPr>
              <a:t>What stays—and what changes?</a:t>
            </a:r>
          </a:p>
        </p:txBody>
      </p:sp>
      <p:sp>
        <p:nvSpPr>
          <p:cNvPr id="6" name="">
            <a:extLst xmlns:a="http://schemas.openxmlformats.org/drawingml/2006/main">
              <a:ext uri="{FF2B5EF4-FFF2-40B4-BE49-F238E27FC236}">
                <a16:creationId xmlns:a16="http://schemas.microsoft.com/office/drawing/2014/main" id="{1731F345-CDF9-4EAA-A581-2E7C5D50086B}"/>
              </a:ext>
            </a:extLst>
          </p:cNvPr>
          <p:cNvSpPr>
            <a:spLocks xmlns:a="http://schemas.openxmlformats.org/drawingml/2006/main" noGrp="1"/>
          </p:cNvSpPr>
          <p:nvPr/>
        </p:nvSpPr>
        <p:spPr>
          <a:xfrm xmlns:a="http://schemas.openxmlformats.org/drawingml/2006/main">
            <a:off x="685800" y="2190750"/>
            <a:ext cx="219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1500" b="1" i="0">
                <a:solidFill>
                  <a:srgbClr val="C9924A"/>
                </a:solidFill>
              </a:defRPr>
            </a:pPr>
            <a:r>
              <a:rPr sz="1500" b="1" i="0">
                <a:solidFill>
                  <a:srgbClr val="C9924A"/>
                </a:solidFill>
              </a:rPr>
              <a:t>STAYS</a:t>
            </a:r>
          </a:p>
        </p:txBody>
      </p:sp>
      <p:sp>
        <p:nvSpPr>
          <p:cNvPr id="7" name="bullet-0">
            <a:extLst xmlns:a="http://schemas.openxmlformats.org/drawingml/2006/main">
              <a:ext uri="{FF2B5EF4-FFF2-40B4-BE49-F238E27FC236}">
                <a16:creationId xmlns:a16="http://schemas.microsoft.com/office/drawing/2014/main" id="{5F05B283-3AF6-4391-979C-1DA8F3EEAF61}"/>
              </a:ext>
            </a:extLst>
          </p:cNvPr>
          <p:cNvSpPr>
            <a:spLocks xmlns:a="http://schemas.openxmlformats.org/drawingml/2006/main" noGrp="1"/>
          </p:cNvSpPr>
          <p:nvPr/>
        </p:nvSpPr>
        <p:spPr>
          <a:xfrm xmlns:a="http://schemas.openxmlformats.org/drawingml/2006/main">
            <a:off x="685800" y="2819400"/>
            <a:ext cx="95250" cy="95250"/>
          </a:xfrm>
          <a:prstGeom xmlns:a="http://schemas.openxmlformats.org/drawingml/2006/main" prst="rect">
            <a:avLst/>
          </a:prstGeom>
          <a:solidFill xmlns:a="http://schemas.openxmlformats.org/drawingml/2006/main">
            <a:srgbClr val="C9924A"/>
          </a:solidFill>
          <a:ln xmlns:a="http://schemas.openxmlformats.org/drawingml/2006/main" w="0">
            <a:noFill/>
            <a:prstDash val="solid"/>
          </a:ln>
        </p:spPr>
      </p:sp>
      <p:sp>
        <p:nvSpPr>
          <p:cNvPr id="8" name="bullet-text-0">
            <a:extLst xmlns:a="http://schemas.openxmlformats.org/drawingml/2006/main">
              <a:ext uri="{FF2B5EF4-FFF2-40B4-BE49-F238E27FC236}">
                <a16:creationId xmlns:a16="http://schemas.microsoft.com/office/drawing/2014/main" id="{41C1D482-B0FC-4DA4-AA16-E37FF825BC45}"/>
              </a:ext>
            </a:extLst>
          </p:cNvPr>
          <p:cNvSpPr>
            <a:spLocks xmlns:a="http://schemas.openxmlformats.org/drawingml/2006/main" noGrp="1"/>
          </p:cNvSpPr>
          <p:nvPr/>
        </p:nvSpPr>
        <p:spPr>
          <a:xfrm xmlns:a="http://schemas.openxmlformats.org/drawingml/2006/main">
            <a:off x="952500" y="2724150"/>
            <a:ext cx="42100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2000"/>
              </a:lnSpc>
              <a:buNone/>
              <a:defRPr sz="1725" b="0" i="0">
                <a:solidFill>
                  <a:srgbClr val="D8E0E1"/>
                </a:solidFill>
              </a:defRPr>
            </a:pPr>
            <a:r>
              <a:rPr sz="1725" b="0" i="0">
                <a:solidFill>
                  <a:srgbClr val="D8E0E1"/>
                </a:solidFill>
              </a:rPr>
              <a:t>The garden and closure threat</a:t>
            </a:r>
          </a:p>
        </p:txBody>
      </p:sp>
      <p:sp>
        <p:nvSpPr>
          <p:cNvPr id="9" name="bullet-1">
            <a:extLst xmlns:a="http://schemas.openxmlformats.org/drawingml/2006/main">
              <a:ext uri="{FF2B5EF4-FFF2-40B4-BE49-F238E27FC236}">
                <a16:creationId xmlns:a16="http://schemas.microsoft.com/office/drawing/2014/main" id="{16D47454-D17F-479C-92A1-1C37CD8ECEDF}"/>
              </a:ext>
            </a:extLst>
          </p:cNvPr>
          <p:cNvSpPr>
            <a:spLocks xmlns:a="http://schemas.openxmlformats.org/drawingml/2006/main" noGrp="1"/>
          </p:cNvSpPr>
          <p:nvPr/>
        </p:nvSpPr>
        <p:spPr>
          <a:xfrm xmlns:a="http://schemas.openxmlformats.org/drawingml/2006/main">
            <a:off x="685800" y="3505200"/>
            <a:ext cx="95250" cy="95250"/>
          </a:xfrm>
          <a:prstGeom xmlns:a="http://schemas.openxmlformats.org/drawingml/2006/main" prst="rect">
            <a:avLst/>
          </a:prstGeom>
          <a:solidFill xmlns:a="http://schemas.openxmlformats.org/drawingml/2006/main">
            <a:srgbClr val="C9924A"/>
          </a:solidFill>
          <a:ln xmlns:a="http://schemas.openxmlformats.org/drawingml/2006/main" w="0">
            <a:noFill/>
            <a:prstDash val="solid"/>
          </a:ln>
        </p:spPr>
      </p:sp>
      <p:sp>
        <p:nvSpPr>
          <p:cNvPr id="10" name="bullet-text-1">
            <a:extLst xmlns:a="http://schemas.openxmlformats.org/drawingml/2006/main">
              <a:ext uri="{FF2B5EF4-FFF2-40B4-BE49-F238E27FC236}">
                <a16:creationId xmlns:a16="http://schemas.microsoft.com/office/drawing/2014/main" id="{68B7BECA-ABF6-4B06-89A8-EAA2B395A610}"/>
              </a:ext>
            </a:extLst>
          </p:cNvPr>
          <p:cNvSpPr>
            <a:spLocks xmlns:a="http://schemas.openxmlformats.org/drawingml/2006/main" noGrp="1"/>
          </p:cNvSpPr>
          <p:nvPr/>
        </p:nvSpPr>
        <p:spPr>
          <a:xfrm xmlns:a="http://schemas.openxmlformats.org/drawingml/2006/main">
            <a:off x="952500" y="3409950"/>
            <a:ext cx="42100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2000"/>
              </a:lnSpc>
              <a:buNone/>
              <a:defRPr sz="1725" b="0" i="0">
                <a:solidFill>
                  <a:srgbClr val="D8E0E1"/>
                </a:solidFill>
              </a:defRPr>
            </a:pPr>
            <a:r>
              <a:rPr sz="1725" b="0" i="0">
                <a:solidFill>
                  <a:srgbClr val="D8E0E1"/>
                </a:solidFill>
              </a:rPr>
              <a:t>Core people and place</a:t>
            </a:r>
          </a:p>
        </p:txBody>
      </p:sp>
      <p:sp>
        <p:nvSpPr>
          <p:cNvPr id="11" name="bullet-2">
            <a:extLst xmlns:a="http://schemas.openxmlformats.org/drawingml/2006/main">
              <a:ext uri="{FF2B5EF4-FFF2-40B4-BE49-F238E27FC236}">
                <a16:creationId xmlns:a16="http://schemas.microsoft.com/office/drawing/2014/main" id="{D41D9B98-FCBF-4151-93BF-A1D9C02A0D52}"/>
              </a:ext>
            </a:extLst>
          </p:cNvPr>
          <p:cNvSpPr>
            <a:spLocks xmlns:a="http://schemas.openxmlformats.org/drawingml/2006/main" noGrp="1"/>
          </p:cNvSpPr>
          <p:nvPr/>
        </p:nvSpPr>
        <p:spPr>
          <a:xfrm xmlns:a="http://schemas.openxmlformats.org/drawingml/2006/main">
            <a:off x="685800" y="4191000"/>
            <a:ext cx="95250" cy="95250"/>
          </a:xfrm>
          <a:prstGeom xmlns:a="http://schemas.openxmlformats.org/drawingml/2006/main" prst="rect">
            <a:avLst/>
          </a:prstGeom>
          <a:solidFill xmlns:a="http://schemas.openxmlformats.org/drawingml/2006/main">
            <a:srgbClr val="C9924A"/>
          </a:solidFill>
          <a:ln xmlns:a="http://schemas.openxmlformats.org/drawingml/2006/main" w="0">
            <a:noFill/>
            <a:prstDash val="solid"/>
          </a:ln>
        </p:spPr>
      </p:sp>
      <p:sp>
        <p:nvSpPr>
          <p:cNvPr id="12" name="bullet-text-2">
            <a:extLst xmlns:a="http://schemas.openxmlformats.org/drawingml/2006/main">
              <a:ext uri="{FF2B5EF4-FFF2-40B4-BE49-F238E27FC236}">
                <a16:creationId xmlns:a16="http://schemas.microsoft.com/office/drawing/2014/main" id="{E0FD5641-1C27-43A4-9C62-D24B805E1093}"/>
              </a:ext>
            </a:extLst>
          </p:cNvPr>
          <p:cNvSpPr>
            <a:spLocks xmlns:a="http://schemas.openxmlformats.org/drawingml/2006/main" noGrp="1"/>
          </p:cNvSpPr>
          <p:nvPr/>
        </p:nvSpPr>
        <p:spPr>
          <a:xfrm xmlns:a="http://schemas.openxmlformats.org/drawingml/2006/main">
            <a:off x="952500" y="4095750"/>
            <a:ext cx="42100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2000"/>
              </a:lnSpc>
              <a:buNone/>
              <a:defRPr sz="1725" b="0" i="0">
                <a:solidFill>
                  <a:srgbClr val="D8E0E1"/>
                </a:solidFill>
              </a:defRPr>
            </a:pPr>
            <a:r>
              <a:rPr sz="1725" b="0" i="0">
                <a:solidFill>
                  <a:srgbClr val="D8E0E1"/>
                </a:solidFill>
              </a:rPr>
              <a:t>Access and ethical obligations</a:t>
            </a:r>
          </a:p>
        </p:txBody>
      </p:sp>
      <p:sp>
        <p:nvSpPr>
          <p:cNvPr id="13" name="middle-rule">
            <a:extLst xmlns:a="http://schemas.openxmlformats.org/drawingml/2006/main">
              <a:ext uri="{FF2B5EF4-FFF2-40B4-BE49-F238E27FC236}">
                <a16:creationId xmlns:a16="http://schemas.microsoft.com/office/drawing/2014/main" id="{44FD9DDA-A850-4AE5-9900-F9EBBD54C4A8}"/>
              </a:ext>
            </a:extLst>
          </p:cNvPr>
          <p:cNvSpPr>
            <a:spLocks xmlns:a="http://schemas.openxmlformats.org/drawingml/2006/main" noGrp="1"/>
          </p:cNvSpPr>
          <p:nvPr/>
        </p:nvSpPr>
        <p:spPr>
          <a:xfrm xmlns:a="http://schemas.openxmlformats.org/drawingml/2006/main">
            <a:off x="6048375" y="1952625"/>
            <a:ext cx="28575" cy="3714750"/>
          </a:xfrm>
          <a:prstGeom xmlns:a="http://schemas.openxmlformats.org/drawingml/2006/main" prst="rect">
            <a:avLst/>
          </a:prstGeom>
          <a:solidFill xmlns:a="http://schemas.openxmlformats.org/drawingml/2006/main">
            <a:srgbClr val="2D6675"/>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26D90C1-F52F-4932-88F0-4F5ADBD776C1}"/>
              </a:ext>
            </a:extLst>
          </p:cNvPr>
          <p:cNvSpPr>
            <a:spLocks xmlns:a="http://schemas.openxmlformats.org/drawingml/2006/main" noGrp="1"/>
          </p:cNvSpPr>
          <p:nvPr/>
        </p:nvSpPr>
        <p:spPr>
          <a:xfrm xmlns:a="http://schemas.openxmlformats.org/drawingml/2006/main">
            <a:off x="6667500" y="21907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1500" b="1" i="0">
                <a:solidFill>
                  <a:srgbClr val="C9924A"/>
                </a:solidFill>
              </a:defRPr>
            </a:pPr>
            <a:r>
              <a:rPr sz="1500" b="1" i="0">
                <a:solidFill>
                  <a:srgbClr val="C9924A"/>
                </a:solidFill>
              </a:rPr>
              <a:t>CHANGES</a:t>
            </a:r>
          </a:p>
        </p:txBody>
      </p:sp>
      <p:sp>
        <p:nvSpPr>
          <p:cNvPr id="15" name="bullet-0">
            <a:extLst xmlns:a="http://schemas.openxmlformats.org/drawingml/2006/main">
              <a:ext uri="{FF2B5EF4-FFF2-40B4-BE49-F238E27FC236}">
                <a16:creationId xmlns:a16="http://schemas.microsoft.com/office/drawing/2014/main" id="{04870283-F370-4044-9A6D-7458E41D9F6F}"/>
              </a:ext>
            </a:extLst>
          </p:cNvPr>
          <p:cNvSpPr>
            <a:spLocks xmlns:a="http://schemas.openxmlformats.org/drawingml/2006/main" noGrp="1"/>
          </p:cNvSpPr>
          <p:nvPr/>
        </p:nvSpPr>
        <p:spPr>
          <a:xfrm xmlns:a="http://schemas.openxmlformats.org/drawingml/2006/main">
            <a:off x="6667500" y="2819400"/>
            <a:ext cx="95250" cy="95250"/>
          </a:xfrm>
          <a:prstGeom xmlns:a="http://schemas.openxmlformats.org/drawingml/2006/main" prst="rect">
            <a:avLst/>
          </a:prstGeom>
          <a:solidFill xmlns:a="http://schemas.openxmlformats.org/drawingml/2006/main">
            <a:srgbClr val="C9924A"/>
          </a:solidFill>
          <a:ln xmlns:a="http://schemas.openxmlformats.org/drawingml/2006/main" w="0">
            <a:noFill/>
            <a:prstDash val="solid"/>
          </a:ln>
        </p:spPr>
      </p:sp>
      <p:sp>
        <p:nvSpPr>
          <p:cNvPr id="16" name="bullet-text-0">
            <a:extLst xmlns:a="http://schemas.openxmlformats.org/drawingml/2006/main">
              <a:ext uri="{FF2B5EF4-FFF2-40B4-BE49-F238E27FC236}">
                <a16:creationId xmlns:a16="http://schemas.microsoft.com/office/drawing/2014/main" id="{7779A4A3-D483-4C00-8DAC-282BDA50AE1C}"/>
              </a:ext>
            </a:extLst>
          </p:cNvPr>
          <p:cNvSpPr>
            <a:spLocks xmlns:a="http://schemas.openxmlformats.org/drawingml/2006/main" noGrp="1"/>
          </p:cNvSpPr>
          <p:nvPr/>
        </p:nvSpPr>
        <p:spPr>
          <a:xfrm xmlns:a="http://schemas.openxmlformats.org/drawingml/2006/main">
            <a:off x="6934200" y="2724150"/>
            <a:ext cx="44005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2000"/>
              </a:lnSpc>
              <a:buNone/>
              <a:defRPr sz="1725" b="0" i="0">
                <a:solidFill>
                  <a:srgbClr val="D8E0E1"/>
                </a:solidFill>
              </a:defRPr>
            </a:pPr>
            <a:r>
              <a:rPr sz="1725" b="0" i="0">
                <a:solidFill>
                  <a:srgbClr val="D8E0E1"/>
                </a:solidFill>
              </a:rPr>
              <a:t>What counts as evidence</a:t>
            </a:r>
          </a:p>
        </p:txBody>
      </p:sp>
      <p:sp>
        <p:nvSpPr>
          <p:cNvPr id="17" name="bullet-1">
            <a:extLst xmlns:a="http://schemas.openxmlformats.org/drawingml/2006/main">
              <a:ext uri="{FF2B5EF4-FFF2-40B4-BE49-F238E27FC236}">
                <a16:creationId xmlns:a16="http://schemas.microsoft.com/office/drawing/2014/main" id="{95A0CF86-0D30-41C7-869D-AA3E9B5B1D7D}"/>
              </a:ext>
            </a:extLst>
          </p:cNvPr>
          <p:cNvSpPr>
            <a:spLocks xmlns:a="http://schemas.openxmlformats.org/drawingml/2006/main" noGrp="1"/>
          </p:cNvSpPr>
          <p:nvPr/>
        </p:nvSpPr>
        <p:spPr>
          <a:xfrm xmlns:a="http://schemas.openxmlformats.org/drawingml/2006/main">
            <a:off x="6667500" y="3448050"/>
            <a:ext cx="95250" cy="95250"/>
          </a:xfrm>
          <a:prstGeom xmlns:a="http://schemas.openxmlformats.org/drawingml/2006/main" prst="rect">
            <a:avLst/>
          </a:prstGeom>
          <a:solidFill xmlns:a="http://schemas.openxmlformats.org/drawingml/2006/main">
            <a:srgbClr val="C9924A"/>
          </a:solidFill>
          <a:ln xmlns:a="http://schemas.openxmlformats.org/drawingml/2006/main" w="0">
            <a:noFill/>
            <a:prstDash val="solid"/>
          </a:ln>
        </p:spPr>
      </p:sp>
      <p:sp>
        <p:nvSpPr>
          <p:cNvPr id="18" name="bullet-text-1">
            <a:extLst xmlns:a="http://schemas.openxmlformats.org/drawingml/2006/main">
              <a:ext uri="{FF2B5EF4-FFF2-40B4-BE49-F238E27FC236}">
                <a16:creationId xmlns:a16="http://schemas.microsoft.com/office/drawing/2014/main" id="{6FF681E9-3023-4B5A-A94C-854EC4D1C148}"/>
              </a:ext>
            </a:extLst>
          </p:cNvPr>
          <p:cNvSpPr>
            <a:spLocks xmlns:a="http://schemas.openxmlformats.org/drawingml/2006/main" noGrp="1"/>
          </p:cNvSpPr>
          <p:nvPr/>
        </p:nvSpPr>
        <p:spPr>
          <a:xfrm xmlns:a="http://schemas.openxmlformats.org/drawingml/2006/main">
            <a:off x="6934200" y="3352800"/>
            <a:ext cx="44005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2000"/>
              </a:lnSpc>
              <a:buNone/>
              <a:defRPr sz="1725" b="0" i="0">
                <a:solidFill>
                  <a:srgbClr val="D8E0E1"/>
                </a:solidFill>
              </a:defRPr>
            </a:pPr>
            <a:r>
              <a:rPr sz="1725" b="0" i="0">
                <a:solidFill>
                  <a:srgbClr val="D8E0E1"/>
                </a:solidFill>
              </a:rPr>
              <a:t>Filmmaker presence</a:t>
            </a:r>
          </a:p>
        </p:txBody>
      </p:sp>
      <p:sp>
        <p:nvSpPr>
          <p:cNvPr id="19" name="bullet-2">
            <a:extLst xmlns:a="http://schemas.openxmlformats.org/drawingml/2006/main">
              <a:ext uri="{FF2B5EF4-FFF2-40B4-BE49-F238E27FC236}">
                <a16:creationId xmlns:a16="http://schemas.microsoft.com/office/drawing/2014/main" id="{30D7AD6E-8FF7-4ED1-B04A-354741762FD4}"/>
              </a:ext>
            </a:extLst>
          </p:cNvPr>
          <p:cNvSpPr>
            <a:spLocks xmlns:a="http://schemas.openxmlformats.org/drawingml/2006/main" noGrp="1"/>
          </p:cNvSpPr>
          <p:nvPr/>
        </p:nvSpPr>
        <p:spPr>
          <a:xfrm xmlns:a="http://schemas.openxmlformats.org/drawingml/2006/main">
            <a:off x="6667500" y="4076700"/>
            <a:ext cx="95250" cy="95250"/>
          </a:xfrm>
          <a:prstGeom xmlns:a="http://schemas.openxmlformats.org/drawingml/2006/main" prst="rect">
            <a:avLst/>
          </a:prstGeom>
          <a:solidFill xmlns:a="http://schemas.openxmlformats.org/drawingml/2006/main">
            <a:srgbClr val="C9924A"/>
          </a:solidFill>
          <a:ln xmlns:a="http://schemas.openxmlformats.org/drawingml/2006/main" w="0">
            <a:noFill/>
            <a:prstDash val="solid"/>
          </a:ln>
        </p:spPr>
      </p:sp>
      <p:sp>
        <p:nvSpPr>
          <p:cNvPr id="20" name="bullet-text-2">
            <a:extLst xmlns:a="http://schemas.openxmlformats.org/drawingml/2006/main">
              <a:ext uri="{FF2B5EF4-FFF2-40B4-BE49-F238E27FC236}">
                <a16:creationId xmlns:a16="http://schemas.microsoft.com/office/drawing/2014/main" id="{82371B06-0DAD-4261-8B83-B6AE471A7FA8}"/>
              </a:ext>
            </a:extLst>
          </p:cNvPr>
          <p:cNvSpPr>
            <a:spLocks xmlns:a="http://schemas.openxmlformats.org/drawingml/2006/main" noGrp="1"/>
          </p:cNvSpPr>
          <p:nvPr/>
        </p:nvSpPr>
        <p:spPr>
          <a:xfrm xmlns:a="http://schemas.openxmlformats.org/drawingml/2006/main">
            <a:off x="6934200" y="3981450"/>
            <a:ext cx="44005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2000"/>
              </a:lnSpc>
              <a:buNone/>
              <a:defRPr sz="1725" b="0" i="0">
                <a:solidFill>
                  <a:srgbClr val="D8E0E1"/>
                </a:solidFill>
              </a:defRPr>
            </a:pPr>
            <a:r>
              <a:rPr sz="1725" b="0" i="0">
                <a:solidFill>
                  <a:srgbClr val="D8E0E1"/>
                </a:solidFill>
              </a:rPr>
              <a:t>Camera and sound behavior</a:t>
            </a:r>
          </a:p>
        </p:txBody>
      </p:sp>
      <p:sp>
        <p:nvSpPr>
          <p:cNvPr id="21" name="bullet-3">
            <a:extLst xmlns:a="http://schemas.openxmlformats.org/drawingml/2006/main">
              <a:ext uri="{FF2B5EF4-FFF2-40B4-BE49-F238E27FC236}">
                <a16:creationId xmlns:a16="http://schemas.microsoft.com/office/drawing/2014/main" id="{DF736AB2-BC93-494D-A699-7A8B6CDF27BC}"/>
              </a:ext>
            </a:extLst>
          </p:cNvPr>
          <p:cNvSpPr>
            <a:spLocks xmlns:a="http://schemas.openxmlformats.org/drawingml/2006/main" noGrp="1"/>
          </p:cNvSpPr>
          <p:nvPr/>
        </p:nvSpPr>
        <p:spPr>
          <a:xfrm xmlns:a="http://schemas.openxmlformats.org/drawingml/2006/main">
            <a:off x="6667500" y="4705350"/>
            <a:ext cx="95250" cy="95250"/>
          </a:xfrm>
          <a:prstGeom xmlns:a="http://schemas.openxmlformats.org/drawingml/2006/main" prst="rect">
            <a:avLst/>
          </a:prstGeom>
          <a:solidFill xmlns:a="http://schemas.openxmlformats.org/drawingml/2006/main">
            <a:srgbClr val="C9924A"/>
          </a:solidFill>
          <a:ln xmlns:a="http://schemas.openxmlformats.org/drawingml/2006/main" w="0">
            <a:noFill/>
            <a:prstDash val="solid"/>
          </a:ln>
        </p:spPr>
      </p:sp>
      <p:sp>
        <p:nvSpPr>
          <p:cNvPr id="22" name="bullet-text-3">
            <a:extLst xmlns:a="http://schemas.openxmlformats.org/drawingml/2006/main">
              <a:ext uri="{FF2B5EF4-FFF2-40B4-BE49-F238E27FC236}">
                <a16:creationId xmlns:a16="http://schemas.microsoft.com/office/drawing/2014/main" id="{E421FDFC-7A57-48BA-A3BD-E40515D830E0}"/>
              </a:ext>
            </a:extLst>
          </p:cNvPr>
          <p:cNvSpPr>
            <a:spLocks xmlns:a="http://schemas.openxmlformats.org/drawingml/2006/main" noGrp="1"/>
          </p:cNvSpPr>
          <p:nvPr/>
        </p:nvSpPr>
        <p:spPr>
          <a:xfrm xmlns:a="http://schemas.openxmlformats.org/drawingml/2006/main">
            <a:off x="6934200" y="4610100"/>
            <a:ext cx="44005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2000"/>
              </a:lnSpc>
              <a:buNone/>
              <a:defRPr sz="1725" b="0" i="0">
                <a:solidFill>
                  <a:srgbClr val="D8E0E1"/>
                </a:solidFill>
              </a:defRPr>
            </a:pPr>
            <a:r>
              <a:rPr sz="1725" b="0" i="0">
                <a:solidFill>
                  <a:srgbClr val="D8E0E1"/>
                </a:solidFill>
              </a:rPr>
              <a:t>Structure, authority, and feeling</a:t>
            </a:r>
          </a:p>
        </p:txBody>
      </p:sp>
    </p:spTree>
    <p:extLst>
      <p:ext uri="{BB962C8B-B14F-4D97-AF65-F5344CB8AC3E}">
        <p14:creationId xmlns:p14="http://schemas.microsoft.com/office/powerpoint/2010/main" val="679052301"/>
      </p:ext>
    </p:extLst>
  </p:cSld>
</p:sld>
</file>

<file path=ppt/slides/slide23.xml><?xml version="1.0" encoding="utf-8"?>
<p:sld xmlns:p="http://schemas.openxmlformats.org/presentationml/2006/main">
  <p:cSld>
    <p:bg>
      <p:bgPr>
        <a:solidFill xmlns:a="http://schemas.openxmlformats.org/drawingml/2006/main">
          <a:srgbClr val="081116"/>
        </a:solidFill>
      </p:bgPr>
    </p:bg>
    <p:spTree>
      <p:nvGrpSpPr>
        <p:cNvPr id="1" name=""/>
        <p:cNvGrpSpPr/>
        <p:nvPr/>
      </p:nvGrpSpPr>
      <p:grpSpPr>
        <a:xfrm xmlns:a="http://schemas.openxmlformats.org/drawingml/2006/main"/>
      </p:grpSpPr>
      <p:sp>
        <p:nvSpPr>
          <p:cNvPr id="26" name="accent-23">
            <a:extLst xmlns:a="http://schemas.openxmlformats.org/drawingml/2006/main">
              <a:ext uri="{FF2B5EF4-FFF2-40B4-BE49-F238E27FC236}">
                <a16:creationId xmlns:a16="http://schemas.microsoft.com/office/drawing/2014/main" id="{42E68DF0-8A49-4AF2-95DD-1D0CF8DF5841}"/>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C9924A"/>
          </a:solidFill>
          <a:ln xmlns:a="http://schemas.openxmlformats.org/drawingml/2006/main" w="0">
            <a:noFill/>
            <a:prstDash val="solid"/>
          </a:ln>
        </p:spPr>
      </p:sp>
      <p:sp>
        <p:nvSpPr>
          <p:cNvPr id="2" name="eyebrow-23">
            <a:extLst xmlns:a="http://schemas.openxmlformats.org/drawingml/2006/main">
              <a:ext uri="{FF2B5EF4-FFF2-40B4-BE49-F238E27FC236}">
                <a16:creationId xmlns:a16="http://schemas.microsoft.com/office/drawing/2014/main" id="{6E1505E4-B3CA-4B50-9180-92CD78447550}"/>
              </a:ext>
            </a:extLst>
          </p:cNvPr>
          <p:cNvSpPr>
            <a:spLocks xmlns:a="http://schemas.openxmlformats.org/drawingml/2006/main" noGrp="1"/>
          </p:cNvSpPr>
          <p:nvPr/>
        </p:nvSpPr>
        <p:spPr>
          <a:xfrm xmlns:a="http://schemas.openxmlformats.org/drawingml/2006/main">
            <a:off x="685800" y="36195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1200" b="1" i="0">
                <a:solidFill>
                  <a:srgbClr val="C9924A"/>
                </a:solidFill>
              </a:defRPr>
            </a:pPr>
            <a:r>
              <a:rPr sz="1200" b="1" i="0">
                <a:solidFill>
                  <a:srgbClr val="C9924A"/>
                </a:solidFill>
              </a:rPr>
              <a:t>CHOOSE ONE COMPLETE SHORT</a:t>
            </a:r>
          </a:p>
        </p:txBody>
      </p:sp>
      <p:sp>
        <p:nvSpPr>
          <p:cNvPr id="3" name="section-23">
            <a:extLst xmlns:a="http://schemas.openxmlformats.org/drawingml/2006/main">
              <a:ext uri="{FF2B5EF4-FFF2-40B4-BE49-F238E27FC236}">
                <a16:creationId xmlns:a16="http://schemas.microsoft.com/office/drawing/2014/main" id="{75B0C47D-59FF-4446-99D4-D34283EF2F4F}"/>
              </a:ext>
            </a:extLst>
          </p:cNvPr>
          <p:cNvSpPr>
            <a:spLocks xmlns:a="http://schemas.openxmlformats.org/drawingml/2006/main" noGrp="1"/>
          </p:cNvSpPr>
          <p:nvPr/>
        </p:nvSpPr>
        <p:spPr>
          <a:xfrm xmlns:a="http://schemas.openxmlformats.org/drawingml/2006/main">
            <a:off x="685800" y="6429375"/>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1200" b="0" i="0">
                <a:solidFill>
                  <a:srgbClr val="9FB0B9"/>
                </a:solidFill>
              </a:defRPr>
            </a:pPr>
            <a:r>
              <a:rPr sz="1200" b="0" i="0">
                <a:solidFill>
                  <a:srgbClr val="9FB0B9"/>
                </a:solidFill>
              </a:rPr>
              <a:t>SCREENING MENU</a:t>
            </a:r>
          </a:p>
        </p:txBody>
      </p:sp>
      <p:sp>
        <p:nvSpPr>
          <p:cNvPr id="4" name="number-23">
            <a:extLst xmlns:a="http://schemas.openxmlformats.org/drawingml/2006/main">
              <a:ext uri="{FF2B5EF4-FFF2-40B4-BE49-F238E27FC236}">
                <a16:creationId xmlns:a16="http://schemas.microsoft.com/office/drawing/2014/main" id="{4EC85A6E-46A3-40C8-92A0-18C2FC47EDE6}"/>
              </a:ext>
            </a:extLst>
          </p:cNvPr>
          <p:cNvSpPr>
            <a:spLocks xmlns:a="http://schemas.openxmlformats.org/drawingml/2006/main" noGrp="1"/>
          </p:cNvSpPr>
          <p:nvPr/>
        </p:nvSpPr>
        <p:spPr>
          <a:xfrm xmlns:a="http://schemas.openxmlformats.org/drawingml/2006/main">
            <a:off x="11049000" y="640080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lnSpc>
                <a:spcPct val="105000"/>
              </a:lnSpc>
              <a:buNone/>
              <a:defRPr sz="1200" b="1" i="0">
                <a:solidFill>
                  <a:srgbClr val="C9924A"/>
                </a:solidFill>
              </a:defRPr>
            </a:pPr>
            <a:r>
              <a:rPr sz="1200" b="1" i="0">
                <a:solidFill>
                  <a:srgbClr val="C9924A"/>
                </a:solidFill>
              </a:rPr>
              <a:t>23</a:t>
            </a:r>
          </a:p>
        </p:txBody>
      </p:sp>
      <p:sp>
        <p:nvSpPr>
          <p:cNvPr id="5" name="slide-title">
            <a:extLst xmlns:a="http://schemas.openxmlformats.org/drawingml/2006/main">
              <a:ext uri="{FF2B5EF4-FFF2-40B4-BE49-F238E27FC236}">
                <a16:creationId xmlns:a16="http://schemas.microsoft.com/office/drawing/2014/main" id="{8AA883C5-8C11-4739-B693-3ED9ABEE50E2}"/>
              </a:ext>
            </a:extLst>
          </p:cNvPr>
          <p:cNvSpPr>
            <a:spLocks xmlns:a="http://schemas.openxmlformats.org/drawingml/2006/main" noGrp="1"/>
          </p:cNvSpPr>
          <p:nvPr/>
        </p:nvSpPr>
        <p:spPr>
          <a:xfrm xmlns:a="http://schemas.openxmlformats.org/drawingml/2006/main">
            <a:off x="685800" y="838200"/>
            <a:ext cx="8572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94000"/>
              </a:lnSpc>
              <a:buNone/>
              <a:defRPr sz="3600" b="1" i="0">
                <a:solidFill>
                  <a:srgbClr val="F2EFE8"/>
                </a:solidFill>
              </a:defRPr>
            </a:pPr>
            <a:r>
              <a:rPr sz="3600" b="1" i="0">
                <a:solidFill>
                  <a:srgbClr val="F2EFE8"/>
                </a:solidFill>
              </a:rPr>
              <a:t>Short documentaries to study</a:t>
            </a:r>
          </a:p>
        </p:txBody>
      </p:sp>
      <p:sp>
        <p:nvSpPr>
          <p:cNvPr id="6" name="film-0">
            <a:extLst xmlns:a="http://schemas.openxmlformats.org/drawingml/2006/main">
              <a:ext uri="{FF2B5EF4-FFF2-40B4-BE49-F238E27FC236}">
                <a16:creationId xmlns:a16="http://schemas.microsoft.com/office/drawing/2014/main" id="{F77A2A0F-E61A-43F7-ADF1-8ABA3BE91578}"/>
              </a:ext>
            </a:extLst>
          </p:cNvPr>
          <p:cNvSpPr>
            <a:spLocks xmlns:a="http://schemas.openxmlformats.org/drawingml/2006/main" noGrp="1"/>
          </p:cNvSpPr>
          <p:nvPr/>
        </p:nvSpPr>
        <p:spPr>
          <a:xfrm xmlns:a="http://schemas.openxmlformats.org/drawingml/2006/main">
            <a:off x="685800" y="2095500"/>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2025" b="1" i="0">
                <a:solidFill>
                  <a:srgbClr val="F2EFE8"/>
                </a:solidFill>
              </a:defRPr>
            </a:pPr>
            <a:r>
              <a:rPr sz="2025" b="1" i="0">
                <a:solidFill>
                  <a:srgbClr val="F2EFE8"/>
                </a:solidFill>
              </a:rPr>
              <a:t>Ten Meter Tower</a:t>
            </a:r>
          </a:p>
        </p:txBody>
      </p:sp>
      <p:sp>
        <p:nvSpPr>
          <p:cNvPr id="7" name="detail-0">
            <a:extLst xmlns:a="http://schemas.openxmlformats.org/drawingml/2006/main">
              <a:ext uri="{FF2B5EF4-FFF2-40B4-BE49-F238E27FC236}">
                <a16:creationId xmlns:a16="http://schemas.microsoft.com/office/drawing/2014/main" id="{4C8ED689-C5B7-4C96-A7D0-1C684B091D31}"/>
              </a:ext>
            </a:extLst>
          </p:cNvPr>
          <p:cNvSpPr>
            <a:spLocks xmlns:a="http://schemas.openxmlformats.org/drawingml/2006/main" noGrp="1"/>
          </p:cNvSpPr>
          <p:nvPr/>
        </p:nvSpPr>
        <p:spPr>
          <a:xfrm xmlns:a="http://schemas.openxmlformats.org/drawingml/2006/main">
            <a:off x="4953000" y="2114550"/>
            <a:ext cx="514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1275" b="0" i="0">
                <a:solidFill>
                  <a:srgbClr val="9FB0B9"/>
                </a:solidFill>
              </a:defRPr>
            </a:pPr>
            <a:r>
              <a:rPr sz="1275" b="0" i="0">
                <a:solidFill>
                  <a:srgbClr val="9FB0B9"/>
                </a:solidFill>
              </a:rPr>
              <a:t>Maximilien Van Aertryck &amp; Axel Danielson · 17 min</a:t>
            </a:r>
          </a:p>
        </p:txBody>
      </p:sp>
      <p:sp>
        <p:nvSpPr>
          <p:cNvPr id="8" name="why-0">
            <a:extLst xmlns:a="http://schemas.openxmlformats.org/drawingml/2006/main">
              <a:ext uri="{FF2B5EF4-FFF2-40B4-BE49-F238E27FC236}">
                <a16:creationId xmlns:a16="http://schemas.microsoft.com/office/drawing/2014/main" id="{750103D2-BB43-49E1-9733-0579F9AFB311}"/>
              </a:ext>
            </a:extLst>
          </p:cNvPr>
          <p:cNvSpPr>
            <a:spLocks xmlns:a="http://schemas.openxmlformats.org/drawingml/2006/main" noGrp="1"/>
          </p:cNvSpPr>
          <p:nvPr/>
        </p:nvSpPr>
        <p:spPr>
          <a:xfrm xmlns:a="http://schemas.openxmlformats.org/drawingml/2006/main">
            <a:off x="685800" y="2495550"/>
            <a:ext cx="838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1425" b="0" i="0">
                <a:solidFill>
                  <a:srgbClr val="D8E0E1"/>
                </a:solidFill>
              </a:defRPr>
            </a:pPr>
            <a:r>
              <a:rPr sz="1425" b="0" i="0">
                <a:solidFill>
                  <a:srgbClr val="D8E0E1"/>
                </a:solidFill>
              </a:rPr>
              <a:t>Observe behavior, hesitation, repetition, and change.</a:t>
            </a:r>
          </a:p>
        </p:txBody>
      </p:sp>
      <p:sp>
        <p:nvSpPr>
          <p:cNvPr id="9" name="">
            <a:extLst xmlns:a="http://schemas.openxmlformats.org/drawingml/2006/main">
              <a:ext uri="{FF2B5EF4-FFF2-40B4-BE49-F238E27FC236}">
                <a16:creationId xmlns:a16="http://schemas.microsoft.com/office/drawing/2014/main" id="{D38F09A3-70BF-432D-8BDD-64647ED53EA2}"/>
              </a:ext>
            </a:extLst>
          </p:cNvPr>
          <p:cNvSpPr>
            <a:spLocks xmlns:a="http://schemas.openxmlformats.org/drawingml/2006/main" noGrp="1"/>
          </p:cNvSpPr>
          <p:nvPr/>
        </p:nvSpPr>
        <p:spPr>
          <a:xfrm xmlns:a="http://schemas.openxmlformats.org/drawingml/2006/main">
            <a:off x="8953500" y="2457450"/>
            <a:ext cx="2571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r>
              <a:rPr sz="1800" b="1" u="sng">
                <a:solidFill>
                  <a:srgbClr val="C9924A"/>
                </a:solidFill>
                <a:hlinkClick xmlns:r="http://schemas.openxmlformats.org/officeDocument/2006/relationships" r:id="Re7553fecd7444cad"/>
              </a:rPr>
              <a:t>Official viewing page</a:t>
            </a:r>
          </a:p>
        </p:txBody>
      </p:sp>
      <p:sp>
        <p:nvSpPr>
          <p:cNvPr id="10" name="divider-0">
            <a:extLst xmlns:a="http://schemas.openxmlformats.org/drawingml/2006/main">
              <a:ext uri="{FF2B5EF4-FFF2-40B4-BE49-F238E27FC236}">
                <a16:creationId xmlns:a16="http://schemas.microsoft.com/office/drawing/2014/main" id="{69DFFE6A-CF9F-44C2-892C-A743C9CCD6AC}"/>
              </a:ext>
            </a:extLst>
          </p:cNvPr>
          <p:cNvSpPr>
            <a:spLocks xmlns:a="http://schemas.openxmlformats.org/drawingml/2006/main" noGrp="1"/>
          </p:cNvSpPr>
          <p:nvPr/>
        </p:nvSpPr>
        <p:spPr>
          <a:xfrm xmlns:a="http://schemas.openxmlformats.org/drawingml/2006/main">
            <a:off x="685800" y="2952750"/>
            <a:ext cx="10820400" cy="19050"/>
          </a:xfrm>
          <a:prstGeom xmlns:a="http://schemas.openxmlformats.org/drawingml/2006/main" prst="rect">
            <a:avLst/>
          </a:prstGeom>
          <a:solidFill xmlns:a="http://schemas.openxmlformats.org/drawingml/2006/main">
            <a:srgbClr val="2D6675"/>
          </a:solidFill>
          <a:ln xmlns:a="http://schemas.openxmlformats.org/drawingml/2006/main" w="0">
            <a:noFill/>
            <a:prstDash val="solid"/>
          </a:ln>
        </p:spPr>
      </p:sp>
      <p:sp>
        <p:nvSpPr>
          <p:cNvPr id="11" name="film-1">
            <a:extLst xmlns:a="http://schemas.openxmlformats.org/drawingml/2006/main">
              <a:ext uri="{FF2B5EF4-FFF2-40B4-BE49-F238E27FC236}">
                <a16:creationId xmlns:a16="http://schemas.microsoft.com/office/drawing/2014/main" id="{22F3D4E7-8868-467B-93DD-EEFFCD565D9C}"/>
              </a:ext>
            </a:extLst>
          </p:cNvPr>
          <p:cNvSpPr>
            <a:spLocks xmlns:a="http://schemas.openxmlformats.org/drawingml/2006/main" noGrp="1"/>
          </p:cNvSpPr>
          <p:nvPr/>
        </p:nvSpPr>
        <p:spPr>
          <a:xfrm xmlns:a="http://schemas.openxmlformats.org/drawingml/2006/main">
            <a:off x="685800" y="3267075"/>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2025" b="1" i="0">
                <a:solidFill>
                  <a:srgbClr val="F2EFE8"/>
                </a:solidFill>
              </a:defRPr>
            </a:pPr>
            <a:r>
              <a:rPr sz="2025" b="1" i="0">
                <a:solidFill>
                  <a:srgbClr val="F2EFE8"/>
                </a:solidFill>
              </a:rPr>
              <a:t>The Housekeeper</a:t>
            </a:r>
          </a:p>
        </p:txBody>
      </p:sp>
      <p:sp>
        <p:nvSpPr>
          <p:cNvPr id="12" name="detail-1">
            <a:extLst xmlns:a="http://schemas.openxmlformats.org/drawingml/2006/main">
              <a:ext uri="{FF2B5EF4-FFF2-40B4-BE49-F238E27FC236}">
                <a16:creationId xmlns:a16="http://schemas.microsoft.com/office/drawing/2014/main" id="{77DAA91F-9545-4172-8064-955EB6586FFD}"/>
              </a:ext>
            </a:extLst>
          </p:cNvPr>
          <p:cNvSpPr>
            <a:spLocks xmlns:a="http://schemas.openxmlformats.org/drawingml/2006/main" noGrp="1"/>
          </p:cNvSpPr>
          <p:nvPr/>
        </p:nvSpPr>
        <p:spPr>
          <a:xfrm xmlns:a="http://schemas.openxmlformats.org/drawingml/2006/main">
            <a:off x="4953000" y="3286125"/>
            <a:ext cx="514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1275" b="0" i="0">
                <a:solidFill>
                  <a:srgbClr val="9FB0B9"/>
                </a:solidFill>
              </a:defRPr>
            </a:pPr>
            <a:r>
              <a:rPr sz="1275" b="0" i="0">
                <a:solidFill>
                  <a:srgbClr val="9FB0B9"/>
                </a:solidFill>
              </a:rPr>
              <a:t>Colin O’Toole · short documentary</a:t>
            </a:r>
          </a:p>
        </p:txBody>
      </p:sp>
      <p:sp>
        <p:nvSpPr>
          <p:cNvPr id="13" name="why-1">
            <a:extLst xmlns:a="http://schemas.openxmlformats.org/drawingml/2006/main">
              <a:ext uri="{FF2B5EF4-FFF2-40B4-BE49-F238E27FC236}">
                <a16:creationId xmlns:a16="http://schemas.microsoft.com/office/drawing/2014/main" id="{F5FAD49F-B510-4BDE-AACF-C8C54A7A7FD8}"/>
              </a:ext>
            </a:extLst>
          </p:cNvPr>
          <p:cNvSpPr>
            <a:spLocks xmlns:a="http://schemas.openxmlformats.org/drawingml/2006/main" noGrp="1"/>
          </p:cNvSpPr>
          <p:nvPr/>
        </p:nvSpPr>
        <p:spPr>
          <a:xfrm xmlns:a="http://schemas.openxmlformats.org/drawingml/2006/main">
            <a:off x="685800" y="3667125"/>
            <a:ext cx="838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1425" b="0" i="0">
                <a:solidFill>
                  <a:srgbClr val="D8E0E1"/>
                </a:solidFill>
              </a:defRPr>
            </a:pPr>
            <a:r>
              <a:rPr sz="1425" b="0" i="0">
                <a:solidFill>
                  <a:srgbClr val="D8E0E1"/>
                </a:solidFill>
              </a:rPr>
              <a:t>Study character, labor, routine, and social context.</a:t>
            </a:r>
          </a:p>
        </p:txBody>
      </p:sp>
      <p:sp>
        <p:nvSpPr>
          <p:cNvPr id="14" name="">
            <a:extLst xmlns:a="http://schemas.openxmlformats.org/drawingml/2006/main">
              <a:ext uri="{FF2B5EF4-FFF2-40B4-BE49-F238E27FC236}">
                <a16:creationId xmlns:a16="http://schemas.microsoft.com/office/drawing/2014/main" id="{56431CF4-BCE2-4421-8FDC-D129AC9B2392}"/>
              </a:ext>
            </a:extLst>
          </p:cNvPr>
          <p:cNvSpPr>
            <a:spLocks xmlns:a="http://schemas.openxmlformats.org/drawingml/2006/main" noGrp="1"/>
          </p:cNvSpPr>
          <p:nvPr/>
        </p:nvSpPr>
        <p:spPr>
          <a:xfrm xmlns:a="http://schemas.openxmlformats.org/drawingml/2006/main">
            <a:off x="8953500" y="3629025"/>
            <a:ext cx="2571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r>
              <a:rPr sz="1800" b="1" u="sng">
                <a:solidFill>
                  <a:srgbClr val="C9924A"/>
                </a:solidFill>
                <a:hlinkClick xmlns:r="http://schemas.openxmlformats.org/officeDocument/2006/relationships" r:id="R7da0f39467104897"/>
              </a:rPr>
              <a:t>Official viewing page</a:t>
            </a:r>
          </a:p>
        </p:txBody>
      </p:sp>
      <p:sp>
        <p:nvSpPr>
          <p:cNvPr id="15" name="divider-1">
            <a:extLst xmlns:a="http://schemas.openxmlformats.org/drawingml/2006/main">
              <a:ext uri="{FF2B5EF4-FFF2-40B4-BE49-F238E27FC236}">
                <a16:creationId xmlns:a16="http://schemas.microsoft.com/office/drawing/2014/main" id="{EB45A2A6-CA15-49DB-A347-379F6DB2BD6C}"/>
              </a:ext>
            </a:extLst>
          </p:cNvPr>
          <p:cNvSpPr>
            <a:spLocks xmlns:a="http://schemas.openxmlformats.org/drawingml/2006/main" noGrp="1"/>
          </p:cNvSpPr>
          <p:nvPr/>
        </p:nvSpPr>
        <p:spPr>
          <a:xfrm xmlns:a="http://schemas.openxmlformats.org/drawingml/2006/main">
            <a:off x="685800" y="4124325"/>
            <a:ext cx="10820400" cy="19050"/>
          </a:xfrm>
          <a:prstGeom xmlns:a="http://schemas.openxmlformats.org/drawingml/2006/main" prst="rect">
            <a:avLst/>
          </a:prstGeom>
          <a:solidFill xmlns:a="http://schemas.openxmlformats.org/drawingml/2006/main">
            <a:srgbClr val="2D6675"/>
          </a:solidFill>
          <a:ln xmlns:a="http://schemas.openxmlformats.org/drawingml/2006/main" w="0">
            <a:noFill/>
            <a:prstDash val="solid"/>
          </a:ln>
        </p:spPr>
      </p:sp>
      <p:sp>
        <p:nvSpPr>
          <p:cNvPr id="16" name="film-2">
            <a:extLst xmlns:a="http://schemas.openxmlformats.org/drawingml/2006/main">
              <a:ext uri="{FF2B5EF4-FFF2-40B4-BE49-F238E27FC236}">
                <a16:creationId xmlns:a16="http://schemas.microsoft.com/office/drawing/2014/main" id="{DA4C036A-11D8-4C6A-8156-04E3A36E2EA9}"/>
              </a:ext>
            </a:extLst>
          </p:cNvPr>
          <p:cNvSpPr>
            <a:spLocks xmlns:a="http://schemas.openxmlformats.org/drawingml/2006/main" noGrp="1"/>
          </p:cNvSpPr>
          <p:nvPr/>
        </p:nvSpPr>
        <p:spPr>
          <a:xfrm xmlns:a="http://schemas.openxmlformats.org/drawingml/2006/main">
            <a:off x="685800" y="4438650"/>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2025" b="1" i="0">
                <a:solidFill>
                  <a:srgbClr val="F2EFE8"/>
                </a:solidFill>
              </a:defRPr>
            </a:pPr>
            <a:r>
              <a:rPr sz="2025" b="1" i="0">
                <a:solidFill>
                  <a:srgbClr val="F2EFE8"/>
                </a:solidFill>
              </a:rPr>
              <a:t>Street Lessons</a:t>
            </a:r>
          </a:p>
        </p:txBody>
      </p:sp>
      <p:sp>
        <p:nvSpPr>
          <p:cNvPr id="17" name="detail-2">
            <a:extLst xmlns:a="http://schemas.openxmlformats.org/drawingml/2006/main">
              <a:ext uri="{FF2B5EF4-FFF2-40B4-BE49-F238E27FC236}">
                <a16:creationId xmlns:a16="http://schemas.microsoft.com/office/drawing/2014/main" id="{88A13DAF-A9FF-4B86-B687-52516BAF3673}"/>
              </a:ext>
            </a:extLst>
          </p:cNvPr>
          <p:cNvSpPr>
            <a:spLocks xmlns:a="http://schemas.openxmlformats.org/drawingml/2006/main" noGrp="1"/>
          </p:cNvSpPr>
          <p:nvPr/>
        </p:nvSpPr>
        <p:spPr>
          <a:xfrm xmlns:a="http://schemas.openxmlformats.org/drawingml/2006/main">
            <a:off x="4953000" y="4457700"/>
            <a:ext cx="514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1275" b="0" i="0">
                <a:solidFill>
                  <a:srgbClr val="9FB0B9"/>
                </a:solidFill>
              </a:defRPr>
            </a:pPr>
            <a:r>
              <a:rPr sz="1275" b="0" i="0">
                <a:solidFill>
                  <a:srgbClr val="9FB0B9"/>
                </a:solidFill>
              </a:rPr>
              <a:t>NFB · 10:53</a:t>
            </a:r>
          </a:p>
        </p:txBody>
      </p:sp>
      <p:sp>
        <p:nvSpPr>
          <p:cNvPr id="18" name="why-2">
            <a:extLst xmlns:a="http://schemas.openxmlformats.org/drawingml/2006/main">
              <a:ext uri="{FF2B5EF4-FFF2-40B4-BE49-F238E27FC236}">
                <a16:creationId xmlns:a16="http://schemas.microsoft.com/office/drawing/2014/main" id="{FF5FEA23-6DCC-41ED-8CB0-42A393DC5AB5}"/>
              </a:ext>
            </a:extLst>
          </p:cNvPr>
          <p:cNvSpPr>
            <a:spLocks xmlns:a="http://schemas.openxmlformats.org/drawingml/2006/main" noGrp="1"/>
          </p:cNvSpPr>
          <p:nvPr/>
        </p:nvSpPr>
        <p:spPr>
          <a:xfrm xmlns:a="http://schemas.openxmlformats.org/drawingml/2006/main">
            <a:off x="685800" y="4838700"/>
            <a:ext cx="838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1425" b="0" i="0">
                <a:solidFill>
                  <a:srgbClr val="D8E0E1"/>
                </a:solidFill>
              </a:defRPr>
            </a:pPr>
            <a:r>
              <a:rPr sz="1425" b="0" i="0">
                <a:solidFill>
                  <a:srgbClr val="D8E0E1"/>
                </a:solidFill>
              </a:rPr>
              <a:t>Track point of view, place, and lived experience.</a:t>
            </a:r>
          </a:p>
        </p:txBody>
      </p:sp>
      <p:sp>
        <p:nvSpPr>
          <p:cNvPr id="19" name="">
            <a:extLst xmlns:a="http://schemas.openxmlformats.org/drawingml/2006/main">
              <a:ext uri="{FF2B5EF4-FFF2-40B4-BE49-F238E27FC236}">
                <a16:creationId xmlns:a16="http://schemas.microsoft.com/office/drawing/2014/main" id="{EEC64161-278D-497E-B278-E1D03E5B51EC}"/>
              </a:ext>
            </a:extLst>
          </p:cNvPr>
          <p:cNvSpPr>
            <a:spLocks xmlns:a="http://schemas.openxmlformats.org/drawingml/2006/main" noGrp="1"/>
          </p:cNvSpPr>
          <p:nvPr/>
        </p:nvSpPr>
        <p:spPr>
          <a:xfrm xmlns:a="http://schemas.openxmlformats.org/drawingml/2006/main">
            <a:off x="8953500" y="4800600"/>
            <a:ext cx="2571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r>
              <a:rPr sz="1800" b="1" u="sng">
                <a:solidFill>
                  <a:srgbClr val="C9924A"/>
                </a:solidFill>
                <a:hlinkClick xmlns:r="http://schemas.openxmlformats.org/officeDocument/2006/relationships" r:id="R5170ff469e7843cb"/>
              </a:rPr>
              <a:t>Official viewing page</a:t>
            </a:r>
          </a:p>
        </p:txBody>
      </p:sp>
      <p:sp>
        <p:nvSpPr>
          <p:cNvPr id="20" name="divider-2">
            <a:extLst xmlns:a="http://schemas.openxmlformats.org/drawingml/2006/main">
              <a:ext uri="{FF2B5EF4-FFF2-40B4-BE49-F238E27FC236}">
                <a16:creationId xmlns:a16="http://schemas.microsoft.com/office/drawing/2014/main" id="{BC25D37E-EC34-4932-BF5F-F87AFBFE8CB9}"/>
              </a:ext>
            </a:extLst>
          </p:cNvPr>
          <p:cNvSpPr>
            <a:spLocks xmlns:a="http://schemas.openxmlformats.org/drawingml/2006/main" noGrp="1"/>
          </p:cNvSpPr>
          <p:nvPr/>
        </p:nvSpPr>
        <p:spPr>
          <a:xfrm xmlns:a="http://schemas.openxmlformats.org/drawingml/2006/main">
            <a:off x="685800" y="5295900"/>
            <a:ext cx="10820400" cy="19050"/>
          </a:xfrm>
          <a:prstGeom xmlns:a="http://schemas.openxmlformats.org/drawingml/2006/main" prst="rect">
            <a:avLst/>
          </a:prstGeom>
          <a:solidFill xmlns:a="http://schemas.openxmlformats.org/drawingml/2006/main">
            <a:srgbClr val="2D6675"/>
          </a:solidFill>
          <a:ln xmlns:a="http://schemas.openxmlformats.org/drawingml/2006/main" w="0">
            <a:noFill/>
            <a:prstDash val="solid"/>
          </a:ln>
        </p:spPr>
      </p:sp>
      <p:sp>
        <p:nvSpPr>
          <p:cNvPr id="21" name="film-3">
            <a:extLst xmlns:a="http://schemas.openxmlformats.org/drawingml/2006/main">
              <a:ext uri="{FF2B5EF4-FFF2-40B4-BE49-F238E27FC236}">
                <a16:creationId xmlns:a16="http://schemas.microsoft.com/office/drawing/2014/main" id="{B2499CEF-F96C-4BA4-920F-89A710A5F92A}"/>
              </a:ext>
            </a:extLst>
          </p:cNvPr>
          <p:cNvSpPr>
            <a:spLocks xmlns:a="http://schemas.openxmlformats.org/drawingml/2006/main" noGrp="1"/>
          </p:cNvSpPr>
          <p:nvPr/>
        </p:nvSpPr>
        <p:spPr>
          <a:xfrm xmlns:a="http://schemas.openxmlformats.org/drawingml/2006/main">
            <a:off x="685800" y="5610225"/>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2025" b="1" i="0">
                <a:solidFill>
                  <a:srgbClr val="F2EFE8"/>
                </a:solidFill>
              </a:defRPr>
            </a:pPr>
            <a:r>
              <a:rPr sz="2025" b="1" i="0">
                <a:solidFill>
                  <a:srgbClr val="F2EFE8"/>
                </a:solidFill>
              </a:rPr>
              <a:t>The Queen of Basketball</a:t>
            </a:r>
          </a:p>
        </p:txBody>
      </p:sp>
      <p:sp>
        <p:nvSpPr>
          <p:cNvPr id="22" name="detail-3">
            <a:extLst xmlns:a="http://schemas.openxmlformats.org/drawingml/2006/main">
              <a:ext uri="{FF2B5EF4-FFF2-40B4-BE49-F238E27FC236}">
                <a16:creationId xmlns:a16="http://schemas.microsoft.com/office/drawing/2014/main" id="{4DB01699-3F27-4863-A465-85C9B9EB5825}"/>
              </a:ext>
            </a:extLst>
          </p:cNvPr>
          <p:cNvSpPr>
            <a:spLocks xmlns:a="http://schemas.openxmlformats.org/drawingml/2006/main" noGrp="1"/>
          </p:cNvSpPr>
          <p:nvPr/>
        </p:nvSpPr>
        <p:spPr>
          <a:xfrm xmlns:a="http://schemas.openxmlformats.org/drawingml/2006/main">
            <a:off x="4953000" y="5629275"/>
            <a:ext cx="514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1275" b="0" i="0">
                <a:solidFill>
                  <a:srgbClr val="9FB0B9"/>
                </a:solidFill>
              </a:defRPr>
            </a:pPr>
            <a:r>
              <a:rPr sz="1275" b="0" i="0">
                <a:solidFill>
                  <a:srgbClr val="9FB0B9"/>
                </a:solidFill>
              </a:rPr>
              <a:t>Ben Proudfoot · 22 min</a:t>
            </a:r>
          </a:p>
        </p:txBody>
      </p:sp>
      <p:sp>
        <p:nvSpPr>
          <p:cNvPr id="23" name="why-3">
            <a:extLst xmlns:a="http://schemas.openxmlformats.org/drawingml/2006/main">
              <a:ext uri="{FF2B5EF4-FFF2-40B4-BE49-F238E27FC236}">
                <a16:creationId xmlns:a16="http://schemas.microsoft.com/office/drawing/2014/main" id="{663611D0-5C04-4B1A-ABD6-A6BDCE94303F}"/>
              </a:ext>
            </a:extLst>
          </p:cNvPr>
          <p:cNvSpPr>
            <a:spLocks xmlns:a="http://schemas.openxmlformats.org/drawingml/2006/main" noGrp="1"/>
          </p:cNvSpPr>
          <p:nvPr/>
        </p:nvSpPr>
        <p:spPr>
          <a:xfrm xmlns:a="http://schemas.openxmlformats.org/drawingml/2006/main">
            <a:off x="685800" y="6010275"/>
            <a:ext cx="838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1425" b="0" i="0">
                <a:solidFill>
                  <a:srgbClr val="D8E0E1"/>
                </a:solidFill>
              </a:defRPr>
            </a:pPr>
            <a:r>
              <a:rPr sz="1425" b="0" i="0">
                <a:solidFill>
                  <a:srgbClr val="D8E0E1"/>
                </a:solidFill>
              </a:rPr>
              <a:t>Notice archive, interview, revelation, and emotional structure.</a:t>
            </a:r>
          </a:p>
        </p:txBody>
      </p:sp>
      <p:sp>
        <p:nvSpPr>
          <p:cNvPr id="24" name="">
            <a:extLst xmlns:a="http://schemas.openxmlformats.org/drawingml/2006/main">
              <a:ext uri="{FF2B5EF4-FFF2-40B4-BE49-F238E27FC236}">
                <a16:creationId xmlns:a16="http://schemas.microsoft.com/office/drawing/2014/main" id="{F605ED91-142B-42DD-914D-05144B82951B}"/>
              </a:ext>
            </a:extLst>
          </p:cNvPr>
          <p:cNvSpPr>
            <a:spLocks xmlns:a="http://schemas.openxmlformats.org/drawingml/2006/main" noGrp="1"/>
          </p:cNvSpPr>
          <p:nvPr/>
        </p:nvSpPr>
        <p:spPr>
          <a:xfrm xmlns:a="http://schemas.openxmlformats.org/drawingml/2006/main">
            <a:off x="8953500" y="5972175"/>
            <a:ext cx="2571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r>
              <a:rPr sz="1800" b="1" u="sng">
                <a:solidFill>
                  <a:srgbClr val="C9924A"/>
                </a:solidFill>
                <a:hlinkClick xmlns:r="http://schemas.openxmlformats.org/officeDocument/2006/relationships" r:id="Re1863ddf4493487a"/>
              </a:rPr>
              <a:t>Official viewing page</a:t>
            </a:r>
          </a:p>
        </p:txBody>
      </p:sp>
      <p:sp>
        <p:nvSpPr>
          <p:cNvPr id="25" name="divider-3">
            <a:extLst xmlns:a="http://schemas.openxmlformats.org/drawingml/2006/main">
              <a:ext uri="{FF2B5EF4-FFF2-40B4-BE49-F238E27FC236}">
                <a16:creationId xmlns:a16="http://schemas.microsoft.com/office/drawing/2014/main" id="{37873B9D-1E68-415E-9477-46250F2594F4}"/>
              </a:ext>
            </a:extLst>
          </p:cNvPr>
          <p:cNvSpPr>
            <a:spLocks xmlns:a="http://schemas.openxmlformats.org/drawingml/2006/main" noGrp="1"/>
          </p:cNvSpPr>
          <p:nvPr/>
        </p:nvSpPr>
        <p:spPr>
          <a:xfrm xmlns:a="http://schemas.openxmlformats.org/drawingml/2006/main">
            <a:off x="685800" y="6467475"/>
            <a:ext cx="10820400" cy="19050"/>
          </a:xfrm>
          <a:prstGeom xmlns:a="http://schemas.openxmlformats.org/drawingml/2006/main" prst="rect">
            <a:avLst/>
          </a:prstGeom>
          <a:solidFill xmlns:a="http://schemas.openxmlformats.org/drawingml/2006/main">
            <a:srgbClr val="2D6675"/>
          </a:solidFill>
          <a:ln xmlns:a="http://schemas.openxmlformats.org/drawingml/2006/main" w="0">
            <a:noFill/>
            <a:prstDash val="solid"/>
          </a:ln>
        </p:spPr>
      </p:sp>
    </p:spTree>
    <p:extLst>
      <p:ext uri="{BB962C8B-B14F-4D97-AF65-F5344CB8AC3E}">
        <p14:creationId xmlns:p14="http://schemas.microsoft.com/office/powerpoint/2010/main" val="859432615"/>
      </p:ext>
    </p:extLst>
  </p:cSld>
</p:sld>
</file>

<file path=ppt/slides/slide24.xml><?xml version="1.0" encoding="utf-8"?>
<p:sld xmlns:p="http://schemas.openxmlformats.org/presentationml/2006/main">
  <p:cSld>
    <p:bg>
      <p:bgPr>
        <a:solidFill xmlns:a="http://schemas.openxmlformats.org/drawingml/2006/main">
          <a:srgbClr val="081116"/>
        </a:solidFill>
      </p:bgPr>
    </p:bg>
    <p:spTree>
      <p:nvGrpSpPr>
        <p:cNvPr id="1" name=""/>
        <p:cNvGrpSpPr/>
        <p:nvPr/>
      </p:nvGrpSpPr>
      <p:grpSpPr>
        <a:xfrm xmlns:a="http://schemas.openxmlformats.org/drawingml/2006/main"/>
      </p:grpSpPr>
      <p:sp>
        <p:nvSpPr>
          <p:cNvPr id="21" name="accent-24">
            <a:extLst xmlns:a="http://schemas.openxmlformats.org/drawingml/2006/main">
              <a:ext uri="{FF2B5EF4-FFF2-40B4-BE49-F238E27FC236}">
                <a16:creationId xmlns:a16="http://schemas.microsoft.com/office/drawing/2014/main" id="{06446A0D-8080-475C-ADD3-F4CB4EBD03D1}"/>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C9924A"/>
          </a:solidFill>
          <a:ln xmlns:a="http://schemas.openxmlformats.org/drawingml/2006/main" w="0">
            <a:noFill/>
            <a:prstDash val="solid"/>
          </a:ln>
        </p:spPr>
      </p:sp>
      <p:sp>
        <p:nvSpPr>
          <p:cNvPr id="2" name="eyebrow-24">
            <a:extLst xmlns:a="http://schemas.openxmlformats.org/drawingml/2006/main">
              <a:ext uri="{FF2B5EF4-FFF2-40B4-BE49-F238E27FC236}">
                <a16:creationId xmlns:a16="http://schemas.microsoft.com/office/drawing/2014/main" id="{BBFE7811-40EA-4CFE-9281-813EF6C920BF}"/>
              </a:ext>
            </a:extLst>
          </p:cNvPr>
          <p:cNvSpPr>
            <a:spLocks xmlns:a="http://schemas.openxmlformats.org/drawingml/2006/main" noGrp="1"/>
          </p:cNvSpPr>
          <p:nvPr/>
        </p:nvSpPr>
        <p:spPr>
          <a:xfrm xmlns:a="http://schemas.openxmlformats.org/drawingml/2006/main">
            <a:off x="685800" y="36195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1200" b="1" i="0">
                <a:solidFill>
                  <a:srgbClr val="C9924A"/>
                </a:solidFill>
              </a:defRPr>
            </a:pPr>
            <a:r>
              <a:rPr sz="1200" b="1" i="0">
                <a:solidFill>
                  <a:srgbClr val="C9924A"/>
                </a:solidFill>
              </a:rPr>
              <a:t>CHOOSE ONE COMPLETE SHORT</a:t>
            </a:r>
          </a:p>
        </p:txBody>
      </p:sp>
      <p:sp>
        <p:nvSpPr>
          <p:cNvPr id="3" name="section-24">
            <a:extLst xmlns:a="http://schemas.openxmlformats.org/drawingml/2006/main">
              <a:ext uri="{FF2B5EF4-FFF2-40B4-BE49-F238E27FC236}">
                <a16:creationId xmlns:a16="http://schemas.microsoft.com/office/drawing/2014/main" id="{D64259DA-A6D1-4F0F-BACF-EFD689001220}"/>
              </a:ext>
            </a:extLst>
          </p:cNvPr>
          <p:cNvSpPr>
            <a:spLocks xmlns:a="http://schemas.openxmlformats.org/drawingml/2006/main" noGrp="1"/>
          </p:cNvSpPr>
          <p:nvPr/>
        </p:nvSpPr>
        <p:spPr>
          <a:xfrm xmlns:a="http://schemas.openxmlformats.org/drawingml/2006/main">
            <a:off x="685800" y="6429375"/>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1200" b="0" i="0">
                <a:solidFill>
                  <a:srgbClr val="9FB0B9"/>
                </a:solidFill>
              </a:defRPr>
            </a:pPr>
            <a:r>
              <a:rPr sz="1200" b="0" i="0">
                <a:solidFill>
                  <a:srgbClr val="9FB0B9"/>
                </a:solidFill>
              </a:rPr>
              <a:t>SCREENING MENU</a:t>
            </a:r>
          </a:p>
        </p:txBody>
      </p:sp>
      <p:sp>
        <p:nvSpPr>
          <p:cNvPr id="4" name="number-24">
            <a:extLst xmlns:a="http://schemas.openxmlformats.org/drawingml/2006/main">
              <a:ext uri="{FF2B5EF4-FFF2-40B4-BE49-F238E27FC236}">
                <a16:creationId xmlns:a16="http://schemas.microsoft.com/office/drawing/2014/main" id="{3332F0B3-CC08-4AFF-AB6E-386F0F768D57}"/>
              </a:ext>
            </a:extLst>
          </p:cNvPr>
          <p:cNvSpPr>
            <a:spLocks xmlns:a="http://schemas.openxmlformats.org/drawingml/2006/main" noGrp="1"/>
          </p:cNvSpPr>
          <p:nvPr/>
        </p:nvSpPr>
        <p:spPr>
          <a:xfrm xmlns:a="http://schemas.openxmlformats.org/drawingml/2006/main">
            <a:off x="11049000" y="640080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lnSpc>
                <a:spcPct val="105000"/>
              </a:lnSpc>
              <a:buNone/>
              <a:defRPr sz="1200" b="1" i="0">
                <a:solidFill>
                  <a:srgbClr val="C9924A"/>
                </a:solidFill>
              </a:defRPr>
            </a:pPr>
            <a:r>
              <a:rPr sz="1200" b="1" i="0">
                <a:solidFill>
                  <a:srgbClr val="C9924A"/>
                </a:solidFill>
              </a:rPr>
              <a:t>24</a:t>
            </a:r>
          </a:p>
        </p:txBody>
      </p:sp>
      <p:sp>
        <p:nvSpPr>
          <p:cNvPr id="5" name="slide-title">
            <a:extLst xmlns:a="http://schemas.openxmlformats.org/drawingml/2006/main">
              <a:ext uri="{FF2B5EF4-FFF2-40B4-BE49-F238E27FC236}">
                <a16:creationId xmlns:a16="http://schemas.microsoft.com/office/drawing/2014/main" id="{FCDD54F1-1DF5-448C-9540-EB380784FE46}"/>
              </a:ext>
            </a:extLst>
          </p:cNvPr>
          <p:cNvSpPr>
            <a:spLocks xmlns:a="http://schemas.openxmlformats.org/drawingml/2006/main" noGrp="1"/>
          </p:cNvSpPr>
          <p:nvPr/>
        </p:nvSpPr>
        <p:spPr>
          <a:xfrm xmlns:a="http://schemas.openxmlformats.org/drawingml/2006/main">
            <a:off x="685800" y="838200"/>
            <a:ext cx="8572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94000"/>
              </a:lnSpc>
              <a:buNone/>
              <a:defRPr sz="3600" b="1" i="0">
                <a:solidFill>
                  <a:srgbClr val="F2EFE8"/>
                </a:solidFill>
              </a:defRPr>
            </a:pPr>
            <a:r>
              <a:rPr sz="3600" b="1" i="0">
                <a:solidFill>
                  <a:srgbClr val="F2EFE8"/>
                </a:solidFill>
              </a:rPr>
              <a:t>More approaches to explore</a:t>
            </a:r>
          </a:p>
        </p:txBody>
      </p:sp>
      <p:sp>
        <p:nvSpPr>
          <p:cNvPr id="6" name="film-0">
            <a:extLst xmlns:a="http://schemas.openxmlformats.org/drawingml/2006/main">
              <a:ext uri="{FF2B5EF4-FFF2-40B4-BE49-F238E27FC236}">
                <a16:creationId xmlns:a16="http://schemas.microsoft.com/office/drawing/2014/main" id="{FBE18D47-E72C-4D4A-AD46-41FF3A34F5F8}"/>
              </a:ext>
            </a:extLst>
          </p:cNvPr>
          <p:cNvSpPr>
            <a:spLocks xmlns:a="http://schemas.openxmlformats.org/drawingml/2006/main" noGrp="1"/>
          </p:cNvSpPr>
          <p:nvPr/>
        </p:nvSpPr>
        <p:spPr>
          <a:xfrm xmlns:a="http://schemas.openxmlformats.org/drawingml/2006/main">
            <a:off x="685800" y="2095500"/>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2025" b="1" i="0">
                <a:solidFill>
                  <a:srgbClr val="F2EFE8"/>
                </a:solidFill>
              </a:defRPr>
            </a:pPr>
            <a:r>
              <a:rPr sz="2025" b="1" i="0">
                <a:solidFill>
                  <a:srgbClr val="F2EFE8"/>
                </a:solidFill>
              </a:rPr>
              <a:t>Three Thousand</a:t>
            </a:r>
          </a:p>
        </p:txBody>
      </p:sp>
      <p:sp>
        <p:nvSpPr>
          <p:cNvPr id="7" name="detail-0">
            <a:extLst xmlns:a="http://schemas.openxmlformats.org/drawingml/2006/main">
              <a:ext uri="{FF2B5EF4-FFF2-40B4-BE49-F238E27FC236}">
                <a16:creationId xmlns:a16="http://schemas.microsoft.com/office/drawing/2014/main" id="{0B4F8BAE-E81C-42F3-9C91-C8F12E704BD0}"/>
              </a:ext>
            </a:extLst>
          </p:cNvPr>
          <p:cNvSpPr>
            <a:spLocks xmlns:a="http://schemas.openxmlformats.org/drawingml/2006/main" noGrp="1"/>
          </p:cNvSpPr>
          <p:nvPr/>
        </p:nvSpPr>
        <p:spPr>
          <a:xfrm xmlns:a="http://schemas.openxmlformats.org/drawingml/2006/main">
            <a:off x="4953000" y="2114550"/>
            <a:ext cx="514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1275" b="0" i="0">
                <a:solidFill>
                  <a:srgbClr val="9FB0B9"/>
                </a:solidFill>
              </a:defRPr>
            </a:pPr>
            <a:r>
              <a:rPr sz="1275" b="0" i="0">
                <a:solidFill>
                  <a:srgbClr val="9FB0B9"/>
                </a:solidFill>
              </a:rPr>
              <a:t>Asinnajaq · NFB · 14 min</a:t>
            </a:r>
          </a:p>
        </p:txBody>
      </p:sp>
      <p:sp>
        <p:nvSpPr>
          <p:cNvPr id="8" name="why-0">
            <a:extLst xmlns:a="http://schemas.openxmlformats.org/drawingml/2006/main">
              <a:ext uri="{FF2B5EF4-FFF2-40B4-BE49-F238E27FC236}">
                <a16:creationId xmlns:a16="http://schemas.microsoft.com/office/drawing/2014/main" id="{266EEA13-4752-4894-A807-29911B0CDFA8}"/>
              </a:ext>
            </a:extLst>
          </p:cNvPr>
          <p:cNvSpPr>
            <a:spLocks xmlns:a="http://schemas.openxmlformats.org/drawingml/2006/main" noGrp="1"/>
          </p:cNvSpPr>
          <p:nvPr/>
        </p:nvSpPr>
        <p:spPr>
          <a:xfrm xmlns:a="http://schemas.openxmlformats.org/drawingml/2006/main">
            <a:off x="685800" y="2495550"/>
            <a:ext cx="838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1425" b="0" i="0">
                <a:solidFill>
                  <a:srgbClr val="D8E0E1"/>
                </a:solidFill>
              </a:defRPr>
            </a:pPr>
            <a:r>
              <a:rPr sz="1425" b="0" i="0">
                <a:solidFill>
                  <a:srgbClr val="D8E0E1"/>
                </a:solidFill>
              </a:rPr>
              <a:t>Consider archive, sound, time, memory, and poetic form.</a:t>
            </a:r>
          </a:p>
        </p:txBody>
      </p:sp>
      <p:sp>
        <p:nvSpPr>
          <p:cNvPr id="9" name="">
            <a:extLst xmlns:a="http://schemas.openxmlformats.org/drawingml/2006/main">
              <a:ext uri="{FF2B5EF4-FFF2-40B4-BE49-F238E27FC236}">
                <a16:creationId xmlns:a16="http://schemas.microsoft.com/office/drawing/2014/main" id="{BC00985E-ADF1-473F-A0BA-8F761388A780}"/>
              </a:ext>
            </a:extLst>
          </p:cNvPr>
          <p:cNvSpPr>
            <a:spLocks xmlns:a="http://schemas.openxmlformats.org/drawingml/2006/main" noGrp="1"/>
          </p:cNvSpPr>
          <p:nvPr/>
        </p:nvSpPr>
        <p:spPr>
          <a:xfrm xmlns:a="http://schemas.openxmlformats.org/drawingml/2006/main">
            <a:off x="8953500" y="2457450"/>
            <a:ext cx="2571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r>
              <a:rPr sz="1800" b="1" u="sng">
                <a:solidFill>
                  <a:srgbClr val="C9924A"/>
                </a:solidFill>
                <a:hlinkClick xmlns:r="http://schemas.openxmlformats.org/officeDocument/2006/relationships" r:id="R0c12377488e74e4a"/>
              </a:rPr>
              <a:t>Official viewing page</a:t>
            </a:r>
          </a:p>
        </p:txBody>
      </p:sp>
      <p:sp>
        <p:nvSpPr>
          <p:cNvPr id="10" name="divider-0">
            <a:extLst xmlns:a="http://schemas.openxmlformats.org/drawingml/2006/main">
              <a:ext uri="{FF2B5EF4-FFF2-40B4-BE49-F238E27FC236}">
                <a16:creationId xmlns:a16="http://schemas.microsoft.com/office/drawing/2014/main" id="{958DF62A-ED26-402E-B0D4-DAD8107BDE71}"/>
              </a:ext>
            </a:extLst>
          </p:cNvPr>
          <p:cNvSpPr>
            <a:spLocks xmlns:a="http://schemas.openxmlformats.org/drawingml/2006/main" noGrp="1"/>
          </p:cNvSpPr>
          <p:nvPr/>
        </p:nvSpPr>
        <p:spPr>
          <a:xfrm xmlns:a="http://schemas.openxmlformats.org/drawingml/2006/main">
            <a:off x="685800" y="2952750"/>
            <a:ext cx="10820400" cy="19050"/>
          </a:xfrm>
          <a:prstGeom xmlns:a="http://schemas.openxmlformats.org/drawingml/2006/main" prst="rect">
            <a:avLst/>
          </a:prstGeom>
          <a:solidFill xmlns:a="http://schemas.openxmlformats.org/drawingml/2006/main">
            <a:srgbClr val="2D6675"/>
          </a:solidFill>
          <a:ln xmlns:a="http://schemas.openxmlformats.org/drawingml/2006/main" w="0">
            <a:noFill/>
            <a:prstDash val="solid"/>
          </a:ln>
        </p:spPr>
      </p:sp>
      <p:sp>
        <p:nvSpPr>
          <p:cNvPr id="11" name="film-1">
            <a:extLst xmlns:a="http://schemas.openxmlformats.org/drawingml/2006/main">
              <a:ext uri="{FF2B5EF4-FFF2-40B4-BE49-F238E27FC236}">
                <a16:creationId xmlns:a16="http://schemas.microsoft.com/office/drawing/2014/main" id="{12A0449B-CA38-4666-AA0D-047F05222D74}"/>
              </a:ext>
            </a:extLst>
          </p:cNvPr>
          <p:cNvSpPr>
            <a:spLocks xmlns:a="http://schemas.openxmlformats.org/drawingml/2006/main" noGrp="1"/>
          </p:cNvSpPr>
          <p:nvPr/>
        </p:nvSpPr>
        <p:spPr>
          <a:xfrm xmlns:a="http://schemas.openxmlformats.org/drawingml/2006/main">
            <a:off x="685800" y="3267075"/>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2025" b="1" i="0">
                <a:solidFill>
                  <a:srgbClr val="F2EFE8"/>
                </a:solidFill>
              </a:defRPr>
            </a:pPr>
            <a:r>
              <a:rPr sz="2025" b="1" i="0">
                <a:solidFill>
                  <a:srgbClr val="F2EFE8"/>
                </a:solidFill>
              </a:rPr>
              <a:t>My Dead Dad’s Porno Tapes</a:t>
            </a:r>
          </a:p>
        </p:txBody>
      </p:sp>
      <p:sp>
        <p:nvSpPr>
          <p:cNvPr id="12" name="detail-1">
            <a:extLst xmlns:a="http://schemas.openxmlformats.org/drawingml/2006/main">
              <a:ext uri="{FF2B5EF4-FFF2-40B4-BE49-F238E27FC236}">
                <a16:creationId xmlns:a16="http://schemas.microsoft.com/office/drawing/2014/main" id="{73F91745-96CE-49A5-879A-12617CE7D033}"/>
              </a:ext>
            </a:extLst>
          </p:cNvPr>
          <p:cNvSpPr>
            <a:spLocks xmlns:a="http://schemas.openxmlformats.org/drawingml/2006/main" noGrp="1"/>
          </p:cNvSpPr>
          <p:nvPr/>
        </p:nvSpPr>
        <p:spPr>
          <a:xfrm xmlns:a="http://schemas.openxmlformats.org/drawingml/2006/main">
            <a:off x="4953000" y="3286125"/>
            <a:ext cx="514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1275" b="0" i="0">
                <a:solidFill>
                  <a:srgbClr val="9FB0B9"/>
                </a:solidFill>
              </a:defRPr>
            </a:pPr>
            <a:r>
              <a:rPr sz="1275" b="0" i="0">
                <a:solidFill>
                  <a:srgbClr val="9FB0B9"/>
                </a:solidFill>
              </a:rPr>
              <a:t>Charlie Tyrell · 14 min</a:t>
            </a:r>
          </a:p>
        </p:txBody>
      </p:sp>
      <p:sp>
        <p:nvSpPr>
          <p:cNvPr id="13" name="why-1">
            <a:extLst xmlns:a="http://schemas.openxmlformats.org/drawingml/2006/main">
              <a:ext uri="{FF2B5EF4-FFF2-40B4-BE49-F238E27FC236}">
                <a16:creationId xmlns:a16="http://schemas.microsoft.com/office/drawing/2014/main" id="{F6C4AC42-A597-42FF-9B7F-4D0FC62132AD}"/>
              </a:ext>
            </a:extLst>
          </p:cNvPr>
          <p:cNvSpPr>
            <a:spLocks xmlns:a="http://schemas.openxmlformats.org/drawingml/2006/main" noGrp="1"/>
          </p:cNvSpPr>
          <p:nvPr/>
        </p:nvSpPr>
        <p:spPr>
          <a:xfrm xmlns:a="http://schemas.openxmlformats.org/drawingml/2006/main">
            <a:off x="685800" y="3667125"/>
            <a:ext cx="838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1425" b="0" i="0">
                <a:solidFill>
                  <a:srgbClr val="D8E0E1"/>
                </a:solidFill>
              </a:defRPr>
            </a:pPr>
            <a:r>
              <a:rPr sz="1425" b="0" i="0">
                <a:solidFill>
                  <a:srgbClr val="D8E0E1"/>
                </a:solidFill>
              </a:rPr>
              <a:t>Analyze personal narration, objects, animation, and family archive.</a:t>
            </a:r>
          </a:p>
        </p:txBody>
      </p:sp>
      <p:sp>
        <p:nvSpPr>
          <p:cNvPr id="14" name="">
            <a:extLst xmlns:a="http://schemas.openxmlformats.org/drawingml/2006/main">
              <a:ext uri="{FF2B5EF4-FFF2-40B4-BE49-F238E27FC236}">
                <a16:creationId xmlns:a16="http://schemas.microsoft.com/office/drawing/2014/main" id="{7D29AE9E-BB0E-44FD-B382-CA80589A1801}"/>
              </a:ext>
            </a:extLst>
          </p:cNvPr>
          <p:cNvSpPr>
            <a:spLocks xmlns:a="http://schemas.openxmlformats.org/drawingml/2006/main" noGrp="1"/>
          </p:cNvSpPr>
          <p:nvPr/>
        </p:nvSpPr>
        <p:spPr>
          <a:xfrm xmlns:a="http://schemas.openxmlformats.org/drawingml/2006/main">
            <a:off x="8953500" y="3629025"/>
            <a:ext cx="2571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r>
              <a:rPr sz="1800" b="1" u="sng">
                <a:solidFill>
                  <a:srgbClr val="C9924A"/>
                </a:solidFill>
                <a:hlinkClick xmlns:r="http://schemas.openxmlformats.org/officeDocument/2006/relationships" r:id="R4db410de91554711"/>
              </a:rPr>
              <a:t>Official viewing page</a:t>
            </a:r>
          </a:p>
        </p:txBody>
      </p:sp>
      <p:sp>
        <p:nvSpPr>
          <p:cNvPr id="15" name="divider-1">
            <a:extLst xmlns:a="http://schemas.openxmlformats.org/drawingml/2006/main">
              <a:ext uri="{FF2B5EF4-FFF2-40B4-BE49-F238E27FC236}">
                <a16:creationId xmlns:a16="http://schemas.microsoft.com/office/drawing/2014/main" id="{F3344A34-3197-438E-B278-34F791BB47B7}"/>
              </a:ext>
            </a:extLst>
          </p:cNvPr>
          <p:cNvSpPr>
            <a:spLocks xmlns:a="http://schemas.openxmlformats.org/drawingml/2006/main" noGrp="1"/>
          </p:cNvSpPr>
          <p:nvPr/>
        </p:nvSpPr>
        <p:spPr>
          <a:xfrm xmlns:a="http://schemas.openxmlformats.org/drawingml/2006/main">
            <a:off x="685800" y="4124325"/>
            <a:ext cx="10820400" cy="19050"/>
          </a:xfrm>
          <a:prstGeom xmlns:a="http://schemas.openxmlformats.org/drawingml/2006/main" prst="rect">
            <a:avLst/>
          </a:prstGeom>
          <a:solidFill xmlns:a="http://schemas.openxmlformats.org/drawingml/2006/main">
            <a:srgbClr val="2D6675"/>
          </a:solidFill>
          <a:ln xmlns:a="http://schemas.openxmlformats.org/drawingml/2006/main" w="0">
            <a:noFill/>
            <a:prstDash val="solid"/>
          </a:ln>
        </p:spPr>
      </p:sp>
      <p:sp>
        <p:nvSpPr>
          <p:cNvPr id="16" name="film-2">
            <a:extLst xmlns:a="http://schemas.openxmlformats.org/drawingml/2006/main">
              <a:ext uri="{FF2B5EF4-FFF2-40B4-BE49-F238E27FC236}">
                <a16:creationId xmlns:a16="http://schemas.microsoft.com/office/drawing/2014/main" id="{E188A9FD-D60B-4CD4-96FF-B929339DF1DC}"/>
              </a:ext>
            </a:extLst>
          </p:cNvPr>
          <p:cNvSpPr>
            <a:spLocks xmlns:a="http://schemas.openxmlformats.org/drawingml/2006/main" noGrp="1"/>
          </p:cNvSpPr>
          <p:nvPr/>
        </p:nvSpPr>
        <p:spPr>
          <a:xfrm xmlns:a="http://schemas.openxmlformats.org/drawingml/2006/main">
            <a:off x="685800" y="4438650"/>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2025" b="1" i="0">
                <a:solidFill>
                  <a:srgbClr val="F2EFE8"/>
                </a:solidFill>
              </a:defRPr>
            </a:pPr>
            <a:r>
              <a:rPr sz="2025" b="1" i="0">
                <a:solidFill>
                  <a:srgbClr val="F2EFE8"/>
                </a:solidFill>
              </a:rPr>
              <a:t>Perfecting the Art of Longing</a:t>
            </a:r>
          </a:p>
        </p:txBody>
      </p:sp>
      <p:sp>
        <p:nvSpPr>
          <p:cNvPr id="17" name="detail-2">
            <a:extLst xmlns:a="http://schemas.openxmlformats.org/drawingml/2006/main">
              <a:ext uri="{FF2B5EF4-FFF2-40B4-BE49-F238E27FC236}">
                <a16:creationId xmlns:a16="http://schemas.microsoft.com/office/drawing/2014/main" id="{FBCD3D70-D510-48B8-A616-98241D80BA2A}"/>
              </a:ext>
            </a:extLst>
          </p:cNvPr>
          <p:cNvSpPr>
            <a:spLocks xmlns:a="http://schemas.openxmlformats.org/drawingml/2006/main" noGrp="1"/>
          </p:cNvSpPr>
          <p:nvPr/>
        </p:nvSpPr>
        <p:spPr>
          <a:xfrm xmlns:a="http://schemas.openxmlformats.org/drawingml/2006/main">
            <a:off x="4953000" y="4457700"/>
            <a:ext cx="514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1275" b="0" i="0">
                <a:solidFill>
                  <a:srgbClr val="9FB0B9"/>
                </a:solidFill>
              </a:defRPr>
            </a:pPr>
            <a:r>
              <a:rPr sz="1275" b="0" i="0">
                <a:solidFill>
                  <a:srgbClr val="9FB0B9"/>
                </a:solidFill>
              </a:rPr>
              <a:t>NFB · 12:10</a:t>
            </a:r>
          </a:p>
        </p:txBody>
      </p:sp>
      <p:sp>
        <p:nvSpPr>
          <p:cNvPr id="18" name="why-2">
            <a:extLst xmlns:a="http://schemas.openxmlformats.org/drawingml/2006/main">
              <a:ext uri="{FF2B5EF4-FFF2-40B4-BE49-F238E27FC236}">
                <a16:creationId xmlns:a16="http://schemas.microsoft.com/office/drawing/2014/main" id="{5417C357-4A33-4B47-9805-89032941F1DA}"/>
              </a:ext>
            </a:extLst>
          </p:cNvPr>
          <p:cNvSpPr>
            <a:spLocks xmlns:a="http://schemas.openxmlformats.org/drawingml/2006/main" noGrp="1"/>
          </p:cNvSpPr>
          <p:nvPr/>
        </p:nvSpPr>
        <p:spPr>
          <a:xfrm xmlns:a="http://schemas.openxmlformats.org/drawingml/2006/main">
            <a:off x="685800" y="4838700"/>
            <a:ext cx="838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1425" b="0" i="0">
                <a:solidFill>
                  <a:srgbClr val="D8E0E1"/>
                </a:solidFill>
              </a:defRPr>
            </a:pPr>
            <a:r>
              <a:rPr sz="1425" b="0" i="0">
                <a:solidFill>
                  <a:srgbClr val="D8E0E1"/>
                </a:solidFill>
              </a:rPr>
              <a:t>Examine intimacy, waiting, image design, and uncertainty.</a:t>
            </a:r>
          </a:p>
        </p:txBody>
      </p:sp>
      <p:sp>
        <p:nvSpPr>
          <p:cNvPr id="19" name="">
            <a:extLst xmlns:a="http://schemas.openxmlformats.org/drawingml/2006/main">
              <a:ext uri="{FF2B5EF4-FFF2-40B4-BE49-F238E27FC236}">
                <a16:creationId xmlns:a16="http://schemas.microsoft.com/office/drawing/2014/main" id="{ED964E24-B902-4024-8036-FA4D61AB8530}"/>
              </a:ext>
            </a:extLst>
          </p:cNvPr>
          <p:cNvSpPr>
            <a:spLocks xmlns:a="http://schemas.openxmlformats.org/drawingml/2006/main" noGrp="1"/>
          </p:cNvSpPr>
          <p:nvPr/>
        </p:nvSpPr>
        <p:spPr>
          <a:xfrm xmlns:a="http://schemas.openxmlformats.org/drawingml/2006/main">
            <a:off x="8953500" y="4800600"/>
            <a:ext cx="2571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r>
              <a:rPr sz="1800" b="1" u="sng">
                <a:solidFill>
                  <a:srgbClr val="C9924A"/>
                </a:solidFill>
                <a:hlinkClick xmlns:r="http://schemas.openxmlformats.org/officeDocument/2006/relationships" r:id="R4da6f7117ad54086"/>
              </a:rPr>
              <a:t>Official viewing page</a:t>
            </a:r>
          </a:p>
        </p:txBody>
      </p:sp>
      <p:sp>
        <p:nvSpPr>
          <p:cNvPr id="20" name="divider-2">
            <a:extLst xmlns:a="http://schemas.openxmlformats.org/drawingml/2006/main">
              <a:ext uri="{FF2B5EF4-FFF2-40B4-BE49-F238E27FC236}">
                <a16:creationId xmlns:a16="http://schemas.microsoft.com/office/drawing/2014/main" id="{00751C02-3C77-4E43-8F57-055872DC4364}"/>
              </a:ext>
            </a:extLst>
          </p:cNvPr>
          <p:cNvSpPr>
            <a:spLocks xmlns:a="http://schemas.openxmlformats.org/drawingml/2006/main" noGrp="1"/>
          </p:cNvSpPr>
          <p:nvPr/>
        </p:nvSpPr>
        <p:spPr>
          <a:xfrm xmlns:a="http://schemas.openxmlformats.org/drawingml/2006/main">
            <a:off x="685800" y="5295900"/>
            <a:ext cx="10820400" cy="19050"/>
          </a:xfrm>
          <a:prstGeom xmlns:a="http://schemas.openxmlformats.org/drawingml/2006/main" prst="rect">
            <a:avLst/>
          </a:prstGeom>
          <a:solidFill xmlns:a="http://schemas.openxmlformats.org/drawingml/2006/main">
            <a:srgbClr val="2D6675"/>
          </a:solidFill>
          <a:ln xmlns:a="http://schemas.openxmlformats.org/drawingml/2006/main" w="0">
            <a:noFill/>
            <a:prstDash val="solid"/>
          </a:ln>
        </p:spPr>
      </p:sp>
    </p:spTree>
    <p:extLst>
      <p:ext uri="{BB962C8B-B14F-4D97-AF65-F5344CB8AC3E}">
        <p14:creationId xmlns:p14="http://schemas.microsoft.com/office/powerpoint/2010/main" val="837598548"/>
      </p:ext>
    </p:extLst>
  </p:cSld>
</p:sld>
</file>

<file path=ppt/slides/slide25.xml><?xml version="1.0" encoding="utf-8"?>
<p:sld xmlns:p="http://schemas.openxmlformats.org/presentationml/2006/main">
  <p:cSld>
    <p:bg>
      <p:bgPr>
        <a:solidFill xmlns:a="http://schemas.openxmlformats.org/drawingml/2006/main">
          <a:srgbClr val="081116"/>
        </a:solidFill>
      </p:bgPr>
    </p:bg>
    <p:spTree>
      <p:nvGrpSpPr>
        <p:cNvPr id="1" name=""/>
        <p:cNvGrpSpPr/>
        <p:nvPr/>
      </p:nvGrpSpPr>
      <p:grpSpPr>
        <a:xfrm xmlns:a="http://schemas.openxmlformats.org/drawingml/2006/main"/>
      </p:grpSpPr>
      <p:sp>
        <p:nvSpPr>
          <p:cNvPr id="16" name="accent-25">
            <a:extLst xmlns:a="http://schemas.openxmlformats.org/drawingml/2006/main">
              <a:ext uri="{FF2B5EF4-FFF2-40B4-BE49-F238E27FC236}">
                <a16:creationId xmlns:a16="http://schemas.microsoft.com/office/drawing/2014/main" id="{64744AFC-1E8C-4060-90F6-BEC4A3BFD3A1}"/>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C9924A"/>
          </a:solidFill>
          <a:ln xmlns:a="http://schemas.openxmlformats.org/drawingml/2006/main" w="0">
            <a:noFill/>
            <a:prstDash val="solid"/>
          </a:ln>
        </p:spPr>
      </p:sp>
      <p:sp>
        <p:nvSpPr>
          <p:cNvPr id="2" name="eyebrow-25">
            <a:extLst xmlns:a="http://schemas.openxmlformats.org/drawingml/2006/main">
              <a:ext uri="{FF2B5EF4-FFF2-40B4-BE49-F238E27FC236}">
                <a16:creationId xmlns:a16="http://schemas.microsoft.com/office/drawing/2014/main" id="{0D8ADDB9-8DD8-40B9-AF4F-F820F892AAA2}"/>
              </a:ext>
            </a:extLst>
          </p:cNvPr>
          <p:cNvSpPr>
            <a:spLocks xmlns:a="http://schemas.openxmlformats.org/drawingml/2006/main" noGrp="1"/>
          </p:cNvSpPr>
          <p:nvPr/>
        </p:nvSpPr>
        <p:spPr>
          <a:xfrm xmlns:a="http://schemas.openxmlformats.org/drawingml/2006/main">
            <a:off x="685800" y="36195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1200" b="1" i="0">
                <a:solidFill>
                  <a:srgbClr val="C9924A"/>
                </a:solidFill>
              </a:defRPr>
            </a:pPr>
            <a:r>
              <a:rPr sz="1200" b="1" i="0">
                <a:solidFill>
                  <a:srgbClr val="C9924A"/>
                </a:solidFill>
              </a:rPr>
              <a:t>SHORT DOCUMENTARY ANATOMY</a:t>
            </a:r>
          </a:p>
        </p:txBody>
      </p:sp>
      <p:sp>
        <p:nvSpPr>
          <p:cNvPr id="3" name="section-25">
            <a:extLst xmlns:a="http://schemas.openxmlformats.org/drawingml/2006/main">
              <a:ext uri="{FF2B5EF4-FFF2-40B4-BE49-F238E27FC236}">
                <a16:creationId xmlns:a16="http://schemas.microsoft.com/office/drawing/2014/main" id="{8E4A56A2-FD27-4FD0-A8E4-739D3613CE65}"/>
              </a:ext>
            </a:extLst>
          </p:cNvPr>
          <p:cNvSpPr>
            <a:spLocks xmlns:a="http://schemas.openxmlformats.org/drawingml/2006/main" noGrp="1"/>
          </p:cNvSpPr>
          <p:nvPr/>
        </p:nvSpPr>
        <p:spPr>
          <a:xfrm xmlns:a="http://schemas.openxmlformats.org/drawingml/2006/main">
            <a:off x="685800" y="6429375"/>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1200" b="0" i="0">
                <a:solidFill>
                  <a:srgbClr val="9FB0B9"/>
                </a:solidFill>
              </a:defRPr>
            </a:pPr>
            <a:r>
              <a:rPr sz="1200" b="0" i="0">
                <a:solidFill>
                  <a:srgbClr val="9FB0B9"/>
                </a:solidFill>
              </a:rPr>
              <a:t>CLOSE READING</a:t>
            </a:r>
          </a:p>
        </p:txBody>
      </p:sp>
      <p:sp>
        <p:nvSpPr>
          <p:cNvPr id="4" name="number-25">
            <a:extLst xmlns:a="http://schemas.openxmlformats.org/drawingml/2006/main">
              <a:ext uri="{FF2B5EF4-FFF2-40B4-BE49-F238E27FC236}">
                <a16:creationId xmlns:a16="http://schemas.microsoft.com/office/drawing/2014/main" id="{09E6DA1A-DDD3-4CFB-97E0-4355AD167840}"/>
              </a:ext>
            </a:extLst>
          </p:cNvPr>
          <p:cNvSpPr>
            <a:spLocks xmlns:a="http://schemas.openxmlformats.org/drawingml/2006/main" noGrp="1"/>
          </p:cNvSpPr>
          <p:nvPr/>
        </p:nvSpPr>
        <p:spPr>
          <a:xfrm xmlns:a="http://schemas.openxmlformats.org/drawingml/2006/main">
            <a:off x="11049000" y="640080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lnSpc>
                <a:spcPct val="105000"/>
              </a:lnSpc>
              <a:buNone/>
              <a:defRPr sz="1200" b="1" i="0">
                <a:solidFill>
                  <a:srgbClr val="C9924A"/>
                </a:solidFill>
              </a:defRPr>
            </a:pPr>
            <a:r>
              <a:rPr sz="1200" b="1" i="0">
                <a:solidFill>
                  <a:srgbClr val="C9924A"/>
                </a:solidFill>
              </a:rPr>
              <a:t>25</a:t>
            </a:r>
          </a:p>
        </p:txBody>
      </p:sp>
      <p:sp>
        <p:nvSpPr>
          <p:cNvPr id="5" name="slide-title">
            <a:extLst xmlns:a="http://schemas.openxmlformats.org/drawingml/2006/main">
              <a:ext uri="{FF2B5EF4-FFF2-40B4-BE49-F238E27FC236}">
                <a16:creationId xmlns:a16="http://schemas.microsoft.com/office/drawing/2014/main" id="{04FA32B2-4028-4934-B9BA-AE9B276A3618}"/>
              </a:ext>
            </a:extLst>
          </p:cNvPr>
          <p:cNvSpPr>
            <a:spLocks xmlns:a="http://schemas.openxmlformats.org/drawingml/2006/main" noGrp="1"/>
          </p:cNvSpPr>
          <p:nvPr/>
        </p:nvSpPr>
        <p:spPr>
          <a:xfrm xmlns:a="http://schemas.openxmlformats.org/drawingml/2006/main">
            <a:off x="685800" y="857250"/>
            <a:ext cx="9334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94000"/>
              </a:lnSpc>
              <a:buNone/>
              <a:defRPr sz="3750" b="1" i="0">
                <a:solidFill>
                  <a:srgbClr val="F2EFE8"/>
                </a:solidFill>
              </a:defRPr>
            </a:pPr>
            <a:r>
              <a:rPr sz="3750" b="1" i="0">
                <a:solidFill>
                  <a:srgbClr val="F2EFE8"/>
                </a:solidFill>
              </a:rPr>
              <a:t>Move from response to evidence</a:t>
            </a:r>
          </a:p>
        </p:txBody>
      </p:sp>
      <p:sp>
        <p:nvSpPr>
          <p:cNvPr id="6" name="bullet-0">
            <a:extLst xmlns:a="http://schemas.openxmlformats.org/drawingml/2006/main">
              <a:ext uri="{FF2B5EF4-FFF2-40B4-BE49-F238E27FC236}">
                <a16:creationId xmlns:a16="http://schemas.microsoft.com/office/drawing/2014/main" id="{FD8782B2-4172-4213-9D78-B2C49364999C}"/>
              </a:ext>
            </a:extLst>
          </p:cNvPr>
          <p:cNvSpPr>
            <a:spLocks xmlns:a="http://schemas.openxmlformats.org/drawingml/2006/main" noGrp="1"/>
          </p:cNvSpPr>
          <p:nvPr/>
        </p:nvSpPr>
        <p:spPr>
          <a:xfrm xmlns:a="http://schemas.openxmlformats.org/drawingml/2006/main">
            <a:off x="685800" y="2190750"/>
            <a:ext cx="95250" cy="95250"/>
          </a:xfrm>
          <a:prstGeom xmlns:a="http://schemas.openxmlformats.org/drawingml/2006/main" prst="rect">
            <a:avLst/>
          </a:prstGeom>
          <a:solidFill xmlns:a="http://schemas.openxmlformats.org/drawingml/2006/main">
            <a:srgbClr val="C9924A"/>
          </a:solidFill>
          <a:ln xmlns:a="http://schemas.openxmlformats.org/drawingml/2006/main" w="0">
            <a:noFill/>
            <a:prstDash val="solid"/>
          </a:ln>
        </p:spPr>
      </p:sp>
      <p:sp>
        <p:nvSpPr>
          <p:cNvPr id="7" name="bullet-text-0">
            <a:extLst xmlns:a="http://schemas.openxmlformats.org/drawingml/2006/main">
              <a:ext uri="{FF2B5EF4-FFF2-40B4-BE49-F238E27FC236}">
                <a16:creationId xmlns:a16="http://schemas.microsoft.com/office/drawing/2014/main" id="{34FC25A5-2D7D-4733-915D-DB89D61EEB15}"/>
              </a:ext>
            </a:extLst>
          </p:cNvPr>
          <p:cNvSpPr>
            <a:spLocks xmlns:a="http://schemas.openxmlformats.org/drawingml/2006/main" noGrp="1"/>
          </p:cNvSpPr>
          <p:nvPr/>
        </p:nvSpPr>
        <p:spPr>
          <a:xfrm xmlns:a="http://schemas.openxmlformats.org/drawingml/2006/main">
            <a:off x="952500" y="2095500"/>
            <a:ext cx="101155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2000"/>
              </a:lnSpc>
              <a:buNone/>
              <a:defRPr sz="1725" b="0" i="0">
                <a:solidFill>
                  <a:srgbClr val="D8E0E1"/>
                </a:solidFill>
              </a:defRPr>
            </a:pPr>
            <a:r>
              <a:rPr sz="1725" b="0" i="0">
                <a:solidFill>
                  <a:srgbClr val="D8E0E1"/>
                </a:solidFill>
              </a:rPr>
              <a:t>What stayed with you—and which exact moment created that response?</a:t>
            </a:r>
          </a:p>
        </p:txBody>
      </p:sp>
      <p:sp>
        <p:nvSpPr>
          <p:cNvPr id="8" name="bullet-1">
            <a:extLst xmlns:a="http://schemas.openxmlformats.org/drawingml/2006/main">
              <a:ext uri="{FF2B5EF4-FFF2-40B4-BE49-F238E27FC236}">
                <a16:creationId xmlns:a16="http://schemas.microsoft.com/office/drawing/2014/main" id="{0B1DC4BA-7DF0-4C6F-9CFF-8EE890872ECA}"/>
              </a:ext>
            </a:extLst>
          </p:cNvPr>
          <p:cNvSpPr>
            <a:spLocks xmlns:a="http://schemas.openxmlformats.org/drawingml/2006/main" noGrp="1"/>
          </p:cNvSpPr>
          <p:nvPr/>
        </p:nvSpPr>
        <p:spPr>
          <a:xfrm xmlns:a="http://schemas.openxmlformats.org/drawingml/2006/main">
            <a:off x="685800" y="2905125"/>
            <a:ext cx="95250" cy="95250"/>
          </a:xfrm>
          <a:prstGeom xmlns:a="http://schemas.openxmlformats.org/drawingml/2006/main" prst="rect">
            <a:avLst/>
          </a:prstGeom>
          <a:solidFill xmlns:a="http://schemas.openxmlformats.org/drawingml/2006/main">
            <a:srgbClr val="C9924A"/>
          </a:solidFill>
          <a:ln xmlns:a="http://schemas.openxmlformats.org/drawingml/2006/main" w="0">
            <a:noFill/>
            <a:prstDash val="solid"/>
          </a:ln>
        </p:spPr>
      </p:sp>
      <p:sp>
        <p:nvSpPr>
          <p:cNvPr id="9" name="bullet-text-1">
            <a:extLst xmlns:a="http://schemas.openxmlformats.org/drawingml/2006/main">
              <a:ext uri="{FF2B5EF4-FFF2-40B4-BE49-F238E27FC236}">
                <a16:creationId xmlns:a16="http://schemas.microsoft.com/office/drawing/2014/main" id="{6F00529F-4997-4F08-AA4C-D8179BC021E6}"/>
              </a:ext>
            </a:extLst>
          </p:cNvPr>
          <p:cNvSpPr>
            <a:spLocks xmlns:a="http://schemas.openxmlformats.org/drawingml/2006/main" noGrp="1"/>
          </p:cNvSpPr>
          <p:nvPr/>
        </p:nvSpPr>
        <p:spPr>
          <a:xfrm xmlns:a="http://schemas.openxmlformats.org/drawingml/2006/main">
            <a:off x="952500" y="2809875"/>
            <a:ext cx="101155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2000"/>
              </a:lnSpc>
              <a:buNone/>
              <a:defRPr sz="1725" b="0" i="0">
                <a:solidFill>
                  <a:srgbClr val="D8E0E1"/>
                </a:solidFill>
              </a:defRPr>
            </a:pPr>
            <a:r>
              <a:rPr sz="1725" b="0" i="0">
                <a:solidFill>
                  <a:srgbClr val="D8E0E1"/>
                </a:solidFill>
              </a:rPr>
              <a:t>What is the film’s story, not merely its topic?</a:t>
            </a:r>
          </a:p>
        </p:txBody>
      </p:sp>
      <p:sp>
        <p:nvSpPr>
          <p:cNvPr id="10" name="bullet-2">
            <a:extLst xmlns:a="http://schemas.openxmlformats.org/drawingml/2006/main">
              <a:ext uri="{FF2B5EF4-FFF2-40B4-BE49-F238E27FC236}">
                <a16:creationId xmlns:a16="http://schemas.microsoft.com/office/drawing/2014/main" id="{F7CA41CC-78E4-47F1-8B71-880EEAF013ED}"/>
              </a:ext>
            </a:extLst>
          </p:cNvPr>
          <p:cNvSpPr>
            <a:spLocks xmlns:a="http://schemas.openxmlformats.org/drawingml/2006/main" noGrp="1"/>
          </p:cNvSpPr>
          <p:nvPr/>
        </p:nvSpPr>
        <p:spPr>
          <a:xfrm xmlns:a="http://schemas.openxmlformats.org/drawingml/2006/main">
            <a:off x="685800" y="3619500"/>
            <a:ext cx="95250" cy="95250"/>
          </a:xfrm>
          <a:prstGeom xmlns:a="http://schemas.openxmlformats.org/drawingml/2006/main" prst="rect">
            <a:avLst/>
          </a:prstGeom>
          <a:solidFill xmlns:a="http://schemas.openxmlformats.org/drawingml/2006/main">
            <a:srgbClr val="C9924A"/>
          </a:solidFill>
          <a:ln xmlns:a="http://schemas.openxmlformats.org/drawingml/2006/main" w="0">
            <a:noFill/>
            <a:prstDash val="solid"/>
          </a:ln>
        </p:spPr>
      </p:sp>
      <p:sp>
        <p:nvSpPr>
          <p:cNvPr id="11" name="bullet-text-2">
            <a:extLst xmlns:a="http://schemas.openxmlformats.org/drawingml/2006/main">
              <a:ext uri="{FF2B5EF4-FFF2-40B4-BE49-F238E27FC236}">
                <a16:creationId xmlns:a16="http://schemas.microsoft.com/office/drawing/2014/main" id="{ACABEFB2-FE7D-4B80-A3C0-21EBD5D8698B}"/>
              </a:ext>
            </a:extLst>
          </p:cNvPr>
          <p:cNvSpPr>
            <a:spLocks xmlns:a="http://schemas.openxmlformats.org/drawingml/2006/main" noGrp="1"/>
          </p:cNvSpPr>
          <p:nvPr/>
        </p:nvSpPr>
        <p:spPr>
          <a:xfrm xmlns:a="http://schemas.openxmlformats.org/drawingml/2006/main">
            <a:off x="952500" y="3524250"/>
            <a:ext cx="101155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2000"/>
              </a:lnSpc>
              <a:buNone/>
              <a:defRPr sz="1725" b="0" i="0">
                <a:solidFill>
                  <a:srgbClr val="D8E0E1"/>
                </a:solidFill>
              </a:defRPr>
            </a:pPr>
            <a:r>
              <a:rPr sz="1725" b="0" i="0">
                <a:solidFill>
                  <a:srgbClr val="D8E0E1"/>
                </a:solidFill>
              </a:rPr>
              <a:t>What form dominates? What other approaches does it borrow?</a:t>
            </a:r>
          </a:p>
        </p:txBody>
      </p:sp>
      <p:sp>
        <p:nvSpPr>
          <p:cNvPr id="12" name="bullet-3">
            <a:extLst xmlns:a="http://schemas.openxmlformats.org/drawingml/2006/main">
              <a:ext uri="{FF2B5EF4-FFF2-40B4-BE49-F238E27FC236}">
                <a16:creationId xmlns:a16="http://schemas.microsoft.com/office/drawing/2014/main" id="{6C3EAF93-30B8-4478-B2CE-D95DD643F340}"/>
              </a:ext>
            </a:extLst>
          </p:cNvPr>
          <p:cNvSpPr>
            <a:spLocks xmlns:a="http://schemas.openxmlformats.org/drawingml/2006/main" noGrp="1"/>
          </p:cNvSpPr>
          <p:nvPr/>
        </p:nvSpPr>
        <p:spPr>
          <a:xfrm xmlns:a="http://schemas.openxmlformats.org/drawingml/2006/main">
            <a:off x="685800" y="4333875"/>
            <a:ext cx="95250" cy="95250"/>
          </a:xfrm>
          <a:prstGeom xmlns:a="http://schemas.openxmlformats.org/drawingml/2006/main" prst="rect">
            <a:avLst/>
          </a:prstGeom>
          <a:solidFill xmlns:a="http://schemas.openxmlformats.org/drawingml/2006/main">
            <a:srgbClr val="C9924A"/>
          </a:solidFill>
          <a:ln xmlns:a="http://schemas.openxmlformats.org/drawingml/2006/main" w="0">
            <a:noFill/>
            <a:prstDash val="solid"/>
          </a:ln>
        </p:spPr>
      </p:sp>
      <p:sp>
        <p:nvSpPr>
          <p:cNvPr id="13" name="bullet-text-3">
            <a:extLst xmlns:a="http://schemas.openxmlformats.org/drawingml/2006/main">
              <a:ext uri="{FF2B5EF4-FFF2-40B4-BE49-F238E27FC236}">
                <a16:creationId xmlns:a16="http://schemas.microsoft.com/office/drawing/2014/main" id="{33BBA61B-7C78-44E2-84CD-63728E66AA8C}"/>
              </a:ext>
            </a:extLst>
          </p:cNvPr>
          <p:cNvSpPr>
            <a:spLocks xmlns:a="http://schemas.openxmlformats.org/drawingml/2006/main" noGrp="1"/>
          </p:cNvSpPr>
          <p:nvPr/>
        </p:nvSpPr>
        <p:spPr>
          <a:xfrm xmlns:a="http://schemas.openxmlformats.org/drawingml/2006/main">
            <a:off x="952500" y="4238625"/>
            <a:ext cx="101155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2000"/>
              </a:lnSpc>
              <a:buNone/>
              <a:defRPr sz="1725" b="0" i="0">
                <a:solidFill>
                  <a:srgbClr val="D8E0E1"/>
                </a:solidFill>
              </a:defRPr>
            </a:pPr>
            <a:r>
              <a:rPr sz="1725" b="0" i="0">
                <a:solidFill>
                  <a:srgbClr val="D8E0E1"/>
                </a:solidFill>
              </a:rPr>
              <a:t>How are scenes, interviews, archive, narration, image, and sound used?</a:t>
            </a:r>
          </a:p>
        </p:txBody>
      </p:sp>
      <p:sp>
        <p:nvSpPr>
          <p:cNvPr id="14" name="bullet-4">
            <a:extLst xmlns:a="http://schemas.openxmlformats.org/drawingml/2006/main">
              <a:ext uri="{FF2B5EF4-FFF2-40B4-BE49-F238E27FC236}">
                <a16:creationId xmlns:a16="http://schemas.microsoft.com/office/drawing/2014/main" id="{6FAC2D18-096F-4F5F-BB82-35FD610F20C1}"/>
              </a:ext>
            </a:extLst>
          </p:cNvPr>
          <p:cNvSpPr>
            <a:spLocks xmlns:a="http://schemas.openxmlformats.org/drawingml/2006/main" noGrp="1"/>
          </p:cNvSpPr>
          <p:nvPr/>
        </p:nvSpPr>
        <p:spPr>
          <a:xfrm xmlns:a="http://schemas.openxmlformats.org/drawingml/2006/main">
            <a:off x="685800" y="5048250"/>
            <a:ext cx="95250" cy="95250"/>
          </a:xfrm>
          <a:prstGeom xmlns:a="http://schemas.openxmlformats.org/drawingml/2006/main" prst="rect">
            <a:avLst/>
          </a:prstGeom>
          <a:solidFill xmlns:a="http://schemas.openxmlformats.org/drawingml/2006/main">
            <a:srgbClr val="C9924A"/>
          </a:solidFill>
          <a:ln xmlns:a="http://schemas.openxmlformats.org/drawingml/2006/main" w="0">
            <a:noFill/>
            <a:prstDash val="solid"/>
          </a:ln>
        </p:spPr>
      </p:sp>
      <p:sp>
        <p:nvSpPr>
          <p:cNvPr id="15" name="bullet-text-4">
            <a:extLst xmlns:a="http://schemas.openxmlformats.org/drawingml/2006/main">
              <a:ext uri="{FF2B5EF4-FFF2-40B4-BE49-F238E27FC236}">
                <a16:creationId xmlns:a16="http://schemas.microsoft.com/office/drawing/2014/main" id="{9AA4C7C7-B2CD-476B-B75E-402A95FB5BD6}"/>
              </a:ext>
            </a:extLst>
          </p:cNvPr>
          <p:cNvSpPr>
            <a:spLocks xmlns:a="http://schemas.openxmlformats.org/drawingml/2006/main" noGrp="1"/>
          </p:cNvSpPr>
          <p:nvPr/>
        </p:nvSpPr>
        <p:spPr>
          <a:xfrm xmlns:a="http://schemas.openxmlformats.org/drawingml/2006/main">
            <a:off x="952500" y="4953000"/>
            <a:ext cx="101155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2000"/>
              </a:lnSpc>
              <a:buNone/>
              <a:defRPr sz="1725" b="0" i="0">
                <a:solidFill>
                  <a:srgbClr val="D8E0E1"/>
                </a:solidFill>
              </a:defRPr>
            </a:pPr>
            <a:r>
              <a:rPr sz="1725" b="0" i="0">
                <a:solidFill>
                  <a:srgbClr val="D8E0E1"/>
                </a:solidFill>
              </a:rPr>
              <a:t>What is one strength, one limitation, and one lesson for your own film?</a:t>
            </a:r>
          </a:p>
        </p:txBody>
      </p:sp>
    </p:spTree>
    <p:extLst>
      <p:ext uri="{BB962C8B-B14F-4D97-AF65-F5344CB8AC3E}">
        <p14:creationId xmlns:p14="http://schemas.microsoft.com/office/powerpoint/2010/main" val="283595300"/>
      </p:ext>
    </p:extLst>
  </p:cSld>
</p:sld>
</file>

<file path=ppt/slides/slide26.xml><?xml version="1.0" encoding="utf-8"?>
<p:sld xmlns:p="http://schemas.openxmlformats.org/presentationml/2006/main">
  <p:cSld>
    <p:bg>
      <p:bgPr>
        <a:solidFill xmlns:a="http://schemas.openxmlformats.org/drawingml/2006/main">
          <a:srgbClr val="081116"/>
        </a:solidFill>
      </p:bgPr>
    </p:bg>
    <p:spTree>
      <p:nvGrpSpPr>
        <p:cNvPr id="1" name=""/>
        <p:cNvGrpSpPr/>
        <p:nvPr/>
      </p:nvGrpSpPr>
      <p:grpSpPr>
        <a:xfrm xmlns:a="http://schemas.openxmlformats.org/drawingml/2006/main"/>
      </p:grpSpPr>
      <p:sp>
        <p:nvSpPr>
          <p:cNvPr id="17" name="accent-26">
            <a:extLst xmlns:a="http://schemas.openxmlformats.org/drawingml/2006/main">
              <a:ext uri="{FF2B5EF4-FFF2-40B4-BE49-F238E27FC236}">
                <a16:creationId xmlns:a16="http://schemas.microsoft.com/office/drawing/2014/main" id="{014DE2BF-2683-43AB-BF2A-19C1F19B0183}"/>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C9924A"/>
          </a:solidFill>
          <a:ln xmlns:a="http://schemas.openxmlformats.org/drawingml/2006/main" w="0">
            <a:noFill/>
            <a:prstDash val="solid"/>
          </a:ln>
        </p:spPr>
      </p:sp>
      <p:sp>
        <p:nvSpPr>
          <p:cNvPr id="2" name="eyebrow-26">
            <a:extLst xmlns:a="http://schemas.openxmlformats.org/drawingml/2006/main">
              <a:ext uri="{FF2B5EF4-FFF2-40B4-BE49-F238E27FC236}">
                <a16:creationId xmlns:a16="http://schemas.microsoft.com/office/drawing/2014/main" id="{DF8C395A-4DDA-4A4C-BE63-80A38092D772}"/>
              </a:ext>
            </a:extLst>
          </p:cNvPr>
          <p:cNvSpPr>
            <a:spLocks xmlns:a="http://schemas.openxmlformats.org/drawingml/2006/main" noGrp="1"/>
          </p:cNvSpPr>
          <p:nvPr/>
        </p:nvSpPr>
        <p:spPr>
          <a:xfrm xmlns:a="http://schemas.openxmlformats.org/drawingml/2006/main">
            <a:off x="685800" y="36195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1200" b="1" i="0">
                <a:solidFill>
                  <a:srgbClr val="C9924A"/>
                </a:solidFill>
              </a:defRPr>
            </a:pPr>
            <a:r>
              <a:rPr sz="1200" b="1" i="0">
                <a:solidFill>
                  <a:srgbClr val="C9924A"/>
                </a:solidFill>
              </a:rPr>
              <a:t>ACTIVITY LAB</a:t>
            </a:r>
          </a:p>
        </p:txBody>
      </p:sp>
      <p:sp>
        <p:nvSpPr>
          <p:cNvPr id="3" name="section-26">
            <a:extLst xmlns:a="http://schemas.openxmlformats.org/drawingml/2006/main">
              <a:ext uri="{FF2B5EF4-FFF2-40B4-BE49-F238E27FC236}">
                <a16:creationId xmlns:a16="http://schemas.microsoft.com/office/drawing/2014/main" id="{2C284C44-8CF6-43C7-AF59-ABEC3315D663}"/>
              </a:ext>
            </a:extLst>
          </p:cNvPr>
          <p:cNvSpPr>
            <a:spLocks xmlns:a="http://schemas.openxmlformats.org/drawingml/2006/main" noGrp="1"/>
          </p:cNvSpPr>
          <p:nvPr/>
        </p:nvSpPr>
        <p:spPr>
          <a:xfrm xmlns:a="http://schemas.openxmlformats.org/drawingml/2006/main">
            <a:off x="685800" y="6429375"/>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1200" b="0" i="0">
                <a:solidFill>
                  <a:srgbClr val="9FB0B9"/>
                </a:solidFill>
              </a:defRPr>
            </a:pPr>
            <a:r>
              <a:rPr sz="1200" b="0" i="0">
                <a:solidFill>
                  <a:srgbClr val="9FB0B9"/>
                </a:solidFill>
              </a:rPr>
              <a:t>DOCUMENTARY FORM LAB</a:t>
            </a:r>
          </a:p>
        </p:txBody>
      </p:sp>
      <p:sp>
        <p:nvSpPr>
          <p:cNvPr id="4" name="number-26">
            <a:extLst xmlns:a="http://schemas.openxmlformats.org/drawingml/2006/main">
              <a:ext uri="{FF2B5EF4-FFF2-40B4-BE49-F238E27FC236}">
                <a16:creationId xmlns:a16="http://schemas.microsoft.com/office/drawing/2014/main" id="{C29B2E2B-08A4-47F7-AF2F-1E3557BD38AB}"/>
              </a:ext>
            </a:extLst>
          </p:cNvPr>
          <p:cNvSpPr>
            <a:spLocks xmlns:a="http://schemas.openxmlformats.org/drawingml/2006/main" noGrp="1"/>
          </p:cNvSpPr>
          <p:nvPr/>
        </p:nvSpPr>
        <p:spPr>
          <a:xfrm xmlns:a="http://schemas.openxmlformats.org/drawingml/2006/main">
            <a:off x="11049000" y="640080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lnSpc>
                <a:spcPct val="105000"/>
              </a:lnSpc>
              <a:buNone/>
              <a:defRPr sz="1200" b="1" i="0">
                <a:solidFill>
                  <a:srgbClr val="C9924A"/>
                </a:solidFill>
              </a:defRPr>
            </a:pPr>
            <a:r>
              <a:rPr sz="1200" b="1" i="0">
                <a:solidFill>
                  <a:srgbClr val="C9924A"/>
                </a:solidFill>
              </a:rPr>
              <a:t>26</a:t>
            </a:r>
          </a:p>
        </p:txBody>
      </p:sp>
      <p:sp>
        <p:nvSpPr>
          <p:cNvPr id="5" name="slide-title">
            <a:extLst xmlns:a="http://schemas.openxmlformats.org/drawingml/2006/main">
              <a:ext uri="{FF2B5EF4-FFF2-40B4-BE49-F238E27FC236}">
                <a16:creationId xmlns:a16="http://schemas.microsoft.com/office/drawing/2014/main" id="{B4EA2980-2B30-4125-85CF-0659FB2C00A7}"/>
              </a:ext>
            </a:extLst>
          </p:cNvPr>
          <p:cNvSpPr>
            <a:spLocks xmlns:a="http://schemas.openxmlformats.org/drawingml/2006/main" noGrp="1"/>
          </p:cNvSpPr>
          <p:nvPr/>
        </p:nvSpPr>
        <p:spPr>
          <a:xfrm xmlns:a="http://schemas.openxmlformats.org/drawingml/2006/main">
            <a:off x="685800" y="857250"/>
            <a:ext cx="9334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94000"/>
              </a:lnSpc>
              <a:buNone/>
              <a:defRPr sz="3750" b="1" i="0">
                <a:solidFill>
                  <a:srgbClr val="F2EFE8"/>
                </a:solidFill>
              </a:defRPr>
            </a:pPr>
            <a:r>
              <a:rPr sz="3750" b="1" i="0">
                <a:solidFill>
                  <a:srgbClr val="F2EFE8"/>
                </a:solidFill>
              </a:rPr>
              <a:t>Build three films from one story</a:t>
            </a:r>
          </a:p>
        </p:txBody>
      </p:sp>
      <p:sp>
        <p:nvSpPr>
          <p:cNvPr id="6" name="bullet-0">
            <a:extLst xmlns:a="http://schemas.openxmlformats.org/drawingml/2006/main">
              <a:ext uri="{FF2B5EF4-FFF2-40B4-BE49-F238E27FC236}">
                <a16:creationId xmlns:a16="http://schemas.microsoft.com/office/drawing/2014/main" id="{B0A876AC-E94E-4686-BA96-0FB104BA3C73}"/>
              </a:ext>
            </a:extLst>
          </p:cNvPr>
          <p:cNvSpPr>
            <a:spLocks xmlns:a="http://schemas.openxmlformats.org/drawingml/2006/main" noGrp="1"/>
          </p:cNvSpPr>
          <p:nvPr/>
        </p:nvSpPr>
        <p:spPr>
          <a:xfrm xmlns:a="http://schemas.openxmlformats.org/drawingml/2006/main">
            <a:off x="685800" y="2238375"/>
            <a:ext cx="95250" cy="95250"/>
          </a:xfrm>
          <a:prstGeom xmlns:a="http://schemas.openxmlformats.org/drawingml/2006/main" prst="rect">
            <a:avLst/>
          </a:prstGeom>
          <a:solidFill xmlns:a="http://schemas.openxmlformats.org/drawingml/2006/main">
            <a:srgbClr val="C9924A"/>
          </a:solidFill>
          <a:ln xmlns:a="http://schemas.openxmlformats.org/drawingml/2006/main" w="0">
            <a:noFill/>
            <a:prstDash val="solid"/>
          </a:ln>
        </p:spPr>
      </p:sp>
      <p:sp>
        <p:nvSpPr>
          <p:cNvPr id="7" name="bullet-text-0">
            <a:extLst xmlns:a="http://schemas.openxmlformats.org/drawingml/2006/main">
              <a:ext uri="{FF2B5EF4-FFF2-40B4-BE49-F238E27FC236}">
                <a16:creationId xmlns:a16="http://schemas.microsoft.com/office/drawing/2014/main" id="{5BFAB1BD-63B3-4ADC-99A8-0B1E57C30173}"/>
              </a:ext>
            </a:extLst>
          </p:cNvPr>
          <p:cNvSpPr>
            <a:spLocks xmlns:a="http://schemas.openxmlformats.org/drawingml/2006/main" noGrp="1"/>
          </p:cNvSpPr>
          <p:nvPr/>
        </p:nvSpPr>
        <p:spPr>
          <a:xfrm xmlns:a="http://schemas.openxmlformats.org/drawingml/2006/main">
            <a:off x="952500" y="2143125"/>
            <a:ext cx="9639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2000"/>
              </a:lnSpc>
              <a:buNone/>
              <a:defRPr sz="1725" b="0" i="0">
                <a:solidFill>
                  <a:srgbClr val="D8E0E1"/>
                </a:solidFill>
              </a:defRPr>
            </a:pPr>
            <a:r>
              <a:rPr sz="1725" b="0" i="0">
                <a:solidFill>
                  <a:srgbClr val="D8E0E1"/>
                </a:solidFill>
              </a:rPr>
              <a:t>Explore the supplied community-garden story world.</a:t>
            </a:r>
          </a:p>
        </p:txBody>
      </p:sp>
      <p:sp>
        <p:nvSpPr>
          <p:cNvPr id="8" name="bullet-1">
            <a:extLst xmlns:a="http://schemas.openxmlformats.org/drawingml/2006/main">
              <a:ext uri="{FF2B5EF4-FFF2-40B4-BE49-F238E27FC236}">
                <a16:creationId xmlns:a16="http://schemas.microsoft.com/office/drawing/2014/main" id="{80160E1F-851A-4EFC-8527-625D039495A2}"/>
              </a:ext>
            </a:extLst>
          </p:cNvPr>
          <p:cNvSpPr>
            <a:spLocks xmlns:a="http://schemas.openxmlformats.org/drawingml/2006/main" noGrp="1"/>
          </p:cNvSpPr>
          <p:nvPr/>
        </p:nvSpPr>
        <p:spPr>
          <a:xfrm xmlns:a="http://schemas.openxmlformats.org/drawingml/2006/main">
            <a:off x="685800" y="2943225"/>
            <a:ext cx="95250" cy="95250"/>
          </a:xfrm>
          <a:prstGeom xmlns:a="http://schemas.openxmlformats.org/drawingml/2006/main" prst="rect">
            <a:avLst/>
          </a:prstGeom>
          <a:solidFill xmlns:a="http://schemas.openxmlformats.org/drawingml/2006/main">
            <a:srgbClr val="C9924A"/>
          </a:solidFill>
          <a:ln xmlns:a="http://schemas.openxmlformats.org/drawingml/2006/main" w="0">
            <a:noFill/>
            <a:prstDash val="solid"/>
          </a:ln>
        </p:spPr>
      </p:sp>
      <p:sp>
        <p:nvSpPr>
          <p:cNvPr id="9" name="bullet-text-1">
            <a:extLst xmlns:a="http://schemas.openxmlformats.org/drawingml/2006/main">
              <a:ext uri="{FF2B5EF4-FFF2-40B4-BE49-F238E27FC236}">
                <a16:creationId xmlns:a16="http://schemas.microsoft.com/office/drawing/2014/main" id="{CC52E5B0-3993-4CAA-B931-9E3963371643}"/>
              </a:ext>
            </a:extLst>
          </p:cNvPr>
          <p:cNvSpPr>
            <a:spLocks xmlns:a="http://schemas.openxmlformats.org/drawingml/2006/main" noGrp="1"/>
          </p:cNvSpPr>
          <p:nvPr/>
        </p:nvSpPr>
        <p:spPr>
          <a:xfrm xmlns:a="http://schemas.openxmlformats.org/drawingml/2006/main">
            <a:off x="952500" y="2847975"/>
            <a:ext cx="9639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2000"/>
              </a:lnSpc>
              <a:buNone/>
              <a:defRPr sz="1725" b="0" i="0">
                <a:solidFill>
                  <a:srgbClr val="D8E0E1"/>
                </a:solidFill>
              </a:defRPr>
            </a:pPr>
            <a:r>
              <a:rPr sz="1725" b="0" i="0">
                <a:solidFill>
                  <a:srgbClr val="D8E0E1"/>
                </a:solidFill>
              </a:rPr>
              <a:t>Choose three forms.</a:t>
            </a:r>
          </a:p>
        </p:txBody>
      </p:sp>
      <p:sp>
        <p:nvSpPr>
          <p:cNvPr id="10" name="bullet-2">
            <a:extLst xmlns:a="http://schemas.openxmlformats.org/drawingml/2006/main">
              <a:ext uri="{FF2B5EF4-FFF2-40B4-BE49-F238E27FC236}">
                <a16:creationId xmlns:a16="http://schemas.microsoft.com/office/drawing/2014/main" id="{81CC83B4-04D9-4F43-9AEB-305B8B4D63D3}"/>
              </a:ext>
            </a:extLst>
          </p:cNvPr>
          <p:cNvSpPr>
            <a:spLocks xmlns:a="http://schemas.openxmlformats.org/drawingml/2006/main" noGrp="1"/>
          </p:cNvSpPr>
          <p:nvPr/>
        </p:nvSpPr>
        <p:spPr>
          <a:xfrm xmlns:a="http://schemas.openxmlformats.org/drawingml/2006/main">
            <a:off x="685800" y="3648075"/>
            <a:ext cx="95250" cy="95250"/>
          </a:xfrm>
          <a:prstGeom xmlns:a="http://schemas.openxmlformats.org/drawingml/2006/main" prst="rect">
            <a:avLst/>
          </a:prstGeom>
          <a:solidFill xmlns:a="http://schemas.openxmlformats.org/drawingml/2006/main">
            <a:srgbClr val="C9924A"/>
          </a:solidFill>
          <a:ln xmlns:a="http://schemas.openxmlformats.org/drawingml/2006/main" w="0">
            <a:noFill/>
            <a:prstDash val="solid"/>
          </a:ln>
        </p:spPr>
      </p:sp>
      <p:sp>
        <p:nvSpPr>
          <p:cNvPr id="11" name="bullet-text-2">
            <a:extLst xmlns:a="http://schemas.openxmlformats.org/drawingml/2006/main">
              <a:ext uri="{FF2B5EF4-FFF2-40B4-BE49-F238E27FC236}">
                <a16:creationId xmlns:a16="http://schemas.microsoft.com/office/drawing/2014/main" id="{77665AF0-4E5E-401C-8E32-04C00A3595EA}"/>
              </a:ext>
            </a:extLst>
          </p:cNvPr>
          <p:cNvSpPr>
            <a:spLocks xmlns:a="http://schemas.openxmlformats.org/drawingml/2006/main" noGrp="1"/>
          </p:cNvSpPr>
          <p:nvPr/>
        </p:nvSpPr>
        <p:spPr>
          <a:xfrm xmlns:a="http://schemas.openxmlformats.org/drawingml/2006/main">
            <a:off x="952500" y="3552825"/>
            <a:ext cx="9639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2000"/>
              </a:lnSpc>
              <a:buNone/>
              <a:defRPr sz="1725" b="0" i="0">
                <a:solidFill>
                  <a:srgbClr val="D8E0E1"/>
                </a:solidFill>
              </a:defRPr>
            </a:pPr>
            <a:r>
              <a:rPr sz="1725" b="0" i="0">
                <a:solidFill>
                  <a:srgbClr val="D8E0E1"/>
                </a:solidFill>
              </a:rPr>
              <a:t>For each: define filmmaker presence, evidence, scene strategy, image, sound, and ethical pressure.</a:t>
            </a:r>
          </a:p>
        </p:txBody>
      </p:sp>
      <p:sp>
        <p:nvSpPr>
          <p:cNvPr id="12" name="bullet-3">
            <a:extLst xmlns:a="http://schemas.openxmlformats.org/drawingml/2006/main">
              <a:ext uri="{FF2B5EF4-FFF2-40B4-BE49-F238E27FC236}">
                <a16:creationId xmlns:a16="http://schemas.microsoft.com/office/drawing/2014/main" id="{5C45C6B1-DDA5-4177-A807-C73528915655}"/>
              </a:ext>
            </a:extLst>
          </p:cNvPr>
          <p:cNvSpPr>
            <a:spLocks xmlns:a="http://schemas.openxmlformats.org/drawingml/2006/main" noGrp="1"/>
          </p:cNvSpPr>
          <p:nvPr/>
        </p:nvSpPr>
        <p:spPr>
          <a:xfrm xmlns:a="http://schemas.openxmlformats.org/drawingml/2006/main">
            <a:off x="685800" y="4352925"/>
            <a:ext cx="95250" cy="95250"/>
          </a:xfrm>
          <a:prstGeom xmlns:a="http://schemas.openxmlformats.org/drawingml/2006/main" prst="rect">
            <a:avLst/>
          </a:prstGeom>
          <a:solidFill xmlns:a="http://schemas.openxmlformats.org/drawingml/2006/main">
            <a:srgbClr val="C9924A"/>
          </a:solidFill>
          <a:ln xmlns:a="http://schemas.openxmlformats.org/drawingml/2006/main" w="0">
            <a:noFill/>
            <a:prstDash val="solid"/>
          </a:ln>
        </p:spPr>
      </p:sp>
      <p:sp>
        <p:nvSpPr>
          <p:cNvPr id="13" name="bullet-text-3">
            <a:extLst xmlns:a="http://schemas.openxmlformats.org/drawingml/2006/main">
              <a:ext uri="{FF2B5EF4-FFF2-40B4-BE49-F238E27FC236}">
                <a16:creationId xmlns:a16="http://schemas.microsoft.com/office/drawing/2014/main" id="{628CB1B2-4B29-44B2-AB2A-2C903C98BB5B}"/>
              </a:ext>
            </a:extLst>
          </p:cNvPr>
          <p:cNvSpPr>
            <a:spLocks xmlns:a="http://schemas.openxmlformats.org/drawingml/2006/main" noGrp="1"/>
          </p:cNvSpPr>
          <p:nvPr/>
        </p:nvSpPr>
        <p:spPr>
          <a:xfrm xmlns:a="http://schemas.openxmlformats.org/drawingml/2006/main">
            <a:off x="952500" y="4257675"/>
            <a:ext cx="9639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2000"/>
              </a:lnSpc>
              <a:buNone/>
              <a:defRPr sz="1725" b="0" i="0">
                <a:solidFill>
                  <a:srgbClr val="D8E0E1"/>
                </a:solidFill>
              </a:defRPr>
            </a:pPr>
            <a:r>
              <a:rPr sz="1725" b="0" i="0">
                <a:solidFill>
                  <a:srgbClr val="D8E0E1"/>
                </a:solidFill>
              </a:rPr>
              <a:t>Compare two versions side by side.</a:t>
            </a:r>
          </a:p>
        </p:txBody>
      </p:sp>
      <p:sp>
        <p:nvSpPr>
          <p:cNvPr id="14" name="bullet-4">
            <a:extLst xmlns:a="http://schemas.openxmlformats.org/drawingml/2006/main">
              <a:ext uri="{FF2B5EF4-FFF2-40B4-BE49-F238E27FC236}">
                <a16:creationId xmlns:a16="http://schemas.microsoft.com/office/drawing/2014/main" id="{8719F81A-2ABB-4247-A840-95696CA1847B}"/>
              </a:ext>
            </a:extLst>
          </p:cNvPr>
          <p:cNvSpPr>
            <a:spLocks xmlns:a="http://schemas.openxmlformats.org/drawingml/2006/main" noGrp="1"/>
          </p:cNvSpPr>
          <p:nvPr/>
        </p:nvSpPr>
        <p:spPr>
          <a:xfrm xmlns:a="http://schemas.openxmlformats.org/drawingml/2006/main">
            <a:off x="685800" y="5057775"/>
            <a:ext cx="95250" cy="95250"/>
          </a:xfrm>
          <a:prstGeom xmlns:a="http://schemas.openxmlformats.org/drawingml/2006/main" prst="rect">
            <a:avLst/>
          </a:prstGeom>
          <a:solidFill xmlns:a="http://schemas.openxmlformats.org/drawingml/2006/main">
            <a:srgbClr val="C9924A"/>
          </a:solidFill>
          <a:ln xmlns:a="http://schemas.openxmlformats.org/drawingml/2006/main" w="0">
            <a:noFill/>
            <a:prstDash val="solid"/>
          </a:ln>
        </p:spPr>
      </p:sp>
      <p:sp>
        <p:nvSpPr>
          <p:cNvPr id="15" name="bullet-text-4">
            <a:extLst xmlns:a="http://schemas.openxmlformats.org/drawingml/2006/main">
              <a:ext uri="{FF2B5EF4-FFF2-40B4-BE49-F238E27FC236}">
                <a16:creationId xmlns:a16="http://schemas.microsoft.com/office/drawing/2014/main" id="{18592D69-C120-45A8-A20A-4BF41AE0B551}"/>
              </a:ext>
            </a:extLst>
          </p:cNvPr>
          <p:cNvSpPr>
            <a:spLocks xmlns:a="http://schemas.openxmlformats.org/drawingml/2006/main" noGrp="1"/>
          </p:cNvSpPr>
          <p:nvPr/>
        </p:nvSpPr>
        <p:spPr>
          <a:xfrm xmlns:a="http://schemas.openxmlformats.org/drawingml/2006/main">
            <a:off x="952500" y="4962525"/>
            <a:ext cx="9639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2000"/>
              </a:lnSpc>
              <a:buNone/>
              <a:defRPr sz="1725" b="0" i="0">
                <a:solidFill>
                  <a:srgbClr val="D8E0E1"/>
                </a:solidFill>
              </a:defRPr>
            </a:pPr>
            <a:r>
              <a:rPr sz="1725" b="0" i="0">
                <a:solidFill>
                  <a:srgbClr val="D8E0E1"/>
                </a:solidFill>
              </a:rPr>
              <a:t>Export a non-scored reflection summary.</a:t>
            </a:r>
          </a:p>
        </p:txBody>
      </p:sp>
      <p:sp>
        <p:nvSpPr>
          <p:cNvPr id="16" name="">
            <a:extLst xmlns:a="http://schemas.openxmlformats.org/drawingml/2006/main">
              <a:ext uri="{FF2B5EF4-FFF2-40B4-BE49-F238E27FC236}">
                <a16:creationId xmlns:a16="http://schemas.microsoft.com/office/drawing/2014/main" id="{AEE32884-9810-4900-8416-354D1B387D62}"/>
              </a:ext>
            </a:extLst>
          </p:cNvPr>
          <p:cNvSpPr>
            <a:spLocks xmlns:a="http://schemas.openxmlformats.org/drawingml/2006/main" noGrp="1"/>
          </p:cNvSpPr>
          <p:nvPr/>
        </p:nvSpPr>
        <p:spPr>
          <a:xfrm xmlns:a="http://schemas.openxmlformats.org/drawingml/2006/main">
            <a:off x="1238250" y="5762625"/>
            <a:ext cx="9525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lnSpc>
                <a:spcPct val="105000"/>
              </a:lnSpc>
              <a:buNone/>
              <a:defRPr sz="1800" b="0" i="1">
                <a:solidFill>
                  <a:srgbClr val="C9924A"/>
                </a:solidFill>
              </a:defRPr>
            </a:pPr>
            <a:r>
              <a:rPr sz="1800" b="0" i="1">
                <a:solidFill>
                  <a:srgbClr val="C9924A"/>
                </a:solidFill>
              </a:rPr>
              <a:t>The test is not ‘Which version is best?’ It is ‘What film does each set of choices make possible?’</a:t>
            </a:r>
          </a:p>
        </p:txBody>
      </p:sp>
    </p:spTree>
    <p:extLst>
      <p:ext uri="{BB962C8B-B14F-4D97-AF65-F5344CB8AC3E}">
        <p14:creationId xmlns:p14="http://schemas.microsoft.com/office/powerpoint/2010/main" val="364278633"/>
      </p:ext>
    </p:extLst>
  </p:cSld>
</p:sld>
</file>

<file path=ppt/slides/slide27.xml><?xml version="1.0" encoding="utf-8"?>
<p:sld xmlns:p="http://schemas.openxmlformats.org/presentationml/2006/main">
  <p:cSld>
    <p:bg>
      <p:bgPr>
        <a:solidFill xmlns:a="http://schemas.openxmlformats.org/drawingml/2006/main">
          <a:srgbClr val="081116"/>
        </a:solidFill>
      </p:bgPr>
    </p:bg>
    <p:spTree>
      <p:nvGrpSpPr>
        <p:cNvPr id="1" name=""/>
        <p:cNvGrpSpPr/>
        <p:nvPr/>
      </p:nvGrpSpPr>
      <p:grpSpPr>
        <a:xfrm xmlns:a="http://schemas.openxmlformats.org/drawingml/2006/main"/>
      </p:grpSpPr>
      <p:sp>
        <p:nvSpPr>
          <p:cNvPr id="12" name="accent-27">
            <a:extLst xmlns:a="http://schemas.openxmlformats.org/drawingml/2006/main">
              <a:ext uri="{FF2B5EF4-FFF2-40B4-BE49-F238E27FC236}">
                <a16:creationId xmlns:a16="http://schemas.microsoft.com/office/drawing/2014/main" id="{B5F886B3-1E8F-4A75-BC37-0344562D59D1}"/>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C9924A"/>
          </a:solidFill>
          <a:ln xmlns:a="http://schemas.openxmlformats.org/drawingml/2006/main" w="0">
            <a:noFill/>
            <a:prstDash val="solid"/>
          </a:ln>
        </p:spPr>
      </p:sp>
      <p:sp>
        <p:nvSpPr>
          <p:cNvPr id="2" name="eyebrow-27">
            <a:extLst xmlns:a="http://schemas.openxmlformats.org/drawingml/2006/main">
              <a:ext uri="{FF2B5EF4-FFF2-40B4-BE49-F238E27FC236}">
                <a16:creationId xmlns:a16="http://schemas.microsoft.com/office/drawing/2014/main" id="{26DF560C-E7CE-4459-B17C-08582BAE3D9F}"/>
              </a:ext>
            </a:extLst>
          </p:cNvPr>
          <p:cNvSpPr>
            <a:spLocks xmlns:a="http://schemas.openxmlformats.org/drawingml/2006/main" noGrp="1"/>
          </p:cNvSpPr>
          <p:nvPr/>
        </p:nvSpPr>
        <p:spPr>
          <a:xfrm xmlns:a="http://schemas.openxmlformats.org/drawingml/2006/main">
            <a:off x="685800" y="36195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1200" b="1" i="0">
                <a:solidFill>
                  <a:srgbClr val="C9924A"/>
                </a:solidFill>
              </a:defRPr>
            </a:pPr>
            <a:r>
              <a:rPr sz="1200" b="1" i="0">
                <a:solidFill>
                  <a:srgbClr val="C9924A"/>
                </a:solidFill>
              </a:rPr>
              <a:t>APPLY THE LEARNING</a:t>
            </a:r>
          </a:p>
        </p:txBody>
      </p:sp>
      <p:sp>
        <p:nvSpPr>
          <p:cNvPr id="3" name="section-27">
            <a:extLst xmlns:a="http://schemas.openxmlformats.org/drawingml/2006/main">
              <a:ext uri="{FF2B5EF4-FFF2-40B4-BE49-F238E27FC236}">
                <a16:creationId xmlns:a16="http://schemas.microsoft.com/office/drawing/2014/main" id="{4F17A2C6-69AD-49EC-A42D-4103C4002B28}"/>
              </a:ext>
            </a:extLst>
          </p:cNvPr>
          <p:cNvSpPr>
            <a:spLocks xmlns:a="http://schemas.openxmlformats.org/drawingml/2006/main" noGrp="1"/>
          </p:cNvSpPr>
          <p:nvPr/>
        </p:nvSpPr>
        <p:spPr>
          <a:xfrm xmlns:a="http://schemas.openxmlformats.org/drawingml/2006/main">
            <a:off x="685800" y="6429375"/>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1200" b="0" i="0">
                <a:solidFill>
                  <a:srgbClr val="9FB0B9"/>
                </a:solidFill>
              </a:defRPr>
            </a:pPr>
            <a:r>
              <a:rPr sz="1200" b="0" i="0">
                <a:solidFill>
                  <a:srgbClr val="9FB0B9"/>
                </a:solidFill>
              </a:rPr>
              <a:t>YOUR OWN DOCUMENTARY</a:t>
            </a:r>
          </a:p>
        </p:txBody>
      </p:sp>
      <p:sp>
        <p:nvSpPr>
          <p:cNvPr id="4" name="number-27">
            <a:extLst xmlns:a="http://schemas.openxmlformats.org/drawingml/2006/main">
              <a:ext uri="{FF2B5EF4-FFF2-40B4-BE49-F238E27FC236}">
                <a16:creationId xmlns:a16="http://schemas.microsoft.com/office/drawing/2014/main" id="{518FADFE-67F4-45D8-BFAB-B100A6DF0705}"/>
              </a:ext>
            </a:extLst>
          </p:cNvPr>
          <p:cNvSpPr>
            <a:spLocks xmlns:a="http://schemas.openxmlformats.org/drawingml/2006/main" noGrp="1"/>
          </p:cNvSpPr>
          <p:nvPr/>
        </p:nvSpPr>
        <p:spPr>
          <a:xfrm xmlns:a="http://schemas.openxmlformats.org/drawingml/2006/main">
            <a:off x="11049000" y="640080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lnSpc>
                <a:spcPct val="105000"/>
              </a:lnSpc>
              <a:buNone/>
              <a:defRPr sz="1200" b="1" i="0">
                <a:solidFill>
                  <a:srgbClr val="C9924A"/>
                </a:solidFill>
              </a:defRPr>
            </a:pPr>
            <a:r>
              <a:rPr sz="1200" b="1" i="0">
                <a:solidFill>
                  <a:srgbClr val="C9924A"/>
                </a:solidFill>
              </a:rPr>
              <a:t>27</a:t>
            </a:r>
          </a:p>
        </p:txBody>
      </p:sp>
      <p:sp>
        <p:nvSpPr>
          <p:cNvPr id="5" name="slide-title">
            <a:extLst xmlns:a="http://schemas.openxmlformats.org/drawingml/2006/main">
              <a:ext uri="{FF2B5EF4-FFF2-40B4-BE49-F238E27FC236}">
                <a16:creationId xmlns:a16="http://schemas.microsoft.com/office/drawing/2014/main" id="{96E7EB28-59F1-4C37-AD41-A2A11FCFBADA}"/>
              </a:ext>
            </a:extLst>
          </p:cNvPr>
          <p:cNvSpPr>
            <a:spLocks xmlns:a="http://schemas.openxmlformats.org/drawingml/2006/main" noGrp="1"/>
          </p:cNvSpPr>
          <p:nvPr/>
        </p:nvSpPr>
        <p:spPr>
          <a:xfrm xmlns:a="http://schemas.openxmlformats.org/drawingml/2006/main">
            <a:off x="685800" y="857250"/>
            <a:ext cx="9334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94000"/>
              </a:lnSpc>
              <a:buNone/>
              <a:defRPr sz="3750" b="1" i="0">
                <a:solidFill>
                  <a:srgbClr val="F2EFE8"/>
                </a:solidFill>
              </a:defRPr>
            </a:pPr>
            <a:r>
              <a:rPr sz="3750" b="1" i="0">
                <a:solidFill>
                  <a:srgbClr val="F2EFE8"/>
                </a:solidFill>
              </a:rPr>
              <a:t>Choose provisionally—not permanently</a:t>
            </a:r>
          </a:p>
        </p:txBody>
      </p:sp>
      <p:sp>
        <p:nvSpPr>
          <p:cNvPr id="6" name="">
            <a:extLst xmlns:a="http://schemas.openxmlformats.org/drawingml/2006/main">
              <a:ext uri="{FF2B5EF4-FFF2-40B4-BE49-F238E27FC236}">
                <a16:creationId xmlns:a16="http://schemas.microsoft.com/office/drawing/2014/main" id="{7ED93D66-FF7B-46BB-AC60-56C44DEA1E26}"/>
              </a:ext>
            </a:extLst>
          </p:cNvPr>
          <p:cNvSpPr>
            <a:spLocks xmlns:a="http://schemas.openxmlformats.org/drawingml/2006/main" noGrp="1"/>
          </p:cNvSpPr>
          <p:nvPr/>
        </p:nvSpPr>
        <p:spPr>
          <a:xfrm xmlns:a="http://schemas.openxmlformats.org/drawingml/2006/main">
            <a:off x="685800" y="22860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1350" b="1" i="0">
                <a:solidFill>
                  <a:srgbClr val="C9924A"/>
                </a:solidFill>
              </a:defRPr>
            </a:pPr>
            <a:r>
              <a:rPr sz="1350" b="1" i="0">
                <a:solidFill>
                  <a:srgbClr val="C9924A"/>
                </a:solidFill>
              </a:rPr>
              <a:t>PRIMARY FORM</a:t>
            </a:r>
          </a:p>
        </p:txBody>
      </p:sp>
      <p:sp>
        <p:nvSpPr>
          <p:cNvPr id="7" name="">
            <a:extLst xmlns:a="http://schemas.openxmlformats.org/drawingml/2006/main">
              <a:ext uri="{FF2B5EF4-FFF2-40B4-BE49-F238E27FC236}">
                <a16:creationId xmlns:a16="http://schemas.microsoft.com/office/drawing/2014/main" id="{233F438D-FC78-4815-9077-9B9920FD5FE8}"/>
              </a:ext>
            </a:extLst>
          </p:cNvPr>
          <p:cNvSpPr>
            <a:spLocks xmlns:a="http://schemas.openxmlformats.org/drawingml/2006/main" noGrp="1"/>
          </p:cNvSpPr>
          <p:nvPr/>
        </p:nvSpPr>
        <p:spPr>
          <a:xfrm xmlns:a="http://schemas.openxmlformats.org/drawingml/2006/main">
            <a:off x="685800" y="2743200"/>
            <a:ext cx="44767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2250" b="0" i="1">
                <a:solidFill>
                  <a:srgbClr val="F2EFE8"/>
                </a:solidFill>
              </a:defRPr>
            </a:pPr>
            <a:r>
              <a:rPr sz="2250" b="0" i="1">
                <a:solidFill>
                  <a:srgbClr val="F2EFE8"/>
                </a:solidFill>
              </a:rPr>
              <a:t>Which form best serves the story you can actually access and film?</a:t>
            </a:r>
          </a:p>
        </p:txBody>
      </p:sp>
      <p:sp>
        <p:nvSpPr>
          <p:cNvPr id="8" name="choice-rule">
            <a:extLst xmlns:a="http://schemas.openxmlformats.org/drawingml/2006/main">
              <a:ext uri="{FF2B5EF4-FFF2-40B4-BE49-F238E27FC236}">
                <a16:creationId xmlns:a16="http://schemas.microsoft.com/office/drawing/2014/main" id="{87ACA195-C418-414B-8129-B8DB94F90F6C}"/>
              </a:ext>
            </a:extLst>
          </p:cNvPr>
          <p:cNvSpPr>
            <a:spLocks xmlns:a="http://schemas.openxmlformats.org/drawingml/2006/main" noGrp="1"/>
          </p:cNvSpPr>
          <p:nvPr/>
        </p:nvSpPr>
        <p:spPr>
          <a:xfrm xmlns:a="http://schemas.openxmlformats.org/drawingml/2006/main">
            <a:off x="6048375" y="2095500"/>
            <a:ext cx="28575" cy="3143250"/>
          </a:xfrm>
          <a:prstGeom xmlns:a="http://schemas.openxmlformats.org/drawingml/2006/main" prst="rect">
            <a:avLst/>
          </a:prstGeom>
          <a:solidFill xmlns:a="http://schemas.openxmlformats.org/drawingml/2006/main">
            <a:srgbClr val="2D6675"/>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D2AEC250-2265-4C9A-93AE-B5EC8B58B4CA}"/>
              </a:ext>
            </a:extLst>
          </p:cNvPr>
          <p:cNvSpPr>
            <a:spLocks xmlns:a="http://schemas.openxmlformats.org/drawingml/2006/main" noGrp="1"/>
          </p:cNvSpPr>
          <p:nvPr/>
        </p:nvSpPr>
        <p:spPr>
          <a:xfrm xmlns:a="http://schemas.openxmlformats.org/drawingml/2006/main">
            <a:off x="6667500" y="2286000"/>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1350" b="1" i="0">
                <a:solidFill>
                  <a:srgbClr val="C9924A"/>
                </a:solidFill>
              </a:defRPr>
            </a:pPr>
            <a:r>
              <a:rPr sz="1350" b="1" i="0">
                <a:solidFill>
                  <a:srgbClr val="C9924A"/>
                </a:solidFill>
              </a:rPr>
              <a:t>ALTERNATIVE FORM</a:t>
            </a:r>
          </a:p>
        </p:txBody>
      </p:sp>
      <p:sp>
        <p:nvSpPr>
          <p:cNvPr id="10" name="">
            <a:extLst xmlns:a="http://schemas.openxmlformats.org/drawingml/2006/main">
              <a:ext uri="{FF2B5EF4-FFF2-40B4-BE49-F238E27FC236}">
                <a16:creationId xmlns:a16="http://schemas.microsoft.com/office/drawing/2014/main" id="{AE424F2E-1734-4C25-9BEC-39D43953ECA6}"/>
              </a:ext>
            </a:extLst>
          </p:cNvPr>
          <p:cNvSpPr>
            <a:spLocks xmlns:a="http://schemas.openxmlformats.org/drawingml/2006/main" noGrp="1"/>
          </p:cNvSpPr>
          <p:nvPr/>
        </p:nvSpPr>
        <p:spPr>
          <a:xfrm xmlns:a="http://schemas.openxmlformats.org/drawingml/2006/main">
            <a:off x="6667500" y="2743200"/>
            <a:ext cx="4476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2250" b="0" i="1">
                <a:solidFill>
                  <a:srgbClr val="F2EFE8"/>
                </a:solidFill>
              </a:defRPr>
            </a:pPr>
            <a:r>
              <a:rPr sz="2250" b="0" i="1">
                <a:solidFill>
                  <a:srgbClr val="F2EFE8"/>
                </a:solidFill>
              </a:rPr>
              <a:t>What would another form reveal—or protect—that your first choice might miss?</a:t>
            </a:r>
          </a:p>
        </p:txBody>
      </p:sp>
      <p:sp>
        <p:nvSpPr>
          <p:cNvPr id="11" name="">
            <a:extLst xmlns:a="http://schemas.openxmlformats.org/drawingml/2006/main">
              <a:ext uri="{FF2B5EF4-FFF2-40B4-BE49-F238E27FC236}">
                <a16:creationId xmlns:a16="http://schemas.microsoft.com/office/drawing/2014/main" id="{5B6D9DA5-CB12-48DF-AC30-26927B54E99D}"/>
              </a:ext>
            </a:extLst>
          </p:cNvPr>
          <p:cNvSpPr>
            <a:spLocks xmlns:a="http://schemas.openxmlformats.org/drawingml/2006/main" noGrp="1"/>
          </p:cNvSpPr>
          <p:nvPr/>
        </p:nvSpPr>
        <p:spPr>
          <a:xfrm xmlns:a="http://schemas.openxmlformats.org/drawingml/2006/main">
            <a:off x="685800" y="5600700"/>
            <a:ext cx="1028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lnSpc>
                <a:spcPct val="105000"/>
              </a:lnSpc>
              <a:buNone/>
              <a:defRPr sz="1725" b="1" i="0">
                <a:solidFill>
                  <a:srgbClr val="D8E0E1"/>
                </a:solidFill>
              </a:defRPr>
            </a:pPr>
            <a:r>
              <a:rPr sz="1725" b="1" i="0">
                <a:solidFill>
                  <a:srgbClr val="D8E0E1"/>
                </a:solidFill>
              </a:rPr>
              <a:t>Name the access test or small experiment that will help you decide.</a:t>
            </a:r>
          </a:p>
        </p:txBody>
      </p:sp>
    </p:spTree>
    <p:extLst>
      <p:ext uri="{BB962C8B-B14F-4D97-AF65-F5344CB8AC3E}">
        <p14:creationId xmlns:p14="http://schemas.microsoft.com/office/powerpoint/2010/main" val="1288540562"/>
      </p:ext>
    </p:extLst>
  </p:cSld>
</p:sld>
</file>

<file path=ppt/slides/slide28.xml><?xml version="1.0" encoding="utf-8"?>
<p:sld xmlns:p="http://schemas.openxmlformats.org/presentationml/2006/main">
  <p:cSld>
    <p:bg>
      <p:bgPr>
        <a:solidFill xmlns:a="http://schemas.openxmlformats.org/drawingml/2006/main">
          <a:srgbClr val="081116"/>
        </a:solidFill>
      </p:bgPr>
    </p:bg>
    <p:spTree>
      <p:nvGrpSpPr>
        <p:cNvPr id="1" name=""/>
        <p:cNvGrpSpPr/>
        <p:nvPr/>
      </p:nvGrpSpPr>
      <p:grpSpPr>
        <a:xfrm xmlns:a="http://schemas.openxmlformats.org/drawingml/2006/main"/>
      </p:grpSpPr>
      <p:sp>
        <p:nvSpPr>
          <p:cNvPr id="14" name="accent-28">
            <a:extLst xmlns:a="http://schemas.openxmlformats.org/drawingml/2006/main">
              <a:ext uri="{FF2B5EF4-FFF2-40B4-BE49-F238E27FC236}">
                <a16:creationId xmlns:a16="http://schemas.microsoft.com/office/drawing/2014/main" id="{7F8C3693-8D5C-4037-A131-3ABA5341F336}"/>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C9924A"/>
          </a:solidFill>
          <a:ln xmlns:a="http://schemas.openxmlformats.org/drawingml/2006/main" w="0">
            <a:noFill/>
            <a:prstDash val="solid"/>
          </a:ln>
        </p:spPr>
      </p:sp>
      <p:sp>
        <p:nvSpPr>
          <p:cNvPr id="2" name="eyebrow-28">
            <a:extLst xmlns:a="http://schemas.openxmlformats.org/drawingml/2006/main">
              <a:ext uri="{FF2B5EF4-FFF2-40B4-BE49-F238E27FC236}">
                <a16:creationId xmlns:a16="http://schemas.microsoft.com/office/drawing/2014/main" id="{CB1F9F45-A4A9-4011-9DA0-CBC29116FE7D}"/>
              </a:ext>
            </a:extLst>
          </p:cNvPr>
          <p:cNvSpPr>
            <a:spLocks xmlns:a="http://schemas.openxmlformats.org/drawingml/2006/main" noGrp="1"/>
          </p:cNvSpPr>
          <p:nvPr/>
        </p:nvSpPr>
        <p:spPr>
          <a:xfrm xmlns:a="http://schemas.openxmlformats.org/drawingml/2006/main">
            <a:off x="685800" y="36195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1200" b="1" i="0">
                <a:solidFill>
                  <a:srgbClr val="C9924A"/>
                </a:solidFill>
              </a:defRPr>
            </a:pPr>
            <a:r>
              <a:rPr sz="1200" b="1" i="0">
                <a:solidFill>
                  <a:srgbClr val="C9924A"/>
                </a:solidFill>
              </a:rPr>
              <a:t>RETURN TO WHOLENESS</a:t>
            </a:r>
          </a:p>
        </p:txBody>
      </p:sp>
      <p:sp>
        <p:nvSpPr>
          <p:cNvPr id="3" name="section-28">
            <a:extLst xmlns:a="http://schemas.openxmlformats.org/drawingml/2006/main">
              <a:ext uri="{FF2B5EF4-FFF2-40B4-BE49-F238E27FC236}">
                <a16:creationId xmlns:a16="http://schemas.microsoft.com/office/drawing/2014/main" id="{C863606E-7B17-4A03-8D6C-6839893ADA45}"/>
              </a:ext>
            </a:extLst>
          </p:cNvPr>
          <p:cNvSpPr>
            <a:spLocks xmlns:a="http://schemas.openxmlformats.org/drawingml/2006/main" noGrp="1"/>
          </p:cNvSpPr>
          <p:nvPr/>
        </p:nvSpPr>
        <p:spPr>
          <a:xfrm xmlns:a="http://schemas.openxmlformats.org/drawingml/2006/main">
            <a:off x="685800" y="6429375"/>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1200" b="0" i="0">
                <a:solidFill>
                  <a:srgbClr val="9FB0B9"/>
                </a:solidFill>
              </a:defRPr>
            </a:pPr>
            <a:r>
              <a:rPr sz="1200" b="0" i="0">
                <a:solidFill>
                  <a:srgbClr val="9FB0B9"/>
                </a:solidFill>
              </a:rPr>
              <a:t>CLOSING REFLECTION</a:t>
            </a:r>
          </a:p>
        </p:txBody>
      </p:sp>
      <p:sp>
        <p:nvSpPr>
          <p:cNvPr id="4" name="number-28">
            <a:extLst xmlns:a="http://schemas.openxmlformats.org/drawingml/2006/main">
              <a:ext uri="{FF2B5EF4-FFF2-40B4-BE49-F238E27FC236}">
                <a16:creationId xmlns:a16="http://schemas.microsoft.com/office/drawing/2014/main" id="{3DAEEE6B-8C07-44F4-A481-B462B97B1122}"/>
              </a:ext>
            </a:extLst>
          </p:cNvPr>
          <p:cNvSpPr>
            <a:spLocks xmlns:a="http://schemas.openxmlformats.org/drawingml/2006/main" noGrp="1"/>
          </p:cNvSpPr>
          <p:nvPr/>
        </p:nvSpPr>
        <p:spPr>
          <a:xfrm xmlns:a="http://schemas.openxmlformats.org/drawingml/2006/main">
            <a:off x="11049000" y="6400800"/>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lnSpc>
                <a:spcPct val="105000"/>
              </a:lnSpc>
              <a:buNone/>
              <a:defRPr sz="1200" b="1" i="0">
                <a:solidFill>
                  <a:srgbClr val="C9924A"/>
                </a:solidFill>
              </a:defRPr>
            </a:pPr>
            <a:r>
              <a:rPr sz="1200" b="1" i="0">
                <a:solidFill>
                  <a:srgbClr val="C9924A"/>
                </a:solidFill>
              </a:rPr>
              <a:t>28</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0eb0774eb1f64022"/>
          <a:srcRect xmlns:a="http://schemas.openxmlformats.org/drawingml/2006/main" l="24674" t="0" r="24674" b="0"/>
          <a:stretch xmlns:a="http://schemas.openxmlformats.org/drawingml/2006/main">
            <a:fillRect l="0" t="0" r="0" b="0"/>
          </a:stretch>
        </p:blipFill>
        <p:spPr>
          <a:xfrm xmlns:a="http://schemas.openxmlformats.org/drawingml/2006/main">
            <a:off x="6705600" y="685800"/>
            <a:ext cx="4800600" cy="5334000"/>
          </a:xfrm>
          <a:prstGeom xmlns:a="http://schemas.openxmlformats.org/drawingml/2006/main" prst="rect">
            <a:avLst/>
          </a:prstGeom>
        </p:spPr>
      </p:pic>
      <p:sp>
        <p:nvSpPr>
          <p:cNvPr id="6" name="slide-title">
            <a:extLst xmlns:a="http://schemas.openxmlformats.org/drawingml/2006/main">
              <a:ext uri="{FF2B5EF4-FFF2-40B4-BE49-F238E27FC236}">
                <a16:creationId xmlns:a16="http://schemas.microsoft.com/office/drawing/2014/main" id="{4C149CFF-32D1-40E0-B4FF-D597C3A951C2}"/>
              </a:ext>
            </a:extLst>
          </p:cNvPr>
          <p:cNvSpPr>
            <a:spLocks xmlns:a="http://schemas.openxmlformats.org/drawingml/2006/main" noGrp="1"/>
          </p:cNvSpPr>
          <p:nvPr/>
        </p:nvSpPr>
        <p:spPr>
          <a:xfrm xmlns:a="http://schemas.openxmlformats.org/drawingml/2006/main">
            <a:off x="685800" y="952500"/>
            <a:ext cx="53340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94000"/>
              </a:lnSpc>
              <a:buNone/>
              <a:defRPr sz="3900" b="1" i="0">
                <a:solidFill>
                  <a:srgbClr val="F2EFE8"/>
                </a:solidFill>
              </a:defRPr>
            </a:pPr>
            <a:r>
              <a:rPr sz="3900" b="1" i="0">
                <a:solidFill>
                  <a:srgbClr val="F2EFE8"/>
                </a:solidFill>
              </a:rPr>
              <a:t>Where is the film now?</a:t>
            </a:r>
          </a:p>
        </p:txBody>
      </p:sp>
      <p:sp>
        <p:nvSpPr>
          <p:cNvPr id="7" name="bullet-0">
            <a:extLst xmlns:a="http://schemas.openxmlformats.org/drawingml/2006/main">
              <a:ext uri="{FF2B5EF4-FFF2-40B4-BE49-F238E27FC236}">
                <a16:creationId xmlns:a16="http://schemas.microsoft.com/office/drawing/2014/main" id="{4F1CD6DA-57AB-4FC8-BA91-64981A21ED22}"/>
              </a:ext>
            </a:extLst>
          </p:cNvPr>
          <p:cNvSpPr>
            <a:spLocks xmlns:a="http://schemas.openxmlformats.org/drawingml/2006/main" noGrp="1"/>
          </p:cNvSpPr>
          <p:nvPr/>
        </p:nvSpPr>
        <p:spPr>
          <a:xfrm xmlns:a="http://schemas.openxmlformats.org/drawingml/2006/main">
            <a:off x="685800" y="2667000"/>
            <a:ext cx="95250" cy="95250"/>
          </a:xfrm>
          <a:prstGeom xmlns:a="http://schemas.openxmlformats.org/drawingml/2006/main" prst="rect">
            <a:avLst/>
          </a:prstGeom>
          <a:solidFill xmlns:a="http://schemas.openxmlformats.org/drawingml/2006/main">
            <a:srgbClr val="C9924A"/>
          </a:solidFill>
          <a:ln xmlns:a="http://schemas.openxmlformats.org/drawingml/2006/main" w="0">
            <a:noFill/>
            <a:prstDash val="solid"/>
          </a:ln>
        </p:spPr>
      </p:sp>
      <p:sp>
        <p:nvSpPr>
          <p:cNvPr id="8" name="bullet-text-0">
            <a:extLst xmlns:a="http://schemas.openxmlformats.org/drawingml/2006/main">
              <a:ext uri="{FF2B5EF4-FFF2-40B4-BE49-F238E27FC236}">
                <a16:creationId xmlns:a16="http://schemas.microsoft.com/office/drawing/2014/main" id="{D5DDB477-B40C-4882-8B2E-DD9B37256A7C}"/>
              </a:ext>
            </a:extLst>
          </p:cNvPr>
          <p:cNvSpPr>
            <a:spLocks xmlns:a="http://schemas.openxmlformats.org/drawingml/2006/main" noGrp="1"/>
          </p:cNvSpPr>
          <p:nvPr/>
        </p:nvSpPr>
        <p:spPr>
          <a:xfrm xmlns:a="http://schemas.openxmlformats.org/drawingml/2006/main">
            <a:off x="952500" y="2571750"/>
            <a:ext cx="50673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2000"/>
              </a:lnSpc>
              <a:buNone/>
              <a:defRPr sz="1875" b="0" i="0">
                <a:solidFill>
                  <a:srgbClr val="D8E0E1"/>
                </a:solidFill>
              </a:defRPr>
            </a:pPr>
            <a:r>
              <a:rPr sz="1875" b="0" i="0">
                <a:solidFill>
                  <a:srgbClr val="D8E0E1"/>
                </a:solidFill>
              </a:rPr>
              <a:t>Which form best serves the story?</a:t>
            </a:r>
          </a:p>
        </p:txBody>
      </p:sp>
      <p:sp>
        <p:nvSpPr>
          <p:cNvPr id="9" name="bullet-1">
            <a:extLst xmlns:a="http://schemas.openxmlformats.org/drawingml/2006/main">
              <a:ext uri="{FF2B5EF4-FFF2-40B4-BE49-F238E27FC236}">
                <a16:creationId xmlns:a16="http://schemas.microsoft.com/office/drawing/2014/main" id="{C910D3B8-47CC-4301-9DAA-4A4AB579C938}"/>
              </a:ext>
            </a:extLst>
          </p:cNvPr>
          <p:cNvSpPr>
            <a:spLocks xmlns:a="http://schemas.openxmlformats.org/drawingml/2006/main" noGrp="1"/>
          </p:cNvSpPr>
          <p:nvPr/>
        </p:nvSpPr>
        <p:spPr>
          <a:xfrm xmlns:a="http://schemas.openxmlformats.org/drawingml/2006/main">
            <a:off x="685800" y="3543300"/>
            <a:ext cx="95250" cy="95250"/>
          </a:xfrm>
          <a:prstGeom xmlns:a="http://schemas.openxmlformats.org/drawingml/2006/main" prst="rect">
            <a:avLst/>
          </a:prstGeom>
          <a:solidFill xmlns:a="http://schemas.openxmlformats.org/drawingml/2006/main">
            <a:srgbClr val="C9924A"/>
          </a:solidFill>
          <a:ln xmlns:a="http://schemas.openxmlformats.org/drawingml/2006/main" w="0">
            <a:noFill/>
            <a:prstDash val="solid"/>
          </a:ln>
        </p:spPr>
      </p:sp>
      <p:sp>
        <p:nvSpPr>
          <p:cNvPr id="10" name="bullet-text-1">
            <a:extLst xmlns:a="http://schemas.openxmlformats.org/drawingml/2006/main">
              <a:ext uri="{FF2B5EF4-FFF2-40B4-BE49-F238E27FC236}">
                <a16:creationId xmlns:a16="http://schemas.microsoft.com/office/drawing/2014/main" id="{461A2EC2-7EEF-41A2-9815-0BCE5378B895}"/>
              </a:ext>
            </a:extLst>
          </p:cNvPr>
          <p:cNvSpPr>
            <a:spLocks xmlns:a="http://schemas.openxmlformats.org/drawingml/2006/main" noGrp="1"/>
          </p:cNvSpPr>
          <p:nvPr/>
        </p:nvSpPr>
        <p:spPr>
          <a:xfrm xmlns:a="http://schemas.openxmlformats.org/drawingml/2006/main">
            <a:off x="952500" y="3448050"/>
            <a:ext cx="50673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2000"/>
              </a:lnSpc>
              <a:buNone/>
              <a:defRPr sz="1875" b="0" i="0">
                <a:solidFill>
                  <a:srgbClr val="D8E0E1"/>
                </a:solidFill>
              </a:defRPr>
            </a:pPr>
            <a:r>
              <a:rPr sz="1875" b="0" i="0">
                <a:solidFill>
                  <a:srgbClr val="D8E0E1"/>
                </a:solidFill>
              </a:rPr>
              <a:t>What could a second form contribute?</a:t>
            </a:r>
          </a:p>
        </p:txBody>
      </p:sp>
      <p:sp>
        <p:nvSpPr>
          <p:cNvPr id="11" name="bullet-2">
            <a:extLst xmlns:a="http://schemas.openxmlformats.org/drawingml/2006/main">
              <a:ext uri="{FF2B5EF4-FFF2-40B4-BE49-F238E27FC236}">
                <a16:creationId xmlns:a16="http://schemas.microsoft.com/office/drawing/2014/main" id="{4BC10786-750B-424C-81E6-6083D96BF0D0}"/>
              </a:ext>
            </a:extLst>
          </p:cNvPr>
          <p:cNvSpPr>
            <a:spLocks xmlns:a="http://schemas.openxmlformats.org/drawingml/2006/main" noGrp="1"/>
          </p:cNvSpPr>
          <p:nvPr/>
        </p:nvSpPr>
        <p:spPr>
          <a:xfrm xmlns:a="http://schemas.openxmlformats.org/drawingml/2006/main">
            <a:off x="685800" y="4419600"/>
            <a:ext cx="95250" cy="95250"/>
          </a:xfrm>
          <a:prstGeom xmlns:a="http://schemas.openxmlformats.org/drawingml/2006/main" prst="rect">
            <a:avLst/>
          </a:prstGeom>
          <a:solidFill xmlns:a="http://schemas.openxmlformats.org/drawingml/2006/main">
            <a:srgbClr val="C9924A"/>
          </a:solidFill>
          <a:ln xmlns:a="http://schemas.openxmlformats.org/drawingml/2006/main" w="0">
            <a:noFill/>
            <a:prstDash val="solid"/>
          </a:ln>
        </p:spPr>
      </p:sp>
      <p:sp>
        <p:nvSpPr>
          <p:cNvPr id="12" name="bullet-text-2">
            <a:extLst xmlns:a="http://schemas.openxmlformats.org/drawingml/2006/main">
              <a:ext uri="{FF2B5EF4-FFF2-40B4-BE49-F238E27FC236}">
                <a16:creationId xmlns:a16="http://schemas.microsoft.com/office/drawing/2014/main" id="{7ADADB2A-6EF9-44FD-A395-7A68B7263D3D}"/>
              </a:ext>
            </a:extLst>
          </p:cNvPr>
          <p:cNvSpPr>
            <a:spLocks xmlns:a="http://schemas.openxmlformats.org/drawingml/2006/main" noGrp="1"/>
          </p:cNvSpPr>
          <p:nvPr/>
        </p:nvSpPr>
        <p:spPr>
          <a:xfrm xmlns:a="http://schemas.openxmlformats.org/drawingml/2006/main">
            <a:off x="952500" y="4324350"/>
            <a:ext cx="50673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2000"/>
              </a:lnSpc>
              <a:buNone/>
              <a:defRPr sz="1875" b="0" i="0">
                <a:solidFill>
                  <a:srgbClr val="D8E0E1"/>
                </a:solidFill>
              </a:defRPr>
            </a:pPr>
            <a:r>
              <a:rPr sz="1875" b="0" i="0">
                <a:solidFill>
                  <a:srgbClr val="D8E0E1"/>
                </a:solidFill>
              </a:rPr>
              <a:t>What access or scene uncertainty must you test next?</a:t>
            </a:r>
          </a:p>
        </p:txBody>
      </p:sp>
      <p:sp>
        <p:nvSpPr>
          <p:cNvPr id="13" name="">
            <a:extLst xmlns:a="http://schemas.openxmlformats.org/drawingml/2006/main">
              <a:ext uri="{FF2B5EF4-FFF2-40B4-BE49-F238E27FC236}">
                <a16:creationId xmlns:a16="http://schemas.microsoft.com/office/drawing/2014/main" id="{94F6D1DC-745C-41C3-A418-61B1B88FF87E}"/>
              </a:ext>
            </a:extLst>
          </p:cNvPr>
          <p:cNvSpPr>
            <a:spLocks xmlns:a="http://schemas.openxmlformats.org/drawingml/2006/main" noGrp="1"/>
          </p:cNvSpPr>
          <p:nvPr/>
        </p:nvSpPr>
        <p:spPr>
          <a:xfrm xmlns:a="http://schemas.openxmlformats.org/drawingml/2006/main">
            <a:off x="685800" y="5467350"/>
            <a:ext cx="5334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lnSpc>
                <a:spcPct val="105000"/>
              </a:lnSpc>
              <a:buNone/>
              <a:defRPr sz="1875" b="0" i="1">
                <a:solidFill>
                  <a:srgbClr val="C9924A"/>
                </a:solidFill>
              </a:defRPr>
            </a:pPr>
            <a:r>
              <a:rPr sz="1875" b="0" i="1">
                <a:solidFill>
                  <a:srgbClr val="C9924A"/>
                </a:solidFill>
              </a:rPr>
              <a:t>Form is a decision about how to meet reality.</a:t>
            </a:r>
          </a:p>
        </p:txBody>
      </p:sp>
    </p:spTree>
    <p:extLst>
      <p:ext uri="{BB962C8B-B14F-4D97-AF65-F5344CB8AC3E}">
        <p14:creationId xmlns:p14="http://schemas.microsoft.com/office/powerpoint/2010/main" val="23333879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2026-08-06T16:09:39.1430000Z</dcterms:created>
  <dcterms:modified xsi:type="dcterms:W3CDTF">2026-08-06T16:09:39.1430000Z</dcterms:modified>
</coreProperties>
</file>